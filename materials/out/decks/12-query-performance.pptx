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12. By the end you should be able to spot the N+1 problem and fix it with select_related and annotate.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looks fine on your laptop with 5 rows. With real data, the page takes seconds. The pandas fix feels familiar: merge the tables once, or group by and count, instead of looking things up row by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Task has a project foreign key. related_name="tasks" means that from a project you can reach its tasks as project.tasks.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1 and 3 pass straight away. Tests 2, 4 and 5 use assertNumQueries(1). Test 5 adds 20 more projects and tasks, which would push the starter to 26 and 47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CaptureQueriesContext records every query inside the with block, so len(queries) counts the trips. select_related is a method on a queryset. Pass the name of the foreign key field as a string: "project", not Project or "projects". It chains with order_by and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n_tasks is any name you choose; it becomes an attribute of each project. Q holds a condition, and a double underscore walks from a project to its tasks' fields: tasks__title, tasks__done. Unlike groupby, projects with no tasks are kept with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task has one project, so fetch it alongside. One project has many tasks, so let the database summarise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brackets around the chain let you split it over several lines. "-name" sorts Z to A. Put annotate before values. Nothing runs until list(...), and then it's one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answers the same and only change how you get them. Steps 3 to 6 all build one chained queryset in project_summaries: annotate, then order_by, then values("name", "task_count", "done_count").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reecodecamp.org/news/how-to-optimize-django-rest-apis-for-performance/" TargetMode="External"/><Relationship Id="rId3" Type="http://schemas.openxmlformats.org/officeDocument/2006/relationships/hyperlink" Target="https://docs.djangoproject.com/en/5.2/topics/db/optimization/" TargetMode="External"/><Relationship Id="rId4" Type="http://schemas.openxmlformats.org/officeDocument/2006/relationships/hyperlink" Target="https://docs.djangoproject.com/en/5.2/ref/models/querysets/#select-related" TargetMode="External"/><Relationship Id="rId5" Type="http://schemas.openxmlformats.org/officeDocument/2006/relationships/hyperlink" Target="https://docs.djangoproject.com/en/5.2/topics/db/aggregation/#filtering-on-annotation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3  ·  EXERCISE 12  ·  QUERY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Kill the N+1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Get the same answers from the database in one trip instead of dozens.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Each time Django asks the database for rows, that's one </a:t>
            </a:r>
            <a:r>
              <a:rPr sz="2400" b="1">
                <a:solidFill>
                  <a:srgbClr val="1C2330"/>
                </a:solidFill>
                <a:latin typeface="Segoe UI"/>
              </a:rPr>
              <a:t>query</a:t>
            </a:r>
            <a:r>
              <a:rPr sz="2400" b="0">
                <a:solidFill>
                  <a:srgbClr val="1C2330"/>
                </a:solidFill>
                <a:latin typeface="Segoe UI"/>
              </a:rPr>
              <a:t>: a round trip, like a trip to the shop. Buying 100 things in </a:t>
            </a:r>
            <a:r>
              <a:rPr sz="2400" b="1">
                <a:solidFill>
                  <a:srgbClr val="1C2330"/>
                </a:solidFill>
                <a:latin typeface="Segoe UI"/>
              </a:rPr>
              <a:t>one</a:t>
            </a:r>
            <a:r>
              <a:rPr sz="2400" b="0">
                <a:solidFill>
                  <a:srgbClr val="1C2330"/>
                </a:solidFill>
                <a:latin typeface="Segoe UI"/>
              </a:rPr>
              <a:t> trip is fine; </a:t>
            </a:r>
            <a:r>
              <a:rPr sz="2400" b="1">
                <a:solidFill>
                  <a:srgbClr val="1C2330"/>
                </a:solidFill>
                <a:latin typeface="Segoe UI"/>
              </a:rPr>
              <a:t>100 trips</a:t>
            </a:r>
            <a:r>
              <a:rPr sz="2400" b="0">
                <a:solidFill>
                  <a:srgbClr val="1C2330"/>
                </a:solidFill>
                <a:latin typeface="Segoe UI"/>
              </a:rPr>
              <a:t> is not.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The classic mistake is the </a:t>
            </a:r>
            <a:r>
              <a:rPr sz="2400" b="1">
                <a:solidFill>
                  <a:srgbClr val="1C2330"/>
                </a:solidFill>
                <a:latin typeface="Segoe UI"/>
              </a:rPr>
              <a:t>N+1 problem</a:t>
            </a:r>
            <a:r>
              <a:rPr sz="2400" b="0">
                <a:solidFill>
                  <a:srgbClr val="1C2330"/>
                </a:solidFill>
                <a:latin typeface="Segoe UI"/>
              </a:rPr>
              <a:t>: 1 query for a list of tasks, then 1 more </a:t>
            </a:r>
            <a:r>
              <a:rPr sz="2400" b="1">
                <a:solidFill>
                  <a:srgbClr val="1C2330"/>
                </a:solidFill>
                <a:latin typeface="Segoe UI"/>
              </a:rPr>
              <a:t>per task</a:t>
            </a:r>
            <a:r>
              <a:rPr sz="2400" b="0">
                <a:solidFill>
                  <a:srgbClr val="1C2330"/>
                </a:solidFill>
                <a:latin typeface="Segoe UI"/>
              </a:rPr>
              <a:t> to get its project. 500 tasks means 501 trips.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the tests put in the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Your functions take </a:t>
            </a:r>
            <a:r>
              <a:rPr sz="2000" b="1">
                <a:solidFill>
                  <a:srgbClr val="1C2330"/>
                </a:solidFill>
                <a:latin typeface="Segoe UI"/>
              </a:rPr>
              <a:t>no parameters</a:t>
            </a:r>
            <a:r>
              <a:rPr sz="2000" b="0">
                <a:solidFill>
                  <a:srgbClr val="1C2330"/>
                </a:solidFill>
                <a:latin typeface="Segoe UI"/>
              </a:rPr>
              <a:t>. Before each test, the tests create these rows: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website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name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Website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api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name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API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name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Zine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</a:t>
            </a:r>
            <a:r>
              <a:rPr sz="1600">
                <a:solidFill>
                  <a:srgbClr val="6A9955"/>
                </a:solidFill>
                <a:latin typeface="Consolas"/>
              </a:rPr>
              <a:t># a project with no tasks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website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title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Design homepage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done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586C0"/>
                </a:solidFill>
                <a:latin typeface="Consolas"/>
              </a:rPr>
              <a:t>True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api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title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Add auth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website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title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Write copy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api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title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Paginate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done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586C0"/>
                </a:solidFill>
                <a:latin typeface="Consolas"/>
              </a:rPr>
              <a:t>True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website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title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Launch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your functions must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starter already gives these answers. Your job is to cut the </a:t>
            </a:r>
            <a:r>
              <a:rPr sz="2000" b="1">
                <a:solidFill>
                  <a:srgbClr val="1C2330"/>
                </a:solidFill>
                <a:latin typeface="Segoe UI"/>
              </a:rPr>
              <a:t>number of queries</a:t>
            </a:r>
            <a:r>
              <a:rPr sz="20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task_labels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["Website: Design homepage", "API: Add auth", "Website: Write copy",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 "API: Paginate", "Website: Launch"]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list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project_summaries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[{"name": "API", "task_count": 2, "done_count": 1},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 {"name": "Website", "task_count": 3, "done_count": 1},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 {"name": "Zine", "task_count": 0, "done_count": 0}]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Queries now: 6 and 7.  Goal: exactly 1 each (tests 2, 4, 5)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One question sent to the database and its answer: one round trip.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0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queryset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70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Django's description of a query. It runs when you loop or </a:t>
            </a:r>
            <a:r>
              <a:rPr sz="1900" b="0">
                <a:solidFill>
                  <a:srgbClr val="6A3FC0"/>
                </a:solidFill>
                <a:latin typeface="Consolas"/>
              </a:rPr>
              <a:t>list(...)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it.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270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032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N+1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32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1 query for N things, then 1 more for </a:t>
            </a:r>
            <a:r>
              <a:rPr sz="1900" b="1">
                <a:solidFill>
                  <a:srgbClr val="1C2330"/>
                </a:solidFill>
                <a:latin typeface="Segoe UI"/>
              </a:rPr>
              <a:t>each</a:t>
            </a:r>
            <a:r>
              <a:rPr sz="1900" b="0">
                <a:solidFill>
                  <a:srgbClr val="1C2330"/>
                </a:solidFill>
                <a:latin typeface="Segoe UI"/>
              </a:rPr>
              <a:t> thing.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032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794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foreign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94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column pointing to a row in another table,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task.project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794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56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JOIN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56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Combining two tables in one query,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pd.merge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556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1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1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Summarise many rows into one number: a count, a sum.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318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select_related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285292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uses the lesson's Garden / Kitchen sample data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with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CaptureQueriesContext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connection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as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queries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get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title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Bake bread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name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4EC9B0"/>
                </a:solidFill>
                <a:latin typeface="Consolas"/>
              </a:rPr>
              <a:t>len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queries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queries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with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CaptureQueriesContext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connection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as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queries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select_related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project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get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title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Bake bread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name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4EC9B0"/>
                </a:solidFill>
                <a:latin typeface="Consolas"/>
              </a:rPr>
              <a:t>len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queries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queries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4498848"/>
            <a:ext cx="10911535" cy="1673352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0016"/>
            <a:ext cx="10362895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Kitchen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2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queries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Kitchen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queries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annotate with Count and 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285292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the database counts each project's tasks, like groupby().size()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annotate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n_tasks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Count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tasks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name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n_tasks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count only the tasks that match a condition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annotate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n_buy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Count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tasks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filter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Q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tasks__title__startswith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Buy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name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project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n_buy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4498848"/>
            <a:ext cx="10911535" cy="1673352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0016"/>
            <a:ext cx="10362895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Garden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1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Kitchen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2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Garden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0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Kitchen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1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select_related vs annotate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select_related("project")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Follows a foreign key: task to </a:t>
            </a:r>
            <a:r>
              <a:rPr sz="1900" b="1">
                <a:solidFill>
                  <a:srgbClr val="1C2330"/>
                </a:solidFill>
                <a:latin typeface="Segoe UI"/>
              </a:rPr>
              <a:t>its</a:t>
            </a:r>
            <a:r>
              <a:rPr sz="1900" b="0">
                <a:solidFill>
                  <a:srgbClr val="1C2330"/>
                </a:solidFill>
                <a:latin typeface="Segoe UI"/>
              </a:rPr>
              <a:t> project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pd.merge</a:t>
            </a:r>
            <a:r>
              <a:rPr sz="1900" b="0">
                <a:solidFill>
                  <a:srgbClr val="1C2330"/>
                </a:solidFill>
                <a:latin typeface="Segoe UI"/>
              </a:rPr>
              <a:t>: a JOIN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Gives whole related objects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You need it in </a:t>
            </a:r>
            <a:r>
              <a:rPr sz="1900" b="0">
                <a:solidFill>
                  <a:srgbClr val="6A3FC0"/>
                </a:solidFill>
                <a:latin typeface="Consolas"/>
              </a:rPr>
              <a:t>task_labels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annotate(n=Count("tasks"))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Counts the rows pointing </a:t>
            </a:r>
            <a:r>
              <a:rPr sz="1900" b="1">
                <a:solidFill>
                  <a:srgbClr val="1C2330"/>
                </a:solidFill>
                <a:latin typeface="Segoe UI"/>
              </a:rPr>
              <a:t>back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groupby(...).size()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Gives one number per row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You need it in </a:t>
            </a:r>
            <a:r>
              <a:rPr sz="1900" b="0">
                <a:solidFill>
                  <a:srgbClr val="6A3FC0"/>
                </a:solidFill>
                <a:latin typeface="Consolas"/>
              </a:rPr>
              <a:t>project_summaries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Pattern: one chained queryset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Annotate, sort, then pick columns, like </a:t>
            </a:r>
            <a:r>
              <a:rPr sz="2000" b="0">
                <a:solidFill>
                  <a:srgbClr val="6A3FC0"/>
                </a:solidFill>
                <a:latin typeface="Consolas"/>
              </a:rPr>
              <a:t>df.to_dict("records")</a:t>
            </a:r>
            <a:r>
              <a:rPr sz="2000" b="0">
                <a:solidFill>
                  <a:srgbClr val="1C2330"/>
                </a:solidFill>
                <a:latin typeface="Segoe UI"/>
              </a:rPr>
              <a:t>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86207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496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rows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Project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annotate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n_tasks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9CDCFE"/>
                </a:solidFill>
                <a:latin typeface="Consolas"/>
              </a:rPr>
              <a:t>Count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tasks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order_by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-name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values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name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n_tasks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4EC9B0"/>
                </a:solidFill>
                <a:latin typeface="Consolas"/>
              </a:rPr>
              <a:t>list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rows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376672"/>
            <a:ext cx="10911535" cy="795528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62895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name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Kitchen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n_tasks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2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name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Garden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n_tasks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}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6497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Run the tests on the starter: answers pass, query counts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1, 3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3459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7838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task_labels</a:t>
            </a:r>
            <a:r>
              <a:rPr sz="1900" b="0">
                <a:solidFill>
                  <a:srgbClr val="1C2330"/>
                </a:solidFill>
                <a:latin typeface="Segoe UI"/>
              </a:rPr>
              <a:t>: add </a:t>
            </a:r>
            <a:r>
              <a:rPr sz="1900" b="0">
                <a:solidFill>
                  <a:srgbClr val="6A3FC0"/>
                </a:solidFill>
                <a:latin typeface="Consolas"/>
              </a:rPr>
              <a:t>.select_related("project")</a:t>
            </a:r>
            <a:r>
              <a:rPr sz="1900" b="0">
                <a:solidFill>
                  <a:srgbClr val="1C2330"/>
                </a:solidFill>
                <a:latin typeface="Segoe UI"/>
              </a:rPr>
              <a:t>, keep </a:t>
            </a:r>
            <a:r>
              <a:rPr sz="1900" b="0">
                <a:solidFill>
                  <a:srgbClr val="6A3FC0"/>
                </a:solidFill>
                <a:latin typeface="Consolas"/>
              </a:rPr>
              <a:t>.order_by("id")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27838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2, 5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0421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4800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Replace the loop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Project.objects.annotate(task_count=...)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97383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81762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In the same </a:t>
            </a:r>
            <a:r>
              <a:rPr sz="1900" b="0">
                <a:solidFill>
                  <a:srgbClr val="6A3FC0"/>
                </a:solidFill>
                <a:latin typeface="Consolas"/>
              </a:rPr>
              <a:t>annotate</a:t>
            </a:r>
            <a:r>
              <a:rPr sz="1900" b="0">
                <a:solidFill>
                  <a:srgbClr val="1C2330"/>
                </a:solidFill>
                <a:latin typeface="Segoe UI"/>
              </a:rPr>
              <a:t>, add </a:t>
            </a:r>
            <a:r>
              <a:rPr sz="1900" b="0">
                <a:solidFill>
                  <a:srgbClr val="6A3FC0"/>
                </a:solidFill>
                <a:latin typeface="Consolas"/>
              </a:rPr>
              <a:t>done_count</a:t>
            </a:r>
            <a:r>
              <a:rPr sz="1900" b="0">
                <a:solidFill>
                  <a:srgbClr val="1C2330"/>
                </a:solidFill>
                <a:latin typeface="Segoe UI"/>
              </a:rPr>
              <a:t>: </a:t>
            </a:r>
            <a:r>
              <a:rPr sz="1900" b="0">
                <a:solidFill>
                  <a:srgbClr val="6A3FC0"/>
                </a:solidFill>
                <a:latin typeface="Consolas"/>
              </a:rPr>
              <a:t>Count</a:t>
            </a:r>
            <a:r>
              <a:rPr sz="1900" b="0">
                <a:solidFill>
                  <a:srgbClr val="1C2330"/>
                </a:solidFill>
                <a:latin typeface="Segoe UI"/>
              </a:rPr>
              <a:t>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filter=Q(...)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74345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58724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Sort by name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.order_by("name")</a:t>
            </a:r>
            <a:r>
              <a:rPr sz="1900" b="0">
                <a:solidFill>
                  <a:srgbClr val="1C2330"/>
                </a:solidFill>
                <a:latin typeface="Segoe UI"/>
              </a:rPr>
              <a:t>: API, Website, Zine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51307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5686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Add </a:t>
            </a:r>
            <a:r>
              <a:rPr sz="1900" b="0">
                <a:solidFill>
                  <a:srgbClr val="6A3FC0"/>
                </a:solidFill>
                <a:latin typeface="Consolas"/>
              </a:rPr>
              <a:t>.values(...)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with the three fields, and return </a:t>
            </a:r>
            <a:r>
              <a:rPr sz="1900" b="0">
                <a:solidFill>
                  <a:srgbClr val="6A3FC0"/>
                </a:solidFill>
                <a:latin typeface="Consolas"/>
              </a:rPr>
              <a:t>list(...)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535686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3-5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.count()</a:t>
            </a:r>
            <a:r>
              <a:rPr sz="2400" b="0">
                <a:solidFill>
                  <a:srgbClr val="1C2330"/>
                </a:solidFill>
                <a:latin typeface="Segoe UI"/>
              </a:rPr>
              <a:t> or </a:t>
            </a:r>
            <a:r>
              <a:rPr sz="2400" b="0">
                <a:solidFill>
                  <a:srgbClr val="6A3FC0"/>
                </a:solidFill>
                <a:latin typeface="Consolas"/>
              </a:rPr>
              <a:t>.filter()</a:t>
            </a:r>
            <a:r>
              <a:rPr sz="2400" b="0">
                <a:solidFill>
                  <a:srgbClr val="1C2330"/>
                </a:solidFill>
                <a:latin typeface="Segoe UI"/>
              </a:rPr>
              <a:t> on </a:t>
            </a:r>
            <a:r>
              <a:rPr sz="2400" b="0">
                <a:solidFill>
                  <a:srgbClr val="6A3FC0"/>
                </a:solidFill>
                <a:latin typeface="Consolas"/>
              </a:rPr>
              <a:t>project.tasks</a:t>
            </a:r>
            <a:r>
              <a:rPr sz="2400" b="0">
                <a:solidFill>
                  <a:srgbClr val="1C2330"/>
                </a:solidFill>
                <a:latin typeface="Segoe UI"/>
              </a:rPr>
              <a:t> inside a loop: N+1 again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Dropping </a:t>
            </a:r>
            <a:r>
              <a:rPr sz="2400" b="0">
                <a:solidFill>
                  <a:srgbClr val="6A3FC0"/>
                </a:solidFill>
                <a:latin typeface="Consolas"/>
              </a:rPr>
              <a:t>.order_by("id")</a:t>
            </a:r>
            <a:r>
              <a:rPr sz="2400" b="0">
                <a:solidFill>
                  <a:srgbClr val="1C2330"/>
                </a:solidFill>
                <a:latin typeface="Segoe UI"/>
              </a:rPr>
              <a:t>: labels come back in another order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select_related("projects")</a:t>
            </a:r>
            <a:r>
              <a:rPr sz="2400" b="0">
                <a:solidFill>
                  <a:srgbClr val="1C2330"/>
                </a:solidFill>
                <a:latin typeface="Segoe UI"/>
              </a:rPr>
              <a:t>: use the field name, </a:t>
            </a:r>
            <a:r>
              <a:rPr sz="2400" b="0">
                <a:solidFill>
                  <a:srgbClr val="6A3FC0"/>
                </a:solidFill>
                <a:latin typeface="Consolas"/>
              </a:rPr>
              <a:t>"project"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tasks.done</a:t>
            </a:r>
            <a:r>
              <a:rPr sz="2400" b="0">
                <a:solidFill>
                  <a:srgbClr val="1C2330"/>
                </a:solidFill>
                <a:latin typeface="Segoe UI"/>
              </a:rPr>
              <a:t> or </a:t>
            </a:r>
            <a:r>
              <a:rPr sz="2400" b="0">
                <a:solidFill>
                  <a:srgbClr val="6A3FC0"/>
                </a:solidFill>
                <a:latin typeface="Consolas"/>
              </a:rPr>
              <a:t>tasks_done</a:t>
            </a:r>
            <a:r>
              <a:rPr sz="2400" b="0">
                <a:solidFill>
                  <a:srgbClr val="1C2330"/>
                </a:solidFill>
                <a:latin typeface="Segoe UI"/>
              </a:rPr>
              <a:t> in </a:t>
            </a:r>
            <a:r>
              <a:rPr sz="2400" b="0">
                <a:solidFill>
                  <a:srgbClr val="6A3FC0"/>
                </a:solidFill>
                <a:latin typeface="Consolas"/>
              </a:rPr>
              <a:t>Q(...)</a:t>
            </a:r>
            <a:r>
              <a:rPr sz="2400" b="0">
                <a:solidFill>
                  <a:srgbClr val="1C2330"/>
                </a:solidFill>
                <a:latin typeface="Segoe UI"/>
              </a:rPr>
              <a:t>: it's </a:t>
            </a:r>
            <a:r>
              <a:rPr sz="2400" b="0">
                <a:solidFill>
                  <a:srgbClr val="6A3FC0"/>
                </a:solidFill>
                <a:latin typeface="Consolas"/>
              </a:rPr>
              <a:t>tasks__done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.values(...)</a:t>
            </a:r>
            <a:r>
              <a:rPr sz="2400" b="0">
                <a:solidFill>
                  <a:srgbClr val="1C2330"/>
                </a:solidFill>
                <a:latin typeface="Segoe UI"/>
              </a:rPr>
              <a:t> before </a:t>
            </a:r>
            <a:r>
              <a:rPr sz="2400" b="0">
                <a:solidFill>
                  <a:srgbClr val="6A3FC0"/>
                </a:solidFill>
                <a:latin typeface="Consolas"/>
              </a:rPr>
              <a:t>.annotate(...)</a:t>
            </a:r>
            <a:r>
              <a:rPr sz="2400" b="0">
                <a:solidFill>
                  <a:srgbClr val="1C2330"/>
                </a:solidFill>
                <a:latin typeface="Segoe UI"/>
              </a:rPr>
              <a:t>: annotate comes first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 DRF endpoint lists 50 tasks, and its serializer shows </a:t>
            </a:r>
            <a:r>
              <a:rPr sz="2100" b="0">
                <a:solidFill>
                  <a:srgbClr val="6A3FC0"/>
                </a:solidFill>
                <a:latin typeface="Consolas"/>
              </a:rPr>
              <a:t>task.project.name</a:t>
            </a:r>
            <a:r>
              <a:rPr sz="2100" b="0">
                <a:solidFill>
                  <a:srgbClr val="1C2330"/>
                </a:solidFill>
                <a:latin typeface="Segoe UI"/>
              </a:rPr>
              <a:t>. Every page load quietly runs 51 queries, and the API feels slow.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Fix it in the view: </a:t>
            </a:r>
            <a:r>
              <a:rPr sz="2000" b="0">
                <a:solidFill>
                  <a:srgbClr val="6A3FC0"/>
                </a:solidFill>
                <a:latin typeface="Consolas"/>
              </a:rPr>
              <a:t>queryset = Task.objects.select_related("project")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Dashboards with counts per project use </a:t>
            </a:r>
            <a:r>
              <a:rPr sz="2000" b="0">
                <a:solidFill>
                  <a:srgbClr val="6A3FC0"/>
                </a:solidFill>
                <a:latin typeface="Consolas"/>
              </a:rPr>
              <a:t>annotate(Count(...))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For a project with all its tasks, use </a:t>
            </a:r>
            <a:r>
              <a:rPr sz="2000" b="0">
                <a:solidFill>
                  <a:srgbClr val="6A3FC0"/>
                </a:solidFill>
                <a:latin typeface="Consolas"/>
              </a:rPr>
              <a:t>prefetch_related("tasks")</a:t>
            </a:r>
            <a:r>
              <a:rPr sz="2000" b="0">
                <a:solidFill>
                  <a:srgbClr val="1C2330"/>
                </a:solidFill>
                <a:latin typeface="Segoe UI"/>
              </a:rPr>
              <a:t>: 2 queries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How many queries does a loop over 30 tasks printing </a:t>
            </a:r>
            <a:r>
              <a:rPr sz="2300" b="0">
                <a:solidFill>
                  <a:srgbClr val="6A3FC0"/>
                </a:solidFill>
                <a:latin typeface="Consolas"/>
              </a:rPr>
              <a:t>task.project.name</a:t>
            </a:r>
            <a:r>
              <a:rPr sz="2300" b="0">
                <a:solidFill>
                  <a:srgbClr val="1C2330"/>
                </a:solidFill>
                <a:latin typeface="Segoe UI"/>
              </a:rPr>
              <a:t> run?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When do you use </a:t>
            </a:r>
            <a:r>
              <a:rPr sz="2300" b="0">
                <a:solidFill>
                  <a:srgbClr val="6A3FC0"/>
                </a:solidFill>
                <a:latin typeface="Consolas"/>
              </a:rPr>
              <a:t>select_related</a:t>
            </a:r>
            <a:r>
              <a:rPr sz="2300" b="0">
                <a:solidFill>
                  <a:srgbClr val="1C2330"/>
                </a:solidFill>
                <a:latin typeface="Segoe UI"/>
              </a:rPr>
              <a:t>, and when </a:t>
            </a:r>
            <a:r>
              <a:rPr sz="2300" b="0">
                <a:solidFill>
                  <a:srgbClr val="6A3FC0"/>
                </a:solidFill>
                <a:latin typeface="Consolas"/>
              </a:rPr>
              <a:t>annotate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What does the double underscore in </a:t>
            </a:r>
            <a:r>
              <a:rPr sz="2300" b="0">
                <a:solidFill>
                  <a:srgbClr val="6A3FC0"/>
                </a:solidFill>
                <a:latin typeface="Consolas"/>
              </a:rPr>
              <a:t>tasks__done</a:t>
            </a:r>
            <a:r>
              <a:rPr sz="2300" b="0">
                <a:solidFill>
                  <a:srgbClr val="1C2330"/>
                </a:solidFill>
                <a:latin typeface="Segoe UI"/>
              </a:rPr>
              <a:t> mean?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Why let the database count instead of </a:t>
            </a:r>
            <a:r>
              <a:rPr sz="2300" b="0">
                <a:solidFill>
                  <a:srgbClr val="6A3FC0"/>
                </a:solidFill>
                <a:latin typeface="Consolas"/>
              </a:rPr>
              <a:t>len(project.tasks.all())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12  ·  Kill the N+1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How to Optimize Django REST APIs for Performance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freeCodeCamp · article · beginner. Start here: explains the N+1 problem (100 posts, 101 queries) and how select_related and prefetch_related fix it.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Database access optimization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intermediate. Django's own checklist for fewer queries, including 'retrieve everything at once' and doing counting in the database.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QuerySet API reference: select_related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intermediate. Reference for select_related, which joins Task and Project in one query for your task_labels report.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5"/>
              </a:rPr>
              <a:t>Aggregation: filtering on annotations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intermediate. Shows annotate() with Count and Count(filter=Q(...)), the tools behind your one-query project summary.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