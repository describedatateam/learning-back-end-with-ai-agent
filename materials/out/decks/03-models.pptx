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goes with exercise 3. By the end you should be able to write a model with fields, defaults, a default ordering and your own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Picture the books table: columns id, title, author, published_year, is_available. Each row comes back to you as a Python object, so book.title is that one book's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the tests run, the grader builds the table from your model. _meta.get_field is how the tests inspect a field; you won't need _meta in your own code. 1950 is not before 1950, so it's not a classic.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ORM is the part of Django that turns Python like Book.objects.create(...) into database commands, so you never write SQL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CharField always needs max_length. default= is used when nobody gives a value. auto_now_add=True sets the date and time once, when the row is first saved; you never set it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field is required unless you say otherwise. An optional number needs both options: the database must accept no value, and input checks must allow an empty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pk means primary key: the row's id. The Console starts with an empty database each time you run something.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ordering is a list, so it needs square brackets. The - in front reverses the order. Without it, rows come back in whatever order the database likes, usually the order they were saved.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calls __str__ for print(obj) or str(obj), and it must return a string. You call your own methods with brackets, film.is_old(), but never pass self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left side of and is False, Python never runs the right side, so the comparison with None never happens. is_classic needs exactly this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goes inside class Book(models.Model):, lined up with the title line that's already there. When you're done, try Book.objects.create(title="Emma", author="Jane Austen") in the Console and print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utorial.djangogirls.org/en/django_models/" TargetMode="External"/><Relationship Id="rId3" Type="http://schemas.openxmlformats.org/officeDocument/2006/relationships/hyperlink" Target="https://www.freecodecamp.org/news/common-django-model-fields-and-their-use-cases/" TargetMode="External"/><Relationship Id="rId4" Type="http://schemas.openxmlformats.org/officeDocument/2006/relationships/hyperlink" Target="https://docs.djangoproject.com/en/5.2/intro/tutorial02/" TargetMode="External"/><Relationship Id="rId5" Type="http://schemas.openxmlformats.org/officeDocument/2006/relationships/hyperlink" Target="https://docs.djangoproject.com/en/5.2/topics/db/models/" TargetMode="External"/><Relationship Id="rId6" Type="http://schemas.openxmlformats.org/officeDocument/2006/relationships/hyperlink" Target="https://docs.djangoproject.com/en/5.2/ref/models/options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B38CFF"/>
                </a:solidFill>
                <a:latin typeface="Segoe UI"/>
              </a:rPr>
              <a:t>WEEK 1  ·  EXERCISE 03  ·  MODELS &amp; 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Design 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60520"/>
            <a:ext cx="1280160" cy="73152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Describe a database table as a Python class, and let Django build it for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9AA4B5"/>
                </a:solidFill>
                <a:latin typeface="Segoe UI"/>
              </a:rPr>
              <a:t>Backend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03  ·  Design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The big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11535" cy="420624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97135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A backend must </a:t>
            </a:r>
            <a:r>
              <a:rPr sz="2400" b="1">
                <a:solidFill>
                  <a:srgbClr val="1C2330"/>
                </a:solidFill>
                <a:latin typeface="Segoe UI"/>
              </a:rPr>
              <a:t>remember</a:t>
            </a:r>
            <a:r>
              <a:rPr sz="2400" b="0">
                <a:solidFill>
                  <a:srgbClr val="1C2330"/>
                </a:solidFill>
                <a:latin typeface="Segoe UI"/>
              </a:rPr>
              <a:t> things between requests, so it keeps them in a </a:t>
            </a:r>
            <a:r>
              <a:rPr sz="2400" b="1">
                <a:solidFill>
                  <a:srgbClr val="1C2330"/>
                </a:solidFill>
                <a:latin typeface="Segoe UI"/>
              </a:rPr>
              <a:t>database</a:t>
            </a:r>
            <a:r>
              <a:rPr sz="2400" b="0">
                <a:solidFill>
                  <a:srgbClr val="1C2330"/>
                </a:solidFill>
                <a:latin typeface="Segoe UI"/>
              </a:rPr>
              <a:t>. A database table looks like a DataFrame: named </a:t>
            </a:r>
            <a:r>
              <a:rPr sz="2400" b="1">
                <a:solidFill>
                  <a:srgbClr val="1C2330"/>
                </a:solidFill>
                <a:latin typeface="Segoe UI"/>
              </a:rPr>
              <a:t>columns</a:t>
            </a:r>
            <a:r>
              <a:rPr sz="2400" b="0">
                <a:solidFill>
                  <a:srgbClr val="1C2330"/>
                </a:solidFill>
                <a:latin typeface="Segoe UI"/>
              </a:rPr>
              <a:t>, one </a:t>
            </a:r>
            <a:r>
              <a:rPr sz="2400" b="1">
                <a:solidFill>
                  <a:srgbClr val="1C2330"/>
                </a:solidFill>
                <a:latin typeface="Segoe UI"/>
              </a:rPr>
              <a:t>row</a:t>
            </a:r>
            <a:r>
              <a:rPr sz="2400" b="0">
                <a:solidFill>
                  <a:srgbClr val="1C2330"/>
                </a:solidFill>
                <a:latin typeface="Segoe UI"/>
              </a:rPr>
              <a:t> per record.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The difference: a table is </a:t>
            </a:r>
            <a:r>
              <a:rPr sz="2400" b="1">
                <a:solidFill>
                  <a:srgbClr val="1C2330"/>
                </a:solidFill>
                <a:latin typeface="Segoe UI"/>
              </a:rPr>
              <a:t>strict</a:t>
            </a:r>
            <a:r>
              <a:rPr sz="2400" b="0">
                <a:solidFill>
                  <a:srgbClr val="1C2330"/>
                </a:solidFill>
                <a:latin typeface="Segoe UI"/>
              </a:rPr>
              <a:t>. You decide up front each column's name, type and rules. In Django you write that plan as a Python class, a </a:t>
            </a:r>
            <a:r>
              <a:rPr sz="2400" b="1">
                <a:solidFill>
                  <a:srgbClr val="1C2330"/>
                </a:solidFill>
                <a:latin typeface="Segoe UI"/>
              </a:rPr>
              <a:t>model</a:t>
            </a:r>
            <a:r>
              <a:rPr sz="2400" b="0">
                <a:solidFill>
                  <a:srgbClr val="1C2330"/>
                </a:solidFill>
                <a:latin typeface="Segoe UI"/>
              </a:rPr>
              <a:t>, and Django builds the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03  ·  Design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the tests do with your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There's no function to call: the tests use your </a:t>
            </a:r>
            <a:r>
              <a:rPr sz="2000" b="0">
                <a:solidFill>
                  <a:srgbClr val="6A3FC0"/>
                </a:solidFill>
                <a:latin typeface="Consolas"/>
              </a:rPr>
              <a:t>Book</a:t>
            </a:r>
            <a:r>
              <a:rPr sz="2000" b="0">
                <a:solidFill>
                  <a:srgbClr val="1C2330"/>
                </a:solidFill>
                <a:latin typeface="Segoe UI"/>
              </a:rPr>
              <a:t> class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>
                <a:solidFill>
                  <a:srgbClr val="9CDCFE"/>
                </a:solidFill>
                <a:latin typeface="Consolas"/>
              </a:rPr>
              <a:t>Book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_meta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get_field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author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max_length</a:t>
            </a:r>
            <a:r>
              <a:rPr sz="1400">
                <a:solidFill>
                  <a:srgbClr val="D4D4D4"/>
                </a:solidFill>
                <a:latin typeface="Consolas"/>
              </a:rPr>
              <a:t>     </a:t>
            </a:r>
            <a:r>
              <a:rPr sz="1400">
                <a:solidFill>
                  <a:srgbClr val="6A9955"/>
                </a:solidFill>
                <a:latin typeface="Consolas"/>
              </a:rPr>
              <a:t># expects 100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9CDCFE"/>
                </a:solidFill>
                <a:latin typeface="Consolas"/>
              </a:rPr>
              <a:t>book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Book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objects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create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9CDCFE"/>
                </a:solidFill>
                <a:latin typeface="Consolas"/>
              </a:rPr>
              <a:t>title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Dune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,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author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Frank Herbert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9CDCFE"/>
                </a:solidFill>
                <a:latin typeface="Consolas"/>
              </a:rPr>
              <a:t>book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is_available</a:t>
            </a:r>
            <a:r>
              <a:rPr sz="1400">
                <a:solidFill>
                  <a:srgbClr val="D4D4D4"/>
                </a:solidFill>
                <a:latin typeface="Consolas"/>
              </a:rPr>
              <a:t>     </a:t>
            </a:r>
            <a:r>
              <a:rPr sz="1400">
                <a:solidFill>
                  <a:srgbClr val="6A9955"/>
                </a:solidFill>
                <a:latin typeface="Consolas"/>
              </a:rPr>
              <a:t># expects True (nobody set it)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9CDCFE"/>
                </a:solidFill>
                <a:latin typeface="Consolas"/>
              </a:rPr>
              <a:t>book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created_at</a:t>
            </a:r>
            <a:r>
              <a:rPr sz="1400">
                <a:solidFill>
                  <a:srgbClr val="D4D4D4"/>
                </a:solidFill>
                <a:latin typeface="Consolas"/>
              </a:rPr>
              <a:t>       </a:t>
            </a:r>
            <a:r>
              <a:rPr sz="1400">
                <a:solidFill>
                  <a:srgbClr val="6A9955"/>
                </a:solidFill>
                <a:latin typeface="Consolas"/>
              </a:rPr>
              <a:t># expects a date and time, not None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4EC9B0"/>
                </a:solidFill>
                <a:latin typeface="Consolas"/>
              </a:rPr>
              <a:t>str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9CDCFE"/>
                </a:solidFill>
                <a:latin typeface="Consolas"/>
              </a:rPr>
              <a:t>book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             </a:t>
            </a:r>
            <a:r>
              <a:rPr sz="1400">
                <a:solidFill>
                  <a:srgbClr val="6A9955"/>
                </a:solidFill>
                <a:latin typeface="Consolas"/>
              </a:rPr>
              <a:t># expects "Dune by Frank Herbert"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6A9955"/>
                </a:solidFill>
                <a:latin typeface="Consolas"/>
              </a:rPr>
              <a:t># saved as Neuromancer, Dune, Foundation; expected back in this order: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6A9955"/>
                </a:solidFill>
                <a:latin typeface="Consolas"/>
              </a:rPr>
              <a:t># ["Dune", "Foundation", "Neuromancer"]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9CDCFE"/>
                </a:solidFill>
                <a:latin typeface="Consolas"/>
              </a:rPr>
              <a:t>Book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9CDCFE"/>
                </a:solidFill>
                <a:latin typeface="Consolas"/>
              </a:rPr>
              <a:t>title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1984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,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author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Orwell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,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published_year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B5CEA8"/>
                </a:solidFill>
                <a:latin typeface="Consolas"/>
              </a:rPr>
              <a:t>1949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is_classic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  </a:t>
            </a:r>
            <a:r>
              <a:rPr sz="1400">
                <a:solidFill>
                  <a:srgbClr val="6A9955"/>
                </a:solidFill>
                <a:latin typeface="Consolas"/>
              </a:rPr>
              <a:t># True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9CDCFE"/>
                </a:solidFill>
                <a:latin typeface="Consolas"/>
              </a:rPr>
              <a:t>Book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9CDCFE"/>
                </a:solidFill>
                <a:latin typeface="Consolas"/>
              </a:rPr>
              <a:t>title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X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,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author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Y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,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published_year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B5CEA8"/>
                </a:solidFill>
                <a:latin typeface="Consolas"/>
              </a:rPr>
              <a:t>1950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is_classic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          </a:t>
            </a:r>
            <a:r>
              <a:rPr sz="1400">
                <a:solidFill>
                  <a:srgbClr val="6A9955"/>
                </a:solidFill>
                <a:latin typeface="Consolas"/>
              </a:rPr>
              <a:t># False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9CDCFE"/>
                </a:solidFill>
                <a:latin typeface="Consolas"/>
              </a:rPr>
              <a:t>Book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9CDCFE"/>
                </a:solidFill>
                <a:latin typeface="Consolas"/>
              </a:rPr>
              <a:t>title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Unknown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,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author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Anon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is_classic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                      </a:t>
            </a:r>
            <a:r>
              <a:rPr sz="1400">
                <a:solidFill>
                  <a:srgbClr val="6A9955"/>
                </a:solidFill>
                <a:latin typeface="Consolas"/>
              </a:rPr>
              <a:t># False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03  ·  Design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New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 Python class that describes one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0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70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One attribute of a model. It becomes one column.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270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032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object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32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One row, as a Python value: </a:t>
            </a:r>
            <a:r>
              <a:rPr sz="1900" b="0">
                <a:solidFill>
                  <a:srgbClr val="6A3FC0"/>
                </a:solidFill>
                <a:latin typeface="Consolas"/>
              </a:rPr>
              <a:t>Book(title="Dune")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032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794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NULL / None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94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"No value": the database says </a:t>
            </a:r>
            <a:r>
              <a:rPr sz="1900" b="0">
                <a:solidFill>
                  <a:srgbClr val="6A3FC0"/>
                </a:solidFill>
                <a:latin typeface="Consolas"/>
              </a:rPr>
              <a:t>NULL</a:t>
            </a:r>
            <a:r>
              <a:rPr sz="1900" b="0">
                <a:solidFill>
                  <a:srgbClr val="1C2330"/>
                </a:solidFill>
                <a:latin typeface="Segoe UI"/>
              </a:rPr>
              <a:t>, Python says </a:t>
            </a:r>
            <a:r>
              <a:rPr sz="1900" b="0">
                <a:solidFill>
                  <a:srgbClr val="6A3FC0"/>
                </a:solidFill>
                <a:latin typeface="Consolas"/>
              </a:rPr>
              <a:t>None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794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556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method / self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556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 function inside a class; </a:t>
            </a:r>
            <a:r>
              <a:rPr sz="1900" b="0">
                <a:solidFill>
                  <a:srgbClr val="6A3FC0"/>
                </a:solidFill>
                <a:latin typeface="Consolas"/>
              </a:rPr>
              <a:t>self</a:t>
            </a:r>
            <a:r>
              <a:rPr sz="1900" b="0">
                <a:solidFill>
                  <a:srgbClr val="1C2330"/>
                </a:solidFill>
                <a:latin typeface="Segoe UI"/>
              </a:rPr>
              <a:t> is the one object it's called 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556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31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migration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31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 file that updates the database tables to match your models.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5318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03  ·  Design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Tools: field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Each field is one line inside the class. The options set the rules for that column.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class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Movie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models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Model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name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models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CharField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max_length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150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text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runtime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models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PositiveIntegerField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null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586C0"/>
                </a:solidFill>
                <a:latin typeface="Consolas"/>
              </a:rPr>
              <a:t>True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blank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586C0"/>
                </a:solidFill>
                <a:latin typeface="Consolas"/>
              </a:rPr>
              <a:t>True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optional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is_showing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models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BooleanField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default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586C0"/>
                </a:solidFill>
                <a:latin typeface="Consolas"/>
              </a:rPr>
              <a:t>False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yes / no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added_at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models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DateTimeField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auto_now_add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586C0"/>
                </a:solidFill>
                <a:latin typeface="Consolas"/>
              </a:rPr>
              <a:t>True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automatic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03  ·  Design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null=True vs blank=True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8A4FE0"/>
                </a:solidFill>
                <a:latin typeface="Segoe UI"/>
              </a:rPr>
              <a:t>null=True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About the </a:t>
            </a:r>
            <a:r>
              <a:rPr sz="1900" b="1">
                <a:solidFill>
                  <a:srgbClr val="1C2330"/>
                </a:solidFill>
                <a:latin typeface="Segoe UI"/>
              </a:rPr>
              <a:t>database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The column may store </a:t>
            </a:r>
            <a:r>
              <a:rPr sz="1900" b="0">
                <a:solidFill>
                  <a:srgbClr val="6A3FC0"/>
                </a:solidFill>
                <a:latin typeface="Consolas"/>
              </a:rPr>
              <a:t>NULL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Python sees </a:t>
            </a:r>
            <a:r>
              <a:rPr sz="1900" b="0">
                <a:solidFill>
                  <a:srgbClr val="6A3FC0"/>
                </a:solidFill>
                <a:latin typeface="Consolas"/>
              </a:rPr>
              <a:t>None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Without it, saving no value fails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Test 2 checks </a:t>
            </a:r>
            <a:r>
              <a:rPr sz="1900" b="0">
                <a:solidFill>
                  <a:srgbClr val="6A3FC0"/>
                </a:solidFill>
                <a:latin typeface="Consolas"/>
              </a:rPr>
              <a:t>field.null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E5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F6FDF"/>
                </a:solidFill>
                <a:latin typeface="Segoe UI"/>
              </a:rPr>
              <a:t>blank=True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About </a:t>
            </a:r>
            <a:r>
              <a:rPr sz="1900" b="1">
                <a:solidFill>
                  <a:srgbClr val="1C2330"/>
                </a:solidFill>
                <a:latin typeface="Segoe UI"/>
              </a:rPr>
              <a:t>checking input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Forms and serializers allow it empty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The user may leave it out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Without it, input checks say "required"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Test 2 checks </a:t>
            </a:r>
            <a:r>
              <a:rPr sz="1900" b="0">
                <a:solidFill>
                  <a:srgbClr val="6A3FC0"/>
                </a:solidFill>
                <a:latin typeface="Consolas"/>
              </a:rPr>
              <a:t>field.blank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03  ·  Design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making and saving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6A3FC0"/>
                </a:solidFill>
                <a:latin typeface="Consolas"/>
              </a:rPr>
              <a:t>Book(...)</a:t>
            </a:r>
            <a:r>
              <a:rPr sz="2000" b="0">
                <a:solidFill>
                  <a:srgbClr val="1C2330"/>
                </a:solidFill>
                <a:latin typeface="Segoe UI"/>
              </a:rPr>
              <a:t> lives in memory only. </a:t>
            </a:r>
            <a:r>
              <a:rPr sz="2000" b="0">
                <a:solidFill>
                  <a:srgbClr val="6A3FC0"/>
                </a:solidFill>
                <a:latin typeface="Consolas"/>
              </a:rPr>
              <a:t>.save()</a:t>
            </a:r>
            <a:r>
              <a:rPr sz="2000" b="0">
                <a:solidFill>
                  <a:srgbClr val="1C2330"/>
                </a:solidFill>
                <a:latin typeface="Segoe UI"/>
              </a:rPr>
              <a:t> writes it; </a:t>
            </a:r>
            <a:r>
              <a:rPr sz="2000" b="0">
                <a:solidFill>
                  <a:srgbClr val="6A3FC0"/>
                </a:solidFill>
                <a:latin typeface="Consolas"/>
              </a:rPr>
              <a:t>objects.create(...)</a:t>
            </a:r>
            <a:r>
              <a:rPr sz="2000" b="0">
                <a:solidFill>
                  <a:srgbClr val="1C2330"/>
                </a:solidFill>
                <a:latin typeface="Segoe UI"/>
              </a:rPr>
              <a:t> does both.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title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Emma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title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Emma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pk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None  (not saved yet)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save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pk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1  (the database gave it an id)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create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title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Beloved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count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2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03  ·  Design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class Meta and ordering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Settings for the whole table go in a small class inside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class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Movie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models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Model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name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models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CharField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max_length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150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586C0"/>
                </a:solidFill>
                <a:latin typeface="Consolas"/>
              </a:rPr>
              <a:t>class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Meta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9CDCFE"/>
                </a:solidFill>
                <a:latin typeface="Consolas"/>
              </a:rPr>
              <a:t>ordering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-name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  <a:r>
              <a:rPr sz="1800">
                <a:solidFill>
                  <a:srgbClr val="D4D4D4"/>
                </a:solidFill>
                <a:latin typeface="Consolas"/>
              </a:rPr>
              <a:t>     </a:t>
            </a:r>
            <a:r>
              <a:rPr sz="1800">
                <a:solidFill>
                  <a:srgbClr val="6A9955"/>
                </a:solidFill>
                <a:latin typeface="Consolas"/>
              </a:rPr>
              <a:t># Z to A;  ["name"] would be A to Z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Movie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order_by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name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</a:t>
            </a:r>
            <a:r>
              <a:rPr sz="1800">
                <a:solidFill>
                  <a:srgbClr val="6A9955"/>
                </a:solidFill>
                <a:latin typeface="Consolas"/>
              </a:rPr>
              <a:t># or sort just one query by hand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03  ·  Design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methods and __str__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A plain Python class (not a model) with both kinds of method: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>
                <a:solidFill>
                  <a:srgbClr val="C586C0"/>
                </a:solidFill>
                <a:latin typeface="Consolas"/>
              </a:rPr>
              <a:t>class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4EC9B0"/>
                </a:solidFill>
                <a:latin typeface="Consolas"/>
              </a:rPr>
              <a:t>Film</a:t>
            </a:r>
            <a:r>
              <a:rPr sz="14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</a:t>
            </a:r>
            <a:r>
              <a:rPr sz="1400">
                <a:solidFill>
                  <a:srgbClr val="9CDCFE"/>
                </a:solidFill>
                <a:latin typeface="Consolas"/>
              </a:rPr>
              <a:t>name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Alien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</a:t>
            </a:r>
            <a:r>
              <a:rPr sz="1400">
                <a:solidFill>
                  <a:srgbClr val="9CDCFE"/>
                </a:solidFill>
                <a:latin typeface="Consolas"/>
              </a:rPr>
              <a:t>year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B5CEA8"/>
                </a:solidFill>
                <a:latin typeface="Consolas"/>
              </a:rPr>
              <a:t>1979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</a:t>
            </a:r>
            <a:r>
              <a:rPr sz="1400">
                <a:solidFill>
                  <a:srgbClr val="C586C0"/>
                </a:solidFill>
                <a:latin typeface="Consolas"/>
              </a:rPr>
              <a:t>def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CDCAA"/>
                </a:solidFill>
                <a:latin typeface="Consolas"/>
              </a:rPr>
              <a:t>__str__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4EC9B0"/>
                </a:solidFill>
                <a:latin typeface="Consolas"/>
              </a:rPr>
              <a:t>self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>
                <a:solidFill>
                  <a:srgbClr val="C586C0"/>
                </a:solidFill>
                <a:latin typeface="Consolas"/>
              </a:rPr>
              <a:t>return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CE9178"/>
                </a:solidFill>
                <a:latin typeface="Consolas"/>
              </a:rPr>
              <a:t>f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{</a:t>
            </a:r>
            <a:r>
              <a:rPr sz="1400">
                <a:solidFill>
                  <a:srgbClr val="4EC9B0"/>
                </a:solidFill>
                <a:latin typeface="Consolas"/>
              </a:rPr>
              <a:t>self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name</a:t>
            </a:r>
            <a:r>
              <a:rPr sz="1400">
                <a:solidFill>
                  <a:srgbClr val="CE9178"/>
                </a:solidFill>
                <a:latin typeface="Consolas"/>
              </a:rPr>
              <a:t>}</a:t>
            </a:r>
            <a:r>
              <a:rPr sz="1400">
                <a:solidFill>
                  <a:srgbClr val="CE9178"/>
                </a:solidFill>
                <a:latin typeface="Consolas"/>
              </a:rPr>
              <a:t> (</a:t>
            </a:r>
            <a:r>
              <a:rPr sz="1400">
                <a:solidFill>
                  <a:srgbClr val="CE9178"/>
                </a:solidFill>
                <a:latin typeface="Consolas"/>
              </a:rPr>
              <a:t>{</a:t>
            </a:r>
            <a:r>
              <a:rPr sz="1400">
                <a:solidFill>
                  <a:srgbClr val="4EC9B0"/>
                </a:solidFill>
                <a:latin typeface="Consolas"/>
              </a:rPr>
              <a:t>self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year</a:t>
            </a:r>
            <a:r>
              <a:rPr sz="1400">
                <a:solidFill>
                  <a:srgbClr val="CE9178"/>
                </a:solidFill>
                <a:latin typeface="Consolas"/>
              </a:rPr>
              <a:t>}</a:t>
            </a:r>
            <a:r>
              <a:rPr sz="1400">
                <a:solidFill>
                  <a:srgbClr val="CE9178"/>
                </a:solidFill>
                <a:latin typeface="Consolas"/>
              </a:rPr>
              <a:t>)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</a:t>
            </a:r>
            <a:r>
              <a:rPr sz="1400">
                <a:solidFill>
                  <a:srgbClr val="C586C0"/>
                </a:solidFill>
                <a:latin typeface="Consolas"/>
              </a:rPr>
              <a:t>def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CDCAA"/>
                </a:solidFill>
                <a:latin typeface="Consolas"/>
              </a:rPr>
              <a:t>is_old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4EC9B0"/>
                </a:solidFill>
                <a:latin typeface="Consolas"/>
              </a:rPr>
              <a:t>self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>
                <a:solidFill>
                  <a:srgbClr val="C586C0"/>
                </a:solidFill>
                <a:latin typeface="Consolas"/>
              </a:rPr>
              <a:t>return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4EC9B0"/>
                </a:solidFill>
                <a:latin typeface="Consolas"/>
              </a:rPr>
              <a:t>self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year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4D4D4"/>
                </a:solidFill>
                <a:latin typeface="Consolas"/>
              </a:rPr>
              <a:t>&lt;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B5CEA8"/>
                </a:solidFill>
                <a:latin typeface="Consolas"/>
              </a:rPr>
              <a:t>1990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9CDCFE"/>
                </a:solidFill>
                <a:latin typeface="Consolas"/>
              </a:rPr>
              <a:t>film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Film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4EC9B0"/>
                </a:solidFill>
                <a:latin typeface="Consolas"/>
              </a:rPr>
              <a:t>print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9CDCFE"/>
                </a:solidFill>
                <a:latin typeface="Consolas"/>
              </a:rPr>
              <a:t>film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400">
                <a:solidFill>
                  <a:srgbClr val="6A9955"/>
                </a:solidFill>
                <a:latin typeface="Consolas"/>
              </a:rPr>
              <a:t># Alien (1979)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4EC9B0"/>
                </a:solidFill>
                <a:latin typeface="Consolas"/>
              </a:rPr>
              <a:t>print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9CDCFE"/>
                </a:solidFill>
                <a:latin typeface="Consolas"/>
              </a:rPr>
              <a:t>film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is_old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   </a:t>
            </a:r>
            <a:r>
              <a:rPr sz="1400">
                <a:solidFill>
                  <a:srgbClr val="6A9955"/>
                </a:solidFill>
                <a:latin typeface="Consolas"/>
              </a:rPr>
              <a:t># True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03  ·  Design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Pattern: check for None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6A3FC0"/>
                </a:solidFill>
                <a:latin typeface="Consolas"/>
              </a:rPr>
              <a:t>None &lt; 1950</a:t>
            </a:r>
            <a:r>
              <a:rPr sz="2000" b="0">
                <a:solidFill>
                  <a:srgbClr val="1C2330"/>
                </a:solidFill>
                <a:latin typeface="Segoe UI"/>
              </a:rPr>
              <a:t> crashes with a </a:t>
            </a:r>
            <a:r>
              <a:rPr sz="2000" b="0">
                <a:solidFill>
                  <a:srgbClr val="6A3FC0"/>
                </a:solidFill>
                <a:latin typeface="Consolas"/>
              </a:rPr>
              <a:t>TypeError</a:t>
            </a:r>
            <a:r>
              <a:rPr sz="2000" b="0">
                <a:solidFill>
                  <a:srgbClr val="1C2330"/>
                </a:solidFill>
                <a:latin typeface="Segoe UI"/>
              </a:rPr>
              <a:t>. </a:t>
            </a:r>
            <a:r>
              <a:rPr sz="2000" b="0">
                <a:solidFill>
                  <a:srgbClr val="6A3FC0"/>
                </a:solidFill>
                <a:latin typeface="Consolas"/>
              </a:rPr>
              <a:t>and</a:t>
            </a:r>
            <a:r>
              <a:rPr sz="2000" b="0">
                <a:solidFill>
                  <a:srgbClr val="1C2330"/>
                </a:solidFill>
                <a:latin typeface="Segoe UI"/>
              </a:rPr>
              <a:t> stops early, so check for </a:t>
            </a:r>
            <a:r>
              <a:rPr sz="2000" b="0">
                <a:solidFill>
                  <a:srgbClr val="6A3FC0"/>
                </a:solidFill>
                <a:latin typeface="Consolas"/>
              </a:rPr>
              <a:t>None</a:t>
            </a:r>
            <a:r>
              <a:rPr sz="2000" b="0">
                <a:solidFill>
                  <a:srgbClr val="1C2330"/>
                </a:solidFill>
                <a:latin typeface="Segoe UI"/>
              </a:rPr>
              <a:t>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569464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2203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score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None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score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not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None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and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score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50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score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72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score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not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None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and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score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50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5084064"/>
            <a:ext cx="10911535" cy="1088136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85232"/>
            <a:ext cx="10362895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False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03  ·  Design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Your task,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09997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8259775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Add </a:t>
            </a:r>
            <a:r>
              <a:rPr sz="1900" b="0">
                <a:solidFill>
                  <a:srgbClr val="6A3FC0"/>
                </a:solidFill>
                <a:latin typeface="Consolas"/>
              </a:rPr>
              <a:t>author</a:t>
            </a:r>
            <a:r>
              <a:rPr sz="1900" b="0">
                <a:solidFill>
                  <a:srgbClr val="1C2330"/>
                </a:solidFill>
                <a:latin typeface="Segoe UI"/>
              </a:rPr>
              <a:t>: a </a:t>
            </a:r>
            <a:r>
              <a:rPr sz="1900" b="0">
                <a:solidFill>
                  <a:srgbClr val="6A3FC0"/>
                </a:solidFill>
                <a:latin typeface="Consolas"/>
              </a:rPr>
              <a:t>CharField</a:t>
            </a:r>
            <a:r>
              <a:rPr sz="1900" b="0">
                <a:solidFill>
                  <a:srgbClr val="1C2330"/>
                </a:solidFill>
                <a:latin typeface="Segoe UI"/>
              </a:rPr>
              <a:t>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max_length=100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1508760"/>
            <a:ext cx="1828800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1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69671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68434"/>
            <a:ext cx="8259775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Add </a:t>
            </a:r>
            <a:r>
              <a:rPr sz="1900" b="0">
                <a:solidFill>
                  <a:srgbClr val="6A3FC0"/>
                </a:solidFill>
                <a:latin typeface="Consolas"/>
              </a:rPr>
              <a:t>published_year</a:t>
            </a:r>
            <a:r>
              <a:rPr sz="1900" b="0">
                <a:solidFill>
                  <a:srgbClr val="1C2330"/>
                </a:solidFill>
                <a:latin typeface="Segoe UI"/>
              </a:rPr>
              <a:t>: a </a:t>
            </a:r>
            <a:r>
              <a:rPr sz="1900" b="0">
                <a:solidFill>
                  <a:srgbClr val="6A3FC0"/>
                </a:solidFill>
                <a:latin typeface="Consolas"/>
              </a:rPr>
              <a:t>PositiveIntegerField</a:t>
            </a:r>
            <a:r>
              <a:rPr sz="1900" b="0">
                <a:solidFill>
                  <a:srgbClr val="1C2330"/>
                </a:solidFill>
                <a:latin typeface="Segoe UI"/>
              </a:rPr>
              <a:t>, </a:t>
            </a:r>
            <a:r>
              <a:rPr sz="1900" b="0">
                <a:solidFill>
                  <a:srgbClr val="6A3FC0"/>
                </a:solidFill>
                <a:latin typeface="Consolas"/>
              </a:rPr>
              <a:t>null</a:t>
            </a:r>
            <a:r>
              <a:rPr sz="1900" b="0">
                <a:solidFill>
                  <a:srgbClr val="1C2330"/>
                </a:solidFill>
                <a:latin typeface="Segoe UI"/>
              </a:rPr>
              <a:t> and </a:t>
            </a:r>
            <a:r>
              <a:rPr sz="1900" b="0">
                <a:solidFill>
                  <a:srgbClr val="6A3FC0"/>
                </a:solidFill>
                <a:latin typeface="Consolas"/>
              </a:rPr>
              <a:t>blank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2168434"/>
            <a:ext cx="1828800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2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29345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28108"/>
            <a:ext cx="8259775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Add </a:t>
            </a:r>
            <a:r>
              <a:rPr sz="1900" b="0">
                <a:solidFill>
                  <a:srgbClr val="6A3FC0"/>
                </a:solidFill>
                <a:latin typeface="Consolas"/>
              </a:rPr>
              <a:t>is_available</a:t>
            </a:r>
            <a:r>
              <a:rPr sz="1900" b="0">
                <a:solidFill>
                  <a:srgbClr val="1C2330"/>
                </a:solidFill>
                <a:latin typeface="Segoe UI"/>
              </a:rPr>
              <a:t>: a </a:t>
            </a:r>
            <a:r>
              <a:rPr sz="1900" b="0">
                <a:solidFill>
                  <a:srgbClr val="6A3FC0"/>
                </a:solidFill>
                <a:latin typeface="Consolas"/>
              </a:rPr>
              <a:t>BooleanField</a:t>
            </a:r>
            <a:r>
              <a:rPr sz="1900" b="0">
                <a:solidFill>
                  <a:srgbClr val="1C2330"/>
                </a:solidFill>
                <a:latin typeface="Segoe UI"/>
              </a:rPr>
              <a:t>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default=True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2815" y="2828108"/>
            <a:ext cx="1828800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3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589019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87782"/>
            <a:ext cx="8259775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Add </a:t>
            </a:r>
            <a:r>
              <a:rPr sz="1900" b="0">
                <a:solidFill>
                  <a:srgbClr val="6A3FC0"/>
                </a:solidFill>
                <a:latin typeface="Consolas"/>
              </a:rPr>
              <a:t>created_at</a:t>
            </a:r>
            <a:r>
              <a:rPr sz="1900" b="0">
                <a:solidFill>
                  <a:srgbClr val="1C2330"/>
                </a:solidFill>
                <a:latin typeface="Segoe UI"/>
              </a:rPr>
              <a:t>: a </a:t>
            </a:r>
            <a:r>
              <a:rPr sz="1900" b="0">
                <a:solidFill>
                  <a:srgbClr val="6A3FC0"/>
                </a:solidFill>
                <a:latin typeface="Consolas"/>
              </a:rPr>
              <a:t>DateTimeField</a:t>
            </a:r>
            <a:r>
              <a:rPr sz="1900" b="0">
                <a:solidFill>
                  <a:srgbClr val="1C2330"/>
                </a:solidFill>
                <a:latin typeface="Segoe UI"/>
              </a:rPr>
              <a:t>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auto_now_add=True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2815" y="3487782"/>
            <a:ext cx="1828800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4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248693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147456"/>
            <a:ext cx="8259775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__str__</a:t>
            </a:r>
            <a:r>
              <a:rPr sz="1900" b="0">
                <a:solidFill>
                  <a:srgbClr val="1C2330"/>
                </a:solidFill>
                <a:latin typeface="Segoe UI"/>
              </a:rPr>
              <a:t> returns title, </a:t>
            </a:r>
            <a:r>
              <a:rPr sz="1900" b="0">
                <a:solidFill>
                  <a:srgbClr val="6A3FC0"/>
                </a:solidFill>
                <a:latin typeface="Consolas"/>
              </a:rPr>
              <a:t>by</a:t>
            </a:r>
            <a:r>
              <a:rPr sz="1900" b="0">
                <a:solidFill>
                  <a:srgbClr val="1C2330"/>
                </a:solidFill>
                <a:latin typeface="Segoe UI"/>
              </a:rPr>
              <a:t>, author, from </a:t>
            </a:r>
            <a:r>
              <a:rPr sz="1900" b="0">
                <a:solidFill>
                  <a:srgbClr val="6A3FC0"/>
                </a:solidFill>
                <a:latin typeface="Consolas"/>
              </a:rPr>
              <a:t>self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4147456"/>
            <a:ext cx="1828800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5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908367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807130"/>
            <a:ext cx="8259775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Add </a:t>
            </a:r>
            <a:r>
              <a:rPr sz="1900" b="0">
                <a:solidFill>
                  <a:srgbClr val="6A3FC0"/>
                </a:solidFill>
                <a:latin typeface="Consolas"/>
              </a:rPr>
              <a:t>class Meta:</a:t>
            </a:r>
            <a:r>
              <a:rPr sz="1900" b="0">
                <a:solidFill>
                  <a:srgbClr val="1C2330"/>
                </a:solidFill>
                <a:latin typeface="Segoe UI"/>
              </a:rPr>
              <a:t>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ordering = ["title"]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2815" y="4807130"/>
            <a:ext cx="1828800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6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568041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466804"/>
            <a:ext cx="8259775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is_classic(self)</a:t>
            </a:r>
            <a:r>
              <a:rPr sz="1900" b="0">
                <a:solidFill>
                  <a:srgbClr val="1C2330"/>
                </a:solidFill>
                <a:latin typeface="Segoe UI"/>
              </a:rPr>
              <a:t>: a year that isn't </a:t>
            </a:r>
            <a:r>
              <a:rPr sz="1900" b="0">
                <a:solidFill>
                  <a:srgbClr val="6A3FC0"/>
                </a:solidFill>
                <a:latin typeface="Consolas"/>
              </a:rPr>
              <a:t>None</a:t>
            </a:r>
            <a:r>
              <a:rPr sz="1900" b="0">
                <a:solidFill>
                  <a:srgbClr val="1C2330"/>
                </a:solidFill>
                <a:latin typeface="Segoe UI"/>
              </a:rPr>
              <a:t> and is </a:t>
            </a:r>
            <a:r>
              <a:rPr sz="1900" b="0">
                <a:solidFill>
                  <a:srgbClr val="6A3FC0"/>
                </a:solidFill>
                <a:latin typeface="Consolas"/>
              </a:rPr>
              <a:t>&lt; 1950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2815" y="5466804"/>
            <a:ext cx="1828800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03  ·  Design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A </a:t>
            </a:r>
            <a:r>
              <a:rPr sz="2400" b="0">
                <a:solidFill>
                  <a:srgbClr val="6A3FC0"/>
                </a:solidFill>
                <a:latin typeface="Consolas"/>
              </a:rPr>
              <a:t>CharField</a:t>
            </a:r>
            <a:r>
              <a:rPr sz="2400" b="0">
                <a:solidFill>
                  <a:srgbClr val="1C2330"/>
                </a:solidFill>
                <a:latin typeface="Segoe UI"/>
              </a:rPr>
              <a:t> without </a:t>
            </a:r>
            <a:r>
              <a:rPr sz="2400" b="0">
                <a:solidFill>
                  <a:srgbClr val="6A3FC0"/>
                </a:solidFill>
                <a:latin typeface="Consolas"/>
              </a:rPr>
              <a:t>max_length</a:t>
            </a:r>
            <a:r>
              <a:rPr sz="2400" b="0">
                <a:solidFill>
                  <a:srgbClr val="1C2330"/>
                </a:solidFill>
                <a:latin typeface="Segoe UI"/>
              </a:rPr>
              <a:t>: Django refuses to load the model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Only </a:t>
            </a:r>
            <a:r>
              <a:rPr sz="2400" b="0">
                <a:solidFill>
                  <a:srgbClr val="6A3FC0"/>
                </a:solidFill>
                <a:latin typeface="Consolas"/>
              </a:rPr>
              <a:t>null=True</a:t>
            </a:r>
            <a:r>
              <a:rPr sz="2400" b="0">
                <a:solidFill>
                  <a:srgbClr val="1C2330"/>
                </a:solidFill>
                <a:latin typeface="Segoe UI"/>
              </a:rPr>
              <a:t> or only </a:t>
            </a:r>
            <a:r>
              <a:rPr sz="2400" b="0">
                <a:solidFill>
                  <a:srgbClr val="6A3FC0"/>
                </a:solidFill>
                <a:latin typeface="Consolas"/>
              </a:rPr>
              <a:t>blank=True</a:t>
            </a:r>
            <a:r>
              <a:rPr sz="2400" b="0">
                <a:solidFill>
                  <a:srgbClr val="1C2330"/>
                </a:solidFill>
                <a:latin typeface="Segoe UI"/>
              </a:rPr>
              <a:t>: test 2 needs both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ordering = "title"</a:t>
            </a:r>
            <a:r>
              <a:rPr sz="2400" b="0">
                <a:solidFill>
                  <a:srgbClr val="1C2330"/>
                </a:solidFill>
                <a:latin typeface="Segoe UI"/>
              </a:rPr>
              <a:t> (text) instead of a list, or outside </a:t>
            </a:r>
            <a:r>
              <a:rPr sz="2400" b="0">
                <a:solidFill>
                  <a:srgbClr val="6A3FC0"/>
                </a:solidFill>
                <a:latin typeface="Consolas"/>
              </a:rPr>
              <a:t>class Meta: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published_year</a:t>
            </a:r>
            <a:r>
              <a:rPr sz="2400" b="0">
                <a:solidFill>
                  <a:srgbClr val="1C2330"/>
                </a:solidFill>
                <a:latin typeface="Segoe UI"/>
              </a:rPr>
              <a:t> instead of </a:t>
            </a:r>
            <a:r>
              <a:rPr sz="2400" b="0">
                <a:solidFill>
                  <a:srgbClr val="6A3FC0"/>
                </a:solidFill>
                <a:latin typeface="Consolas"/>
              </a:rPr>
              <a:t>self.published_year</a:t>
            </a:r>
            <a:r>
              <a:rPr sz="2400" b="0">
                <a:solidFill>
                  <a:srgbClr val="1C2330"/>
                </a:solidFill>
                <a:latin typeface="Segoe UI"/>
              </a:rPr>
              <a:t> inside a method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__str__</a:t>
            </a:r>
            <a:r>
              <a:rPr sz="2400" b="0">
                <a:solidFill>
                  <a:srgbClr val="1C2330"/>
                </a:solidFill>
                <a:latin typeface="Segoe UI"/>
              </a:rPr>
              <a:t> that prints instead of returning, or </a:t>
            </a:r>
            <a:r>
              <a:rPr sz="2400" b="0">
                <a:solidFill>
                  <a:srgbClr val="6A3FC0"/>
                </a:solidFill>
                <a:latin typeface="Consolas"/>
              </a:rPr>
              <a:t>&lt;= 1950</a:t>
            </a:r>
            <a:r>
              <a:rPr sz="2400" b="0">
                <a:solidFill>
                  <a:srgbClr val="1C2330"/>
                </a:solidFill>
                <a:latin typeface="Segoe UI"/>
              </a:rPr>
              <a:t> instead of </a:t>
            </a:r>
            <a:r>
              <a:rPr sz="2400" b="0">
                <a:solidFill>
                  <a:srgbClr val="6A3FC0"/>
                </a:solidFill>
                <a:latin typeface="Consolas"/>
              </a:rPr>
              <a:t>&lt; 1950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03  ·  Design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Where you'll use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A library app needs to store books, members and loans. Each one is a model, and every screen and API endpoint reads from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After changing a model, run </a:t>
            </a:r>
            <a:r>
              <a:rPr sz="2000" b="0">
                <a:solidFill>
                  <a:srgbClr val="6A3FC0"/>
                </a:solidFill>
                <a:latin typeface="Consolas"/>
              </a:rPr>
              <a:t>python manage.py makemigrations</a:t>
            </a:r>
            <a:r>
              <a:rPr sz="2000" b="0">
                <a:solidFill>
                  <a:srgbClr val="1C2330"/>
                </a:solidFill>
                <a:latin typeface="Segoe UI"/>
              </a:rPr>
              <a:t>, then </a:t>
            </a:r>
            <a:r>
              <a:rPr sz="2000" b="0">
                <a:solidFill>
                  <a:srgbClr val="6A3FC0"/>
                </a:solidFill>
                <a:latin typeface="Consolas"/>
              </a:rPr>
              <a:t>migrate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The admin, forms and serializers all read their rules from your fields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A good </a:t>
            </a:r>
            <a:r>
              <a:rPr sz="2000" b="0">
                <a:solidFill>
                  <a:srgbClr val="6A3FC0"/>
                </a:solidFill>
                <a:latin typeface="Consolas"/>
              </a:rPr>
              <a:t>__str__</a:t>
            </a:r>
            <a:r>
              <a:rPr sz="2000" b="0">
                <a:solidFill>
                  <a:srgbClr val="1C2330"/>
                </a:solidFill>
                <a:latin typeface="Segoe UI"/>
              </a:rPr>
              <a:t> turns </a:t>
            </a:r>
            <a:r>
              <a:rPr sz="2000" b="0">
                <a:solidFill>
                  <a:srgbClr val="6A3FC0"/>
                </a:solidFill>
                <a:latin typeface="Consolas"/>
              </a:rPr>
              <a:t>Book object (1)</a:t>
            </a:r>
            <a:r>
              <a:rPr sz="2000" b="0">
                <a:solidFill>
                  <a:srgbClr val="1C2330"/>
                </a:solidFill>
                <a:latin typeface="Segoe UI"/>
              </a:rPr>
              <a:t> into </a:t>
            </a:r>
            <a:r>
              <a:rPr sz="2000" b="0">
                <a:solidFill>
                  <a:srgbClr val="6A3FC0"/>
                </a:solidFill>
                <a:latin typeface="Consolas"/>
              </a:rPr>
              <a:t>Dune by Frank Herbert</a:t>
            </a:r>
            <a:r>
              <a:rPr sz="2000" b="0">
                <a:solidFill>
                  <a:srgbClr val="1C2330"/>
                </a:solidFill>
                <a:latin typeface="Segoe UI"/>
              </a:rPr>
              <a:t> in the admin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03  ·  Design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Check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1.  What is the difference between </a:t>
            </a:r>
            <a:r>
              <a:rPr sz="2300" b="0">
                <a:solidFill>
                  <a:srgbClr val="6A3FC0"/>
                </a:solidFill>
                <a:latin typeface="Consolas"/>
              </a:rPr>
              <a:t>null=True</a:t>
            </a:r>
            <a:r>
              <a:rPr sz="2300" b="0">
                <a:solidFill>
                  <a:srgbClr val="1C2330"/>
                </a:solidFill>
                <a:latin typeface="Segoe UI"/>
              </a:rPr>
              <a:t> and </a:t>
            </a:r>
            <a:r>
              <a:rPr sz="2300" b="0">
                <a:solidFill>
                  <a:srgbClr val="6A3FC0"/>
                </a:solidFill>
                <a:latin typeface="Consolas"/>
              </a:rPr>
              <a:t>blank=True</a:t>
            </a:r>
            <a:r>
              <a:rPr sz="2300" b="0">
                <a:solidFill>
                  <a:srgbClr val="1C2330"/>
                </a:solidFill>
                <a:latin typeface="Segoe UI"/>
              </a:rPr>
              <a:t>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2.  What does </a:t>
            </a:r>
            <a:r>
              <a:rPr sz="2300" b="0">
                <a:solidFill>
                  <a:srgbClr val="6A3FC0"/>
                </a:solidFill>
                <a:latin typeface="Consolas"/>
              </a:rPr>
              <a:t>auto_now_add=True</a:t>
            </a:r>
            <a:r>
              <a:rPr sz="2300" b="0">
                <a:solidFill>
                  <a:srgbClr val="1C2330"/>
                </a:solidFill>
                <a:latin typeface="Segoe UI"/>
              </a:rPr>
              <a:t> do, and when?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3.  Where does </a:t>
            </a:r>
            <a:r>
              <a:rPr sz="2300" b="0">
                <a:solidFill>
                  <a:srgbClr val="6A3FC0"/>
                </a:solidFill>
                <a:latin typeface="Consolas"/>
              </a:rPr>
              <a:t>ordering</a:t>
            </a:r>
            <a:r>
              <a:rPr sz="2300" b="0">
                <a:solidFill>
                  <a:srgbClr val="1C2330"/>
                </a:solidFill>
                <a:latin typeface="Segoe UI"/>
              </a:rPr>
              <a:t> go, and why does it need square brackets?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4.  Why check </a:t>
            </a:r>
            <a:r>
              <a:rPr sz="2300" b="0">
                <a:solidFill>
                  <a:srgbClr val="6A3FC0"/>
                </a:solidFill>
                <a:latin typeface="Consolas"/>
              </a:rPr>
              <a:t>is not None</a:t>
            </a:r>
            <a:r>
              <a:rPr sz="2300" b="0">
                <a:solidFill>
                  <a:srgbClr val="1C2330"/>
                </a:solidFill>
                <a:latin typeface="Segoe UI"/>
              </a:rPr>
              <a:t> before comparing a year with 1950?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03  ·  Design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Keep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2"/>
              </a:rPr>
              <a:t>Django models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Girls Tutorial · tutorial · beginner. Start here: explains what a model is using everyday objects, then builds one step by step.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3"/>
              </a:rPr>
              <a:t>Django Model Fields – Common Use Cases and How They Work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freeCodeCamp · article · beginner. Plain-language tour of CharField, IntegerField, DateField and default values, with examples of when to use each.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4"/>
              </a:rPr>
              <a:t>Writing your first Django app, part 2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docs · tutorial · beginner. The official tutorial step where you create models, add a __str__ method and a custom method, just like the Book model.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5"/>
              </a:rPr>
              <a:t>Models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docs · docs · intermediate. The main guide to fields, Meta options and model methods; read it once you have written your first model.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6"/>
              </a:rPr>
              <a:t>Model Meta options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docs · docs · intermediate. Reference for class Meta settings such as ordering, which controls the default sort order of your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