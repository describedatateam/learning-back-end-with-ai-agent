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deck goes with exercise 7. By the end you should be able to explain what each of the three pieces does and which URL and method reach which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pieces: a ModelSerializer turns a model into JSON and back, a ModelViewSet does all five jobs, and a router makes the web addresses.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don't call your code yourself. The tests act like a browser or an app, sending GET, POST, PATCH and DELETE requests.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ids here are Dune = 1 and Emma = 2 for readability; the tests use the real ids the database picks.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ModelViewSet already knows how to list, create, update, delete, and answer 400 and 404. Your job is to tell it which model, which fields and which URL.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Without an order, a database may return rows in any order. Test 1 needs Dune before Emma every time, so sort by 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class Meta is a small class inside another class: DRF's place for settings. You don't call it, you just write it. Checking input works too: ShortBookSerializer(data={"author": "Anonymous"}).is_valid() is False, and .errors says title is required. That's where test 4's 400 comes from. The id field is read-only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one lists newest first with only two fields. Yours needs a different order and the full serializer. DRF reads these two variables to do list, create, retrieve, update and delete.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prefix has no slashes: the router adds them. Read ^newest/$ as the collection URL /newest/, and (?P&lt;pk&gt;...) as 'an id goes here', so the third line is /newest/1/. The format lines are extras like /newest.json. router.urls is what Django reads from urlpatterns.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address, different method, different action. PUT vs PATCH is the classic mix-up: with PUT, a missing required field is a validation error; PATCH only checks what you sent. Test 5 uses PATCH.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test calls your URLs, so nothing passes until all four steps are done. Write them all, then run the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 2 failing with a missing or extra key usually means a typo in fields, especially published_year.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django-rest-framework.org/tutorial/quickstart/" TargetMode="External"/><Relationship Id="rId3" Type="http://schemas.openxmlformats.org/officeDocument/2006/relationships/hyperlink" Target="https://www.django-rest-framework.org/tutorial/6-viewsets-and-routers/" TargetMode="External"/><Relationship Id="rId4" Type="http://schemas.openxmlformats.org/officeDocument/2006/relationships/hyperlink" Target="https://www.django-rest-framework.org/api-guide/serializers/#modelserializer" TargetMode="External"/><Relationship Id="rId5" Type="http://schemas.openxmlformats.org/officeDocument/2006/relationships/hyperlink" Target="https://www.django-rest-framework.org/api-guide/viewsets/#modelviewset" TargetMode="External"/><Relationship Id="rId6" Type="http://schemas.openxmlformats.org/officeDocument/2006/relationships/hyperlink" Target="https://www.django-rest-framework.org/api-guide/routers/#defaultrouter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5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5544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B38CFF"/>
                </a:solidFill>
                <a:latin typeface="Segoe UI"/>
              </a:rPr>
              <a:t>WEEK 2  ·  EXERCISE 07  ·  VIEWSETS &amp; ROUTERS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10312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Segoe UI"/>
              </a:rPr>
              <a:t>A full CRUD API in 15 lines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4160520"/>
            <a:ext cx="1280160" cy="73152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480560"/>
            <a:ext cx="1091153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C9D1DE"/>
                </a:solidFill>
                <a:latin typeface="Segoe UI"/>
              </a:rPr>
              <a:t>A serializer, a viewset and a router give you list, create, read, update and delete.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35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9AA4B5"/>
                </a:solidFill>
                <a:latin typeface="Segoe UI"/>
              </a:rPr>
              <a:t>Backend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07  ·  A full CRUD API in 15 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The big idea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10911535" cy="4206240"/>
          </a:xfrm>
          <a:prstGeom prst="roundRect">
            <a:avLst>
              <a:gd name="adj" fmla="val 6000"/>
            </a:avLst>
          </a:prstGeom>
          <a:solidFill>
            <a:srgbClr val="F3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37360"/>
            <a:ext cx="9997135" cy="3840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An </a:t>
            </a:r>
            <a:r>
              <a:rPr sz="2400" b="1">
                <a:solidFill>
                  <a:srgbClr val="1C2330"/>
                </a:solidFill>
                <a:latin typeface="Segoe UI"/>
              </a:rPr>
              <a:t>API</a:t>
            </a:r>
            <a:r>
              <a:rPr sz="2400" b="0">
                <a:solidFill>
                  <a:srgbClr val="1C2330"/>
                </a:solidFill>
                <a:latin typeface="Segoe UI"/>
              </a:rPr>
              <a:t> is a set of web addresses that programs use to read and change your data. It sends back JSON, not HTML pages.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For each kind of thing (books, tasks, users) clients want the same jobs: list, add, look at one, change, delete. That's </a:t>
            </a:r>
            <a:r>
              <a:rPr sz="2400" b="1">
                <a:solidFill>
                  <a:srgbClr val="1C2330"/>
                </a:solidFill>
                <a:latin typeface="Segoe UI"/>
              </a:rPr>
              <a:t>CRUD</a:t>
            </a:r>
            <a:r>
              <a:rPr sz="2400" b="0">
                <a:solidFill>
                  <a:srgbClr val="1C2330"/>
                </a:solidFill>
                <a:latin typeface="Segoe UI"/>
              </a:rPr>
              <a:t>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DRF bundles them, like </a:t>
            </a:r>
            <a:r>
              <a:rPr sz="2400" b="0">
                <a:solidFill>
                  <a:srgbClr val="6A3FC0"/>
                </a:solidFill>
                <a:latin typeface="Consolas"/>
              </a:rPr>
              <a:t>df.describe()</a:t>
            </a:r>
            <a:r>
              <a:rPr sz="2400" b="0">
                <a:solidFill>
                  <a:srgbClr val="1C2330"/>
                </a:solidFill>
                <a:latin typeface="Segoe UI"/>
              </a:rPr>
              <a:t> does many standard sums in one call.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07  ·  A full CRUD API in 15 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What the tests set 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Before each test they log in and create two books. Then they send </a:t>
            </a:r>
            <a:r>
              <a:rPr sz="2000" b="1">
                <a:solidFill>
                  <a:srgbClr val="1C2330"/>
                </a:solidFill>
                <a:latin typeface="Segoe UI"/>
              </a:rPr>
              <a:t>real HTTP requests</a:t>
            </a:r>
            <a:r>
              <a:rPr sz="2000" b="0">
                <a:solidFill>
                  <a:srgbClr val="1C2330"/>
                </a:solidFill>
                <a:latin typeface="Segoe UI"/>
              </a:rPr>
              <a:t> to your URLs.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10911535" cy="384048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32888"/>
            <a:ext cx="10362895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800">
                <a:solidFill>
                  <a:srgbClr val="9CDCFE"/>
                </a:solidFill>
                <a:latin typeface="Consolas"/>
              </a:rPr>
              <a:t>Book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objects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create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title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Dune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author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Frank Herbert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published_year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B5CEA8"/>
                </a:solidFill>
                <a:latin typeface="Consolas"/>
              </a:rPr>
              <a:t>1965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9CDCFE"/>
                </a:solidFill>
                <a:latin typeface="Consolas"/>
              </a:rPr>
              <a:t>Book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objects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create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title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Emma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author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Jane Austen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published_year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B5CEA8"/>
                </a:solidFill>
                <a:latin typeface="Consolas"/>
              </a:rPr>
              <a:t>1815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6A9955"/>
                </a:solidFill>
                <a:latin typeface="Consolas"/>
              </a:rPr>
              <a:t># The Book model is already written (sandbox/models.py):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6A9955"/>
                </a:solidFill>
                <a:latin typeface="Consolas"/>
              </a:rPr>
              <a:t>#   title, author, published_year (may be empty), plus an automatic id</a:t>
            </a:r>
          </a:p>
          <a:p>
            <a:pPr>
              <a:lnSpc>
                <a:spcPct val="11000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07  ·  A full CRUD API in 15 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What the tests send and expect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3017520" cy="6531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GET /books/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508760"/>
            <a:ext cx="7711135" cy="6531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6A3FC0"/>
                </a:solidFill>
                <a:latin typeface="Consolas"/>
              </a:rPr>
              <a:t>200</a:t>
            </a:r>
            <a:r>
              <a:rPr sz="1900" b="0">
                <a:solidFill>
                  <a:srgbClr val="1C2330"/>
                </a:solidFill>
                <a:latin typeface="Segoe UI"/>
              </a:rPr>
              <a:t>, both books: Dune first, then Emma (test 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61902"/>
            <a:ext cx="3017520" cy="6531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GET /books/1/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161902"/>
            <a:ext cx="7711135" cy="6531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One book with keys </a:t>
            </a:r>
            <a:r>
              <a:rPr sz="1900" b="0">
                <a:solidFill>
                  <a:srgbClr val="6A3FC0"/>
                </a:solidFill>
                <a:latin typeface="Consolas"/>
              </a:rPr>
              <a:t>id</a:t>
            </a:r>
            <a:r>
              <a:rPr sz="1900" b="0">
                <a:solidFill>
                  <a:srgbClr val="1C2330"/>
                </a:solidFill>
                <a:latin typeface="Segoe UI"/>
              </a:rPr>
              <a:t>, </a:t>
            </a:r>
            <a:r>
              <a:rPr sz="1900" b="0">
                <a:solidFill>
                  <a:srgbClr val="6A3FC0"/>
                </a:solidFill>
                <a:latin typeface="Consolas"/>
              </a:rPr>
              <a:t>title</a:t>
            </a:r>
            <a:r>
              <a:rPr sz="1900" b="0">
                <a:solidFill>
                  <a:srgbClr val="1C2330"/>
                </a:solidFill>
                <a:latin typeface="Segoe UI"/>
              </a:rPr>
              <a:t>, </a:t>
            </a:r>
            <a:r>
              <a:rPr sz="1900" b="0">
                <a:solidFill>
                  <a:srgbClr val="6A3FC0"/>
                </a:solidFill>
                <a:latin typeface="Consolas"/>
              </a:rPr>
              <a:t>author</a:t>
            </a:r>
            <a:r>
              <a:rPr sz="1900" b="0">
                <a:solidFill>
                  <a:srgbClr val="1C2330"/>
                </a:solidFill>
                <a:latin typeface="Segoe UI"/>
              </a:rPr>
              <a:t>, </a:t>
            </a:r>
            <a:r>
              <a:rPr sz="1900" b="0">
                <a:solidFill>
                  <a:srgbClr val="6A3FC0"/>
                </a:solidFill>
                <a:latin typeface="Consolas"/>
              </a:rPr>
              <a:t>published_year</a:t>
            </a:r>
            <a:r>
              <a:rPr sz="1900" b="0">
                <a:solidFill>
                  <a:srgbClr val="1C2330"/>
                </a:solidFill>
                <a:latin typeface="Segoe UI"/>
              </a:rPr>
              <a:t> (test 2)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" y="2161902"/>
            <a:ext cx="10911535" cy="0"/>
          </a:xfrm>
          <a:prstGeom prst="line">
            <a:avLst/>
          </a:prstGeom>
          <a:ln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2815044"/>
            <a:ext cx="3017520" cy="6531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POST /books/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815044"/>
            <a:ext cx="7711135" cy="6531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Title "Beloved": </a:t>
            </a:r>
            <a:r>
              <a:rPr sz="1900" b="0">
                <a:solidFill>
                  <a:srgbClr val="6A3FC0"/>
                </a:solidFill>
                <a:latin typeface="Consolas"/>
              </a:rPr>
              <a:t>201</a:t>
            </a:r>
            <a:r>
              <a:rPr sz="1900" b="0">
                <a:solidFill>
                  <a:srgbClr val="1C2330"/>
                </a:solidFill>
                <a:latin typeface="Segoe UI"/>
              </a:rPr>
              <a:t>, saved, reply has its new </a:t>
            </a:r>
            <a:r>
              <a:rPr sz="1900" b="0">
                <a:solidFill>
                  <a:srgbClr val="6A3FC0"/>
                </a:solidFill>
                <a:latin typeface="Consolas"/>
              </a:rPr>
              <a:t>id</a:t>
            </a:r>
            <a:r>
              <a:rPr sz="1900" b="0">
                <a:solidFill>
                  <a:srgbClr val="1C2330"/>
                </a:solidFill>
                <a:latin typeface="Segoe UI"/>
              </a:rPr>
              <a:t> (test 3)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" y="2815044"/>
            <a:ext cx="10911535" cy="0"/>
          </a:xfrm>
          <a:prstGeom prst="line">
            <a:avLst/>
          </a:prstGeom>
          <a:ln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468186"/>
            <a:ext cx="3017520" cy="6531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POST /books/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468186"/>
            <a:ext cx="7711135" cy="6531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Only an author: </a:t>
            </a:r>
            <a:r>
              <a:rPr sz="1900" b="0">
                <a:solidFill>
                  <a:srgbClr val="6A3FC0"/>
                </a:solidFill>
                <a:latin typeface="Consolas"/>
              </a:rPr>
              <a:t>400</a:t>
            </a:r>
            <a:r>
              <a:rPr sz="1900" b="0">
                <a:solidFill>
                  <a:srgbClr val="1C2330"/>
                </a:solidFill>
                <a:latin typeface="Segoe UI"/>
              </a:rPr>
              <a:t>, error names </a:t>
            </a:r>
            <a:r>
              <a:rPr sz="1900" b="0">
                <a:solidFill>
                  <a:srgbClr val="6A3FC0"/>
                </a:solidFill>
                <a:latin typeface="Consolas"/>
              </a:rPr>
              <a:t>title</a:t>
            </a:r>
            <a:r>
              <a:rPr sz="1900" b="0">
                <a:solidFill>
                  <a:srgbClr val="1C2330"/>
                </a:solidFill>
                <a:latin typeface="Segoe UI"/>
              </a:rPr>
              <a:t> (test 4)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3468186"/>
            <a:ext cx="10911535" cy="0"/>
          </a:xfrm>
          <a:prstGeom prst="line">
            <a:avLst/>
          </a:prstGeom>
          <a:ln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4121328"/>
            <a:ext cx="3017520" cy="6531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PATCH /books/1/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121328"/>
            <a:ext cx="7711135" cy="6531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6A3FC0"/>
                </a:solidFill>
                <a:latin typeface="Consolas"/>
              </a:rPr>
              <a:t>{"published_year": 1966}</a:t>
            </a:r>
            <a:r>
              <a:rPr sz="1900" b="0">
                <a:solidFill>
                  <a:srgbClr val="1C2330"/>
                </a:solidFill>
                <a:latin typeface="Segoe UI"/>
              </a:rPr>
              <a:t>: </a:t>
            </a:r>
            <a:r>
              <a:rPr sz="1900" b="0">
                <a:solidFill>
                  <a:srgbClr val="6A3FC0"/>
                </a:solidFill>
                <a:latin typeface="Consolas"/>
              </a:rPr>
              <a:t>200</a:t>
            </a:r>
            <a:r>
              <a:rPr sz="1900" b="0">
                <a:solidFill>
                  <a:srgbClr val="1C2330"/>
                </a:solidFill>
                <a:latin typeface="Segoe UI"/>
              </a:rPr>
              <a:t>, title still Dune (test 5)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" y="4121328"/>
            <a:ext cx="10911535" cy="0"/>
          </a:xfrm>
          <a:prstGeom prst="line">
            <a:avLst/>
          </a:prstGeom>
          <a:ln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" y="4774470"/>
            <a:ext cx="3017520" cy="6531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DELETE /books/2/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4774470"/>
            <a:ext cx="7711135" cy="6531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6A3FC0"/>
                </a:solidFill>
                <a:latin typeface="Consolas"/>
              </a:rPr>
              <a:t>204</a:t>
            </a:r>
            <a:r>
              <a:rPr sz="1900" b="0">
                <a:solidFill>
                  <a:srgbClr val="1C2330"/>
                </a:solidFill>
                <a:latin typeface="Segoe UI"/>
              </a:rPr>
              <a:t>, Emma is gone from the database (test 6)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0080" y="4774470"/>
            <a:ext cx="10911535" cy="0"/>
          </a:xfrm>
          <a:prstGeom prst="line">
            <a:avLst/>
          </a:prstGeom>
          <a:ln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0080" y="5427612"/>
            <a:ext cx="3017520" cy="6531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GET /books/999/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5427612"/>
            <a:ext cx="7711135" cy="6531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6A3FC0"/>
                </a:solidFill>
                <a:latin typeface="Consolas"/>
              </a:rPr>
              <a:t>404</a:t>
            </a:r>
            <a:r>
              <a:rPr sz="1900" b="0">
                <a:solidFill>
                  <a:srgbClr val="1C2330"/>
                </a:solidFill>
                <a:latin typeface="Segoe UI"/>
              </a:rPr>
              <a:t>, no such book (test 7)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0080" y="5427612"/>
            <a:ext cx="10911535" cy="0"/>
          </a:xfrm>
          <a:prstGeom prst="line">
            <a:avLst/>
          </a:prstGeom>
          <a:ln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07  ·  A full CRUD API in 15 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What the replies look like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Reply bodies for test 1 and test 4. You write none of this logic yourself.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10911535" cy="384048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32888"/>
            <a:ext cx="10362895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800">
                <a:solidFill>
                  <a:srgbClr val="6A9955"/>
                </a:solidFill>
                <a:latin typeface="Consolas"/>
              </a:rPr>
              <a:t># GET /books/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[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    </a:t>
            </a:r>
            <a:r>
              <a:rPr sz="1800">
                <a:solidFill>
                  <a:srgbClr val="D4D4D4"/>
                </a:solidFill>
                <a:latin typeface="Consolas"/>
              </a:rPr>
              <a:t>{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id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1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title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Dune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author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Frank Herbert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published_year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1965</a:t>
            </a:r>
            <a:r>
              <a:rPr sz="1800">
                <a:solidFill>
                  <a:srgbClr val="D4D4D4"/>
                </a:solidFill>
                <a:latin typeface="Consolas"/>
              </a:rPr>
              <a:t>}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    </a:t>
            </a:r>
            <a:r>
              <a:rPr sz="1800">
                <a:solidFill>
                  <a:srgbClr val="D4D4D4"/>
                </a:solidFill>
                <a:latin typeface="Consolas"/>
              </a:rPr>
              <a:t>{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id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2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title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Emma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author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Jane Austen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published_year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1815</a:t>
            </a:r>
            <a:r>
              <a:rPr sz="1800">
                <a:solidFill>
                  <a:srgbClr val="D4D4D4"/>
                </a:solidFill>
                <a:latin typeface="Consolas"/>
              </a:rPr>
              <a:t>}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]</a:t>
            </a: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6A9955"/>
                </a:solidFill>
                <a:latin typeface="Consolas"/>
              </a:rPr>
              <a:t># POST /books/ with {"author": "Anonymous"}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{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title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[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This field is required.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]</a:t>
            </a:r>
            <a:r>
              <a:rPr sz="180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1000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07  ·  A full CRUD API in 15 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New words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3017520" cy="6531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resource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508760"/>
            <a:ext cx="7711135" cy="6531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One kind of thing your API manages, like books.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61902"/>
            <a:ext cx="3017520" cy="6531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CRUD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161902"/>
            <a:ext cx="7711135" cy="6531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Create, Read, Update, Delete: the basic jobs on data.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" y="2161902"/>
            <a:ext cx="10911535" cy="0"/>
          </a:xfrm>
          <a:prstGeom prst="line">
            <a:avLst/>
          </a:prstGeom>
          <a:ln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2815044"/>
            <a:ext cx="3017520" cy="6531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collection URL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815044"/>
            <a:ext cx="7711135" cy="6531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The address for the whole list: </a:t>
            </a:r>
            <a:r>
              <a:rPr sz="1900" b="0">
                <a:solidFill>
                  <a:srgbClr val="6A3FC0"/>
                </a:solidFill>
                <a:latin typeface="Consolas"/>
              </a:rPr>
              <a:t>/books/</a:t>
            </a:r>
            <a:r>
              <a:rPr sz="1900" b="0">
                <a:solidFill>
                  <a:srgbClr val="1C2330"/>
                </a:solidFill>
                <a:latin typeface="Segoe UI"/>
              </a:rPr>
              <a:t>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" y="2815044"/>
            <a:ext cx="10911535" cy="0"/>
          </a:xfrm>
          <a:prstGeom prst="line">
            <a:avLst/>
          </a:prstGeom>
          <a:ln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468186"/>
            <a:ext cx="3017520" cy="6531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detail URL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468186"/>
            <a:ext cx="7711135" cy="6531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The address for one item, by id: </a:t>
            </a:r>
            <a:r>
              <a:rPr sz="1900" b="0">
                <a:solidFill>
                  <a:srgbClr val="6A3FC0"/>
                </a:solidFill>
                <a:latin typeface="Consolas"/>
              </a:rPr>
              <a:t>/books/1/</a:t>
            </a:r>
            <a:r>
              <a:rPr sz="1900" b="0">
                <a:solidFill>
                  <a:srgbClr val="1C2330"/>
                </a:solidFill>
                <a:latin typeface="Segoe UI"/>
              </a:rPr>
              <a:t>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3468186"/>
            <a:ext cx="10911535" cy="0"/>
          </a:xfrm>
          <a:prstGeom prst="line">
            <a:avLst/>
          </a:prstGeom>
          <a:ln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4121328"/>
            <a:ext cx="3017520" cy="6531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status 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121328"/>
            <a:ext cx="7711135" cy="6531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6A3FC0"/>
                </a:solidFill>
                <a:latin typeface="Consolas"/>
              </a:rPr>
              <a:t>200</a:t>
            </a:r>
            <a:r>
              <a:rPr sz="1900" b="0">
                <a:solidFill>
                  <a:srgbClr val="1C2330"/>
                </a:solidFill>
                <a:latin typeface="Segoe UI"/>
              </a:rPr>
              <a:t> OK, </a:t>
            </a:r>
            <a:r>
              <a:rPr sz="1900" b="0">
                <a:solidFill>
                  <a:srgbClr val="6A3FC0"/>
                </a:solidFill>
                <a:latin typeface="Consolas"/>
              </a:rPr>
              <a:t>201</a:t>
            </a:r>
            <a:r>
              <a:rPr sz="1900" b="0">
                <a:solidFill>
                  <a:srgbClr val="1C2330"/>
                </a:solidFill>
                <a:latin typeface="Segoe UI"/>
              </a:rPr>
              <a:t> created, </a:t>
            </a:r>
            <a:r>
              <a:rPr sz="1900" b="0">
                <a:solidFill>
                  <a:srgbClr val="6A3FC0"/>
                </a:solidFill>
                <a:latin typeface="Consolas"/>
              </a:rPr>
              <a:t>204</a:t>
            </a:r>
            <a:r>
              <a:rPr sz="1900" b="0">
                <a:solidFill>
                  <a:srgbClr val="1C2330"/>
                </a:solidFill>
                <a:latin typeface="Segoe UI"/>
              </a:rPr>
              <a:t> done, </a:t>
            </a:r>
            <a:r>
              <a:rPr sz="1900" b="0">
                <a:solidFill>
                  <a:srgbClr val="6A3FC0"/>
                </a:solidFill>
                <a:latin typeface="Consolas"/>
              </a:rPr>
              <a:t>400</a:t>
            </a:r>
            <a:r>
              <a:rPr sz="1900" b="0">
                <a:solidFill>
                  <a:srgbClr val="1C2330"/>
                </a:solidFill>
                <a:latin typeface="Segoe UI"/>
              </a:rPr>
              <a:t> bad input, </a:t>
            </a:r>
            <a:r>
              <a:rPr sz="1900" b="0">
                <a:solidFill>
                  <a:srgbClr val="6A3FC0"/>
                </a:solidFill>
                <a:latin typeface="Consolas"/>
              </a:rPr>
              <a:t>404</a:t>
            </a:r>
            <a:r>
              <a:rPr sz="1900" b="0">
                <a:solidFill>
                  <a:srgbClr val="1C2330"/>
                </a:solidFill>
                <a:latin typeface="Segoe UI"/>
              </a:rPr>
              <a:t> not found.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" y="4121328"/>
            <a:ext cx="10911535" cy="0"/>
          </a:xfrm>
          <a:prstGeom prst="line">
            <a:avLst/>
          </a:prstGeom>
          <a:ln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" y="4774470"/>
            <a:ext cx="3017520" cy="6531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ViewSet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4774470"/>
            <a:ext cx="7711135" cy="6531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One class that handles all the actions for one resource.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0080" y="4774470"/>
            <a:ext cx="10911535" cy="0"/>
          </a:xfrm>
          <a:prstGeom prst="line">
            <a:avLst/>
          </a:prstGeom>
          <a:ln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0080" y="5427612"/>
            <a:ext cx="3017520" cy="6531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router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5427612"/>
            <a:ext cx="7711135" cy="6531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Looks at a ViewSet and makes the URLs for it.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0080" y="5427612"/>
            <a:ext cx="10911535" cy="0"/>
          </a:xfrm>
          <a:prstGeom prst="line">
            <a:avLst/>
          </a:prstGeom>
          <a:ln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07  ·  A full CRUD API in 15 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Tool: Book.objects.order_by("id")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A </a:t>
            </a:r>
            <a:r>
              <a:rPr sz="2000" b="1">
                <a:solidFill>
                  <a:srgbClr val="1C2330"/>
                </a:solidFill>
                <a:latin typeface="Segoe UI"/>
              </a:rPr>
              <a:t>method</a:t>
            </a:r>
            <a:r>
              <a:rPr sz="2000" b="0">
                <a:solidFill>
                  <a:srgbClr val="1C2330"/>
                </a:solidFill>
                <a:latin typeface="Segoe UI"/>
              </a:rPr>
              <a:t> on </a:t>
            </a:r>
            <a:r>
              <a:rPr sz="2000" b="0">
                <a:solidFill>
                  <a:srgbClr val="6A3FC0"/>
                </a:solidFill>
                <a:latin typeface="Consolas"/>
              </a:rPr>
              <a:t>Book.objects</a:t>
            </a:r>
            <a:r>
              <a:rPr sz="2000" b="0">
                <a:solidFill>
                  <a:srgbClr val="1C2330"/>
                </a:solidFill>
                <a:latin typeface="Segoe UI"/>
              </a:rPr>
              <a:t> that gives a sorted </a:t>
            </a:r>
            <a:r>
              <a:rPr sz="2000" b="1">
                <a:solidFill>
                  <a:srgbClr val="1C2330"/>
                </a:solidFill>
                <a:latin typeface="Segoe UI"/>
              </a:rPr>
              <a:t>queryset</a:t>
            </a:r>
            <a:r>
              <a:rPr sz="2000" b="0">
                <a:solidFill>
                  <a:srgbClr val="1C2330"/>
                </a:solidFill>
                <a:latin typeface="Segoe UI"/>
              </a:rPr>
              <a:t>; a </a:t>
            </a:r>
            <a:r>
              <a:rPr sz="2000" b="0">
                <a:solidFill>
                  <a:srgbClr val="6A3FC0"/>
                </a:solidFill>
                <a:latin typeface="Consolas"/>
              </a:rPr>
              <a:t>-</a:t>
            </a:r>
            <a:r>
              <a:rPr sz="2000" b="0">
                <a:solidFill>
                  <a:srgbClr val="1C2330"/>
                </a:solidFill>
                <a:latin typeface="Segoe UI"/>
              </a:rPr>
              <a:t> sorts backwards.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10911535" cy="2569464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32888"/>
            <a:ext cx="10362895" cy="2203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800">
                <a:solidFill>
                  <a:srgbClr val="9CDCFE"/>
                </a:solidFill>
                <a:latin typeface="Consolas"/>
              </a:rPr>
              <a:t>matilda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Book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objects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create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    </a:t>
            </a:r>
            <a:r>
              <a:rPr sz="1800">
                <a:solidFill>
                  <a:srgbClr val="9CDCFE"/>
                </a:solidFill>
                <a:latin typeface="Consolas"/>
              </a:rPr>
              <a:t>title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Matilda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author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Roald Dahl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published_year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B5CEA8"/>
                </a:solidFill>
                <a:latin typeface="Consolas"/>
              </a:rPr>
              <a:t>1988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9CDCFE"/>
                </a:solidFill>
                <a:latin typeface="Consolas"/>
              </a:rPr>
              <a:t>Book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objects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create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title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Coraline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author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Neil Gaiman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4EC9B0"/>
                </a:solidFill>
                <a:latin typeface="Consolas"/>
              </a:rPr>
              <a:t>print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matilda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id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matilda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title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matilda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published_year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4EC9B0"/>
                </a:solidFill>
                <a:latin typeface="Consolas"/>
              </a:rPr>
              <a:t>print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Book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objects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order_by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-id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640080" y="5084064"/>
            <a:ext cx="10911535" cy="1088136"/>
          </a:xfrm>
          <a:prstGeom prst="roundRect">
            <a:avLst>
              <a:gd name="adj" fmla="val 6000"/>
            </a:avLst>
          </a:prstGeom>
          <a:solidFill>
            <a:srgbClr val="2A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285232"/>
            <a:ext cx="10362895" cy="722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9AA4B5"/>
                </a:solidFill>
                <a:latin typeface="Segoe UI"/>
              </a:rPr>
              <a:t>OUTPUT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1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Matilda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1988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&lt;</a:t>
            </a:r>
            <a:r>
              <a:rPr sz="1800">
                <a:solidFill>
                  <a:srgbClr val="D4D4D4"/>
                </a:solidFill>
                <a:latin typeface="Consolas"/>
              </a:rPr>
              <a:t>QuerySet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[</a:t>
            </a:r>
            <a:r>
              <a:rPr sz="1800">
                <a:solidFill>
                  <a:srgbClr val="D4D4D4"/>
                </a:solidFill>
                <a:latin typeface="Consolas"/>
              </a:rPr>
              <a:t>&lt;</a:t>
            </a:r>
            <a:r>
              <a:rPr sz="1800">
                <a:solidFill>
                  <a:srgbClr val="D4D4D4"/>
                </a:solidFill>
                <a:latin typeface="Consolas"/>
              </a:rPr>
              <a:t>Book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Coraline</a:t>
            </a:r>
            <a:r>
              <a:rPr sz="1800">
                <a:solidFill>
                  <a:srgbClr val="D4D4D4"/>
                </a:solidFill>
                <a:latin typeface="Consolas"/>
              </a:rPr>
              <a:t>&gt;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&lt;</a:t>
            </a:r>
            <a:r>
              <a:rPr sz="1800">
                <a:solidFill>
                  <a:srgbClr val="D4D4D4"/>
                </a:solidFill>
                <a:latin typeface="Consolas"/>
              </a:rPr>
              <a:t>Book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Matilda</a:t>
            </a:r>
            <a:r>
              <a:rPr sz="1800">
                <a:solidFill>
                  <a:srgbClr val="D4D4D4"/>
                </a:solidFill>
                <a:latin typeface="Consolas"/>
              </a:rPr>
              <a:t>&gt;</a:t>
            </a:r>
            <a:r>
              <a:rPr sz="1800">
                <a:solidFill>
                  <a:srgbClr val="D4D4D4"/>
                </a:solidFill>
                <a:latin typeface="Consolas"/>
              </a:rPr>
              <a:t>]</a:t>
            </a:r>
            <a:r>
              <a:rPr sz="1800">
                <a:solidFill>
                  <a:srgbClr val="D4D4D4"/>
                </a:solidFill>
                <a:latin typeface="Consolas"/>
              </a:rPr>
              <a:t>&gt;</a:t>
            </a:r>
          </a:p>
          <a:p>
            <a:pPr>
              <a:lnSpc>
                <a:spcPct val="11000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07  ·  A full CRUD API in 15 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Tool: ModelSerializer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It reads field types from the model; </a:t>
            </a:r>
            <a:r>
              <a:rPr sz="2000" b="0">
                <a:solidFill>
                  <a:srgbClr val="6A3FC0"/>
                </a:solidFill>
                <a:latin typeface="Consolas"/>
              </a:rPr>
              <a:t>class Meta</a:t>
            </a:r>
            <a:r>
              <a:rPr sz="2000" b="0">
                <a:solidFill>
                  <a:srgbClr val="1C2330"/>
                </a:solidFill>
                <a:latin typeface="Segoe UI"/>
              </a:rPr>
              <a:t> says which model and fields.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10911535" cy="2862072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32888"/>
            <a:ext cx="10362895" cy="2496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800">
                <a:solidFill>
                  <a:srgbClr val="C586C0"/>
                </a:solidFill>
                <a:latin typeface="Consolas"/>
              </a:rPr>
              <a:t>class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4EC9B0"/>
                </a:solidFill>
                <a:latin typeface="Consolas"/>
              </a:rPr>
              <a:t>ShortBookSerializer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serializers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ModelSerializer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    </a:t>
            </a:r>
            <a:r>
              <a:rPr sz="1800">
                <a:solidFill>
                  <a:srgbClr val="C586C0"/>
                </a:solidFill>
                <a:latin typeface="Consolas"/>
              </a:rPr>
              <a:t>class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4EC9B0"/>
                </a:solidFill>
                <a:latin typeface="Consolas"/>
              </a:rPr>
              <a:t>Meta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        </a:t>
            </a:r>
            <a:r>
              <a:rPr sz="1800">
                <a:solidFill>
                  <a:srgbClr val="9CDCFE"/>
                </a:solidFill>
                <a:latin typeface="Consolas"/>
              </a:rPr>
              <a:t>model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Book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        </a:t>
            </a:r>
            <a:r>
              <a:rPr sz="1800">
                <a:solidFill>
                  <a:srgbClr val="9CDCFE"/>
                </a:solidFill>
                <a:latin typeface="Consolas"/>
              </a:rPr>
              <a:t>fields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[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title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author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]</a:t>
            </a: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9CDCFE"/>
                </a:solidFill>
                <a:latin typeface="Consolas"/>
              </a:rPr>
              <a:t>matilda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Book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objects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create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title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Matilda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author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Roald Dahl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4EC9B0"/>
                </a:solidFill>
                <a:latin typeface="Consolas"/>
              </a:rPr>
              <a:t>print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ShortBookSerializer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matilda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data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640080" y="5376672"/>
            <a:ext cx="10911535" cy="795528"/>
          </a:xfrm>
          <a:prstGeom prst="roundRect">
            <a:avLst>
              <a:gd name="adj" fmla="val 6000"/>
            </a:avLst>
          </a:prstGeom>
          <a:solidFill>
            <a:srgbClr val="2A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62895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9AA4B5"/>
                </a:solidFill>
                <a:latin typeface="Segoe UI"/>
              </a:rPr>
              <a:t>OUTPUT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{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title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Matilda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author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Roald Dahl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1000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07  ·  A full CRUD API in 15 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Tool: ModelViewSet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No methods, just two class attributes: which rows, and which serializer.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10911535" cy="384048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32888"/>
            <a:ext cx="10362895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800">
                <a:solidFill>
                  <a:srgbClr val="C586C0"/>
                </a:solidFill>
                <a:latin typeface="Consolas"/>
              </a:rPr>
              <a:t>class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4EC9B0"/>
                </a:solidFill>
                <a:latin typeface="Consolas"/>
              </a:rPr>
              <a:t>NewestFirstViewSet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viewsets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ModelViewSet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    </a:t>
            </a:r>
            <a:r>
              <a:rPr sz="1800">
                <a:solidFill>
                  <a:srgbClr val="9CDCFE"/>
                </a:solidFill>
                <a:latin typeface="Consolas"/>
              </a:rPr>
              <a:t>queryset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Book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objects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order_by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-id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      </a:t>
            </a:r>
            <a:r>
              <a:rPr sz="1800">
                <a:solidFill>
                  <a:srgbClr val="6A9955"/>
                </a:solidFill>
                <a:latin typeface="Consolas"/>
              </a:rPr>
              <a:t># which rows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    </a:t>
            </a:r>
            <a:r>
              <a:rPr sz="1800">
                <a:solidFill>
                  <a:srgbClr val="9CDCFE"/>
                </a:solidFill>
                <a:latin typeface="Consolas"/>
              </a:rPr>
              <a:t>serializer_class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ShortBookSerializer</a:t>
            </a:r>
            <a:r>
              <a:rPr sz="1800">
                <a:solidFill>
                  <a:srgbClr val="D4D4D4"/>
                </a:solidFill>
                <a:latin typeface="Consolas"/>
              </a:rPr>
              <a:t>       </a:t>
            </a:r>
            <a:r>
              <a:rPr sz="1800">
                <a:solidFill>
                  <a:srgbClr val="6A9955"/>
                </a:solidFill>
                <a:latin typeface="Consolas"/>
              </a:rPr>
              <a:t># the class itself, no ()</a:t>
            </a:r>
          </a:p>
          <a:p>
            <a:pPr>
              <a:lnSpc>
                <a:spcPct val="11000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07  ·  A full CRUD API in 15 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Tool: DefaultRouter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10911535" cy="2267712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64208"/>
            <a:ext cx="10362895" cy="1901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800">
                <a:solidFill>
                  <a:srgbClr val="9CDCFE"/>
                </a:solidFill>
                <a:latin typeface="Consolas"/>
              </a:rPr>
              <a:t>demo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DefaultRouter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9CDCFE"/>
                </a:solidFill>
                <a:latin typeface="Consolas"/>
              </a:rPr>
              <a:t>demo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register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newest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NewestFirstViewSet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basename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newest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C586C0"/>
                </a:solidFill>
                <a:latin typeface="Consolas"/>
              </a:rPr>
              <a:t>for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url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586C0"/>
                </a:solidFill>
                <a:latin typeface="Consolas"/>
              </a:rPr>
              <a:t>in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demo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urls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    </a:t>
            </a:r>
            <a:r>
              <a:rPr sz="1800">
                <a:solidFill>
                  <a:srgbClr val="4EC9B0"/>
                </a:solidFill>
                <a:latin typeface="Consolas"/>
              </a:rPr>
              <a:t>print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url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pattern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-&gt;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url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name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640080" y="3913632"/>
            <a:ext cx="10911535" cy="2258568"/>
          </a:xfrm>
          <a:prstGeom prst="roundRect">
            <a:avLst>
              <a:gd name="adj" fmla="val 6000"/>
            </a:avLst>
          </a:prstGeom>
          <a:solidFill>
            <a:srgbClr val="2A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10362895" cy="1892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9AA4B5"/>
                </a:solidFill>
                <a:latin typeface="Segoe UI"/>
              </a:rPr>
              <a:t>OUTPUT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^</a:t>
            </a:r>
            <a:r>
              <a:rPr sz="1800">
                <a:solidFill>
                  <a:srgbClr val="D4D4D4"/>
                </a:solidFill>
                <a:latin typeface="Consolas"/>
              </a:rPr>
              <a:t>newest</a:t>
            </a:r>
            <a:r>
              <a:rPr sz="1800">
                <a:solidFill>
                  <a:srgbClr val="D4D4D4"/>
                </a:solidFill>
                <a:latin typeface="Consolas"/>
              </a:rPr>
              <a:t>/</a:t>
            </a:r>
            <a:r>
              <a:rPr sz="1800">
                <a:solidFill>
                  <a:srgbClr val="D4D4D4"/>
                </a:solidFill>
                <a:latin typeface="Consolas"/>
              </a:rPr>
              <a:t>$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-</a:t>
            </a:r>
            <a:r>
              <a:rPr sz="1800">
                <a:solidFill>
                  <a:srgbClr val="D4D4D4"/>
                </a:solidFill>
                <a:latin typeface="Consolas"/>
              </a:rPr>
              <a:t>&gt;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newest</a:t>
            </a:r>
            <a:r>
              <a:rPr sz="1800">
                <a:solidFill>
                  <a:srgbClr val="D4D4D4"/>
                </a:solidFill>
                <a:latin typeface="Consolas"/>
              </a:rPr>
              <a:t>-</a:t>
            </a:r>
            <a:r>
              <a:rPr sz="1800">
                <a:solidFill>
                  <a:srgbClr val="D4D4D4"/>
                </a:solidFill>
                <a:latin typeface="Consolas"/>
              </a:rPr>
              <a:t>list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^</a:t>
            </a:r>
            <a:r>
              <a:rPr sz="1800">
                <a:solidFill>
                  <a:srgbClr val="D4D4D4"/>
                </a:solidFill>
                <a:latin typeface="Consolas"/>
              </a:rPr>
              <a:t>newest</a:t>
            </a:r>
            <a:r>
              <a:rPr sz="1800">
                <a:solidFill>
                  <a:srgbClr val="D4D4D4"/>
                </a:solidFill>
                <a:latin typeface="Consolas"/>
              </a:rPr>
              <a:t>\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D4D4D4"/>
                </a:solidFill>
                <a:latin typeface="Consolas"/>
              </a:rPr>
              <a:t>?</a:t>
            </a:r>
            <a:r>
              <a:rPr sz="1800">
                <a:solidFill>
                  <a:srgbClr val="D4D4D4"/>
                </a:solidFill>
                <a:latin typeface="Consolas"/>
              </a:rPr>
              <a:t>P</a:t>
            </a:r>
            <a:r>
              <a:rPr sz="1800">
                <a:solidFill>
                  <a:srgbClr val="D4D4D4"/>
                </a:solidFill>
                <a:latin typeface="Consolas"/>
              </a:rPr>
              <a:t>&lt;</a:t>
            </a:r>
            <a:r>
              <a:rPr sz="1800">
                <a:solidFill>
                  <a:srgbClr val="D4D4D4"/>
                </a:solidFill>
                <a:latin typeface="Consolas"/>
              </a:rPr>
              <a:t>format</a:t>
            </a:r>
            <a:r>
              <a:rPr sz="1800">
                <a:solidFill>
                  <a:srgbClr val="D4D4D4"/>
                </a:solidFill>
                <a:latin typeface="Consolas"/>
              </a:rPr>
              <a:t>&gt;</a:t>
            </a:r>
            <a:r>
              <a:rPr sz="1800">
                <a:solidFill>
                  <a:srgbClr val="D4D4D4"/>
                </a:solidFill>
                <a:latin typeface="Consolas"/>
              </a:rPr>
              <a:t>[</a:t>
            </a:r>
            <a:r>
              <a:rPr sz="1800">
                <a:solidFill>
                  <a:srgbClr val="D4D4D4"/>
                </a:solidFill>
                <a:latin typeface="Consolas"/>
              </a:rPr>
              <a:t>a</a:t>
            </a:r>
            <a:r>
              <a:rPr sz="1800">
                <a:solidFill>
                  <a:srgbClr val="D4D4D4"/>
                </a:solidFill>
                <a:latin typeface="Consolas"/>
              </a:rPr>
              <a:t>-</a:t>
            </a:r>
            <a:r>
              <a:rPr sz="1800">
                <a:solidFill>
                  <a:srgbClr val="D4D4D4"/>
                </a:solidFill>
                <a:latin typeface="Consolas"/>
              </a:rPr>
              <a:t>z0</a:t>
            </a:r>
            <a:r>
              <a:rPr sz="1800">
                <a:solidFill>
                  <a:srgbClr val="D4D4D4"/>
                </a:solidFill>
                <a:latin typeface="Consolas"/>
              </a:rPr>
              <a:t>-</a:t>
            </a:r>
            <a:r>
              <a:rPr sz="1800">
                <a:solidFill>
                  <a:srgbClr val="D4D4D4"/>
                </a:solidFill>
                <a:latin typeface="Consolas"/>
              </a:rPr>
              <a:t>9</a:t>
            </a:r>
            <a:r>
              <a:rPr sz="1800">
                <a:solidFill>
                  <a:srgbClr val="D4D4D4"/>
                </a:solidFill>
                <a:latin typeface="Consolas"/>
              </a:rPr>
              <a:t>]</a:t>
            </a:r>
            <a:r>
              <a:rPr sz="1800">
                <a:solidFill>
                  <a:srgbClr val="D4D4D4"/>
                </a:solidFill>
                <a:latin typeface="Consolas"/>
              </a:rPr>
              <a:t>+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/</a:t>
            </a:r>
            <a:r>
              <a:rPr sz="1800">
                <a:solidFill>
                  <a:srgbClr val="D4D4D4"/>
                </a:solidFill>
                <a:latin typeface="Consolas"/>
              </a:rPr>
              <a:t>?</a:t>
            </a:r>
            <a:r>
              <a:rPr sz="1800">
                <a:solidFill>
                  <a:srgbClr val="D4D4D4"/>
                </a:solidFill>
                <a:latin typeface="Consolas"/>
              </a:rPr>
              <a:t>$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-</a:t>
            </a:r>
            <a:r>
              <a:rPr sz="1800">
                <a:solidFill>
                  <a:srgbClr val="D4D4D4"/>
                </a:solidFill>
                <a:latin typeface="Consolas"/>
              </a:rPr>
              <a:t>&gt;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newest</a:t>
            </a:r>
            <a:r>
              <a:rPr sz="1800">
                <a:solidFill>
                  <a:srgbClr val="D4D4D4"/>
                </a:solidFill>
                <a:latin typeface="Consolas"/>
              </a:rPr>
              <a:t>-</a:t>
            </a:r>
            <a:r>
              <a:rPr sz="1800">
                <a:solidFill>
                  <a:srgbClr val="D4D4D4"/>
                </a:solidFill>
                <a:latin typeface="Consolas"/>
              </a:rPr>
              <a:t>list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^</a:t>
            </a:r>
            <a:r>
              <a:rPr sz="1800">
                <a:solidFill>
                  <a:srgbClr val="D4D4D4"/>
                </a:solidFill>
                <a:latin typeface="Consolas"/>
              </a:rPr>
              <a:t>newest</a:t>
            </a:r>
            <a:r>
              <a:rPr sz="1800">
                <a:solidFill>
                  <a:srgbClr val="D4D4D4"/>
                </a:solidFill>
                <a:latin typeface="Consolas"/>
              </a:rPr>
              <a:t>/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D4D4D4"/>
                </a:solidFill>
                <a:latin typeface="Consolas"/>
              </a:rPr>
              <a:t>?</a:t>
            </a:r>
            <a:r>
              <a:rPr sz="1800">
                <a:solidFill>
                  <a:srgbClr val="D4D4D4"/>
                </a:solidFill>
                <a:latin typeface="Consolas"/>
              </a:rPr>
              <a:t>P</a:t>
            </a:r>
            <a:r>
              <a:rPr sz="1800">
                <a:solidFill>
                  <a:srgbClr val="D4D4D4"/>
                </a:solidFill>
                <a:latin typeface="Consolas"/>
              </a:rPr>
              <a:t>&lt;</a:t>
            </a:r>
            <a:r>
              <a:rPr sz="1800">
                <a:solidFill>
                  <a:srgbClr val="D4D4D4"/>
                </a:solidFill>
                <a:latin typeface="Consolas"/>
              </a:rPr>
              <a:t>pk</a:t>
            </a:r>
            <a:r>
              <a:rPr sz="1800">
                <a:solidFill>
                  <a:srgbClr val="D4D4D4"/>
                </a:solidFill>
                <a:latin typeface="Consolas"/>
              </a:rPr>
              <a:t>&gt;</a:t>
            </a:r>
            <a:r>
              <a:rPr sz="1800">
                <a:solidFill>
                  <a:srgbClr val="D4D4D4"/>
                </a:solidFill>
                <a:latin typeface="Consolas"/>
              </a:rPr>
              <a:t>[</a:t>
            </a:r>
            <a:r>
              <a:rPr sz="1800">
                <a:solidFill>
                  <a:srgbClr val="D4D4D4"/>
                </a:solidFill>
                <a:latin typeface="Consolas"/>
              </a:rPr>
              <a:t>^</a:t>
            </a:r>
            <a:r>
              <a:rPr sz="1800">
                <a:solidFill>
                  <a:srgbClr val="D4D4D4"/>
                </a:solidFill>
                <a:latin typeface="Consolas"/>
              </a:rPr>
              <a:t>/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D4D4D4"/>
                </a:solidFill>
                <a:latin typeface="Consolas"/>
              </a:rPr>
              <a:t>]</a:t>
            </a:r>
            <a:r>
              <a:rPr sz="1800">
                <a:solidFill>
                  <a:srgbClr val="D4D4D4"/>
                </a:solidFill>
                <a:latin typeface="Consolas"/>
              </a:rPr>
              <a:t>+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/</a:t>
            </a:r>
            <a:r>
              <a:rPr sz="1800">
                <a:solidFill>
                  <a:srgbClr val="D4D4D4"/>
                </a:solidFill>
                <a:latin typeface="Consolas"/>
              </a:rPr>
              <a:t>$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-</a:t>
            </a:r>
            <a:r>
              <a:rPr sz="1800">
                <a:solidFill>
                  <a:srgbClr val="D4D4D4"/>
                </a:solidFill>
                <a:latin typeface="Consolas"/>
              </a:rPr>
              <a:t>&gt;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newest</a:t>
            </a:r>
            <a:r>
              <a:rPr sz="1800">
                <a:solidFill>
                  <a:srgbClr val="D4D4D4"/>
                </a:solidFill>
                <a:latin typeface="Consolas"/>
              </a:rPr>
              <a:t>-</a:t>
            </a:r>
            <a:r>
              <a:rPr sz="1800">
                <a:solidFill>
                  <a:srgbClr val="D4D4D4"/>
                </a:solidFill>
                <a:latin typeface="Consolas"/>
              </a:rPr>
              <a:t>detail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^</a:t>
            </a:r>
            <a:r>
              <a:rPr sz="1800">
                <a:solidFill>
                  <a:srgbClr val="D4D4D4"/>
                </a:solidFill>
                <a:latin typeface="Consolas"/>
              </a:rPr>
              <a:t>newest</a:t>
            </a:r>
            <a:r>
              <a:rPr sz="1800">
                <a:solidFill>
                  <a:srgbClr val="D4D4D4"/>
                </a:solidFill>
                <a:latin typeface="Consolas"/>
              </a:rPr>
              <a:t>/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D4D4D4"/>
                </a:solidFill>
                <a:latin typeface="Consolas"/>
              </a:rPr>
              <a:t>?</a:t>
            </a:r>
            <a:r>
              <a:rPr sz="1800">
                <a:solidFill>
                  <a:srgbClr val="D4D4D4"/>
                </a:solidFill>
                <a:latin typeface="Consolas"/>
              </a:rPr>
              <a:t>P</a:t>
            </a:r>
            <a:r>
              <a:rPr sz="1800">
                <a:solidFill>
                  <a:srgbClr val="D4D4D4"/>
                </a:solidFill>
                <a:latin typeface="Consolas"/>
              </a:rPr>
              <a:t>&lt;</a:t>
            </a:r>
            <a:r>
              <a:rPr sz="1800">
                <a:solidFill>
                  <a:srgbClr val="D4D4D4"/>
                </a:solidFill>
                <a:latin typeface="Consolas"/>
              </a:rPr>
              <a:t>pk</a:t>
            </a:r>
            <a:r>
              <a:rPr sz="1800">
                <a:solidFill>
                  <a:srgbClr val="D4D4D4"/>
                </a:solidFill>
                <a:latin typeface="Consolas"/>
              </a:rPr>
              <a:t>&gt;</a:t>
            </a:r>
            <a:r>
              <a:rPr sz="1800">
                <a:solidFill>
                  <a:srgbClr val="D4D4D4"/>
                </a:solidFill>
                <a:latin typeface="Consolas"/>
              </a:rPr>
              <a:t>[</a:t>
            </a:r>
            <a:r>
              <a:rPr sz="1800">
                <a:solidFill>
                  <a:srgbClr val="D4D4D4"/>
                </a:solidFill>
                <a:latin typeface="Consolas"/>
              </a:rPr>
              <a:t>^</a:t>
            </a:r>
            <a:r>
              <a:rPr sz="1800">
                <a:solidFill>
                  <a:srgbClr val="D4D4D4"/>
                </a:solidFill>
                <a:latin typeface="Consolas"/>
              </a:rPr>
              <a:t>/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D4D4D4"/>
                </a:solidFill>
                <a:latin typeface="Consolas"/>
              </a:rPr>
              <a:t>]</a:t>
            </a:r>
            <a:r>
              <a:rPr sz="1800">
                <a:solidFill>
                  <a:srgbClr val="D4D4D4"/>
                </a:solidFill>
                <a:latin typeface="Consolas"/>
              </a:rPr>
              <a:t>+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\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D4D4D4"/>
                </a:solidFill>
                <a:latin typeface="Consolas"/>
              </a:rPr>
              <a:t>?</a:t>
            </a:r>
            <a:r>
              <a:rPr sz="1800">
                <a:solidFill>
                  <a:srgbClr val="D4D4D4"/>
                </a:solidFill>
                <a:latin typeface="Consolas"/>
              </a:rPr>
              <a:t>P</a:t>
            </a:r>
            <a:r>
              <a:rPr sz="1800">
                <a:solidFill>
                  <a:srgbClr val="D4D4D4"/>
                </a:solidFill>
                <a:latin typeface="Consolas"/>
              </a:rPr>
              <a:t>&lt;</a:t>
            </a:r>
            <a:r>
              <a:rPr sz="1800">
                <a:solidFill>
                  <a:srgbClr val="D4D4D4"/>
                </a:solidFill>
                <a:latin typeface="Consolas"/>
              </a:rPr>
              <a:t>format</a:t>
            </a:r>
            <a:r>
              <a:rPr sz="1800">
                <a:solidFill>
                  <a:srgbClr val="D4D4D4"/>
                </a:solidFill>
                <a:latin typeface="Consolas"/>
              </a:rPr>
              <a:t>&gt;</a:t>
            </a:r>
            <a:r>
              <a:rPr sz="1800">
                <a:solidFill>
                  <a:srgbClr val="D4D4D4"/>
                </a:solidFill>
                <a:latin typeface="Consolas"/>
              </a:rPr>
              <a:t>[</a:t>
            </a:r>
            <a:r>
              <a:rPr sz="1800">
                <a:solidFill>
                  <a:srgbClr val="D4D4D4"/>
                </a:solidFill>
                <a:latin typeface="Consolas"/>
              </a:rPr>
              <a:t>a</a:t>
            </a:r>
            <a:r>
              <a:rPr sz="1800">
                <a:solidFill>
                  <a:srgbClr val="D4D4D4"/>
                </a:solidFill>
                <a:latin typeface="Consolas"/>
              </a:rPr>
              <a:t>-</a:t>
            </a:r>
            <a:r>
              <a:rPr sz="1800">
                <a:solidFill>
                  <a:srgbClr val="D4D4D4"/>
                </a:solidFill>
                <a:latin typeface="Consolas"/>
              </a:rPr>
              <a:t>z0</a:t>
            </a:r>
            <a:r>
              <a:rPr sz="1800">
                <a:solidFill>
                  <a:srgbClr val="D4D4D4"/>
                </a:solidFill>
                <a:latin typeface="Consolas"/>
              </a:rPr>
              <a:t>-</a:t>
            </a:r>
            <a:r>
              <a:rPr sz="1800">
                <a:solidFill>
                  <a:srgbClr val="D4D4D4"/>
                </a:solidFill>
                <a:latin typeface="Consolas"/>
              </a:rPr>
              <a:t>9</a:t>
            </a:r>
            <a:r>
              <a:rPr sz="1800">
                <a:solidFill>
                  <a:srgbClr val="D4D4D4"/>
                </a:solidFill>
                <a:latin typeface="Consolas"/>
              </a:rPr>
              <a:t>]</a:t>
            </a:r>
            <a:r>
              <a:rPr sz="1800">
                <a:solidFill>
                  <a:srgbClr val="D4D4D4"/>
                </a:solidFill>
                <a:latin typeface="Consolas"/>
              </a:rPr>
              <a:t>+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/</a:t>
            </a:r>
            <a:r>
              <a:rPr sz="1800">
                <a:solidFill>
                  <a:srgbClr val="D4D4D4"/>
                </a:solidFill>
                <a:latin typeface="Consolas"/>
              </a:rPr>
              <a:t>?</a:t>
            </a:r>
            <a:r>
              <a:rPr sz="1800">
                <a:solidFill>
                  <a:srgbClr val="D4D4D4"/>
                </a:solidFill>
                <a:latin typeface="Consolas"/>
              </a:rPr>
              <a:t>$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-</a:t>
            </a:r>
            <a:r>
              <a:rPr sz="1800">
                <a:solidFill>
                  <a:srgbClr val="D4D4D4"/>
                </a:solidFill>
                <a:latin typeface="Consolas"/>
              </a:rPr>
              <a:t>&gt;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newest</a:t>
            </a:r>
            <a:r>
              <a:rPr sz="1800">
                <a:solidFill>
                  <a:srgbClr val="D4D4D4"/>
                </a:solidFill>
                <a:latin typeface="Consolas"/>
              </a:rPr>
              <a:t>-</a:t>
            </a:r>
            <a:r>
              <a:rPr sz="1800">
                <a:solidFill>
                  <a:srgbClr val="D4D4D4"/>
                </a:solidFill>
                <a:latin typeface="Consolas"/>
              </a:rPr>
              <a:t>detail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-</a:t>
            </a:r>
            <a:r>
              <a:rPr sz="1800">
                <a:solidFill>
                  <a:srgbClr val="D4D4D4"/>
                </a:solidFill>
                <a:latin typeface="Consolas"/>
              </a:rPr>
              <a:t>&gt;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api</a:t>
            </a:r>
            <a:r>
              <a:rPr sz="1800">
                <a:solidFill>
                  <a:srgbClr val="D4D4D4"/>
                </a:solidFill>
                <a:latin typeface="Consolas"/>
              </a:rPr>
              <a:t>-</a:t>
            </a:r>
            <a:r>
              <a:rPr sz="1800">
                <a:solidFill>
                  <a:srgbClr val="D4D4D4"/>
                </a:solidFill>
                <a:latin typeface="Consolas"/>
              </a:rPr>
              <a:t>root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&lt;</a:t>
            </a:r>
            <a:r>
              <a:rPr sz="1800">
                <a:solidFill>
                  <a:srgbClr val="D4D4D4"/>
                </a:solidFill>
                <a:latin typeface="Consolas"/>
              </a:rPr>
              <a:t>drf_format_suffix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  <a:r>
              <a:rPr sz="1800">
                <a:solidFill>
                  <a:srgbClr val="D4D4D4"/>
                </a:solidFill>
                <a:latin typeface="Consolas"/>
              </a:rPr>
              <a:t>format</a:t>
            </a:r>
            <a:r>
              <a:rPr sz="1800">
                <a:solidFill>
                  <a:srgbClr val="D4D4D4"/>
                </a:solidFill>
                <a:latin typeface="Consolas"/>
              </a:rPr>
              <a:t>&gt;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-</a:t>
            </a:r>
            <a:r>
              <a:rPr sz="1800">
                <a:solidFill>
                  <a:srgbClr val="D4D4D4"/>
                </a:solidFill>
                <a:latin typeface="Consolas"/>
              </a:rPr>
              <a:t>&gt;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api</a:t>
            </a:r>
            <a:r>
              <a:rPr sz="1800">
                <a:solidFill>
                  <a:srgbClr val="D4D4D4"/>
                </a:solidFill>
                <a:latin typeface="Consolas"/>
              </a:rPr>
              <a:t>-</a:t>
            </a:r>
            <a:r>
              <a:rPr sz="1800">
                <a:solidFill>
                  <a:srgbClr val="D4D4D4"/>
                </a:solidFill>
                <a:latin typeface="Consolas"/>
              </a:rPr>
              <a:t>root</a:t>
            </a:r>
          </a:p>
          <a:p>
            <a:pPr>
              <a:lnSpc>
                <a:spcPct val="110000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07  ·  A full CRUD API in 15 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Collection URL vs detail URL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5272887" cy="4389120"/>
          </a:xfrm>
          <a:prstGeom prst="roundRect">
            <a:avLst>
              <a:gd name="adj" fmla="val 6000"/>
            </a:avLst>
          </a:prstGeom>
          <a:solidFill>
            <a:srgbClr val="F3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4632807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400" b="1">
                <a:solidFill>
                  <a:srgbClr val="8A4FE0"/>
                </a:solidFill>
                <a:latin typeface="Segoe UI"/>
              </a:rPr>
              <a:t>/books/  (the whole list)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</a:t>
            </a:r>
            <a:r>
              <a:rPr sz="1900" b="0">
                <a:solidFill>
                  <a:srgbClr val="6A3FC0"/>
                </a:solidFill>
                <a:latin typeface="Consolas"/>
              </a:rPr>
              <a:t>GET</a:t>
            </a:r>
            <a:r>
              <a:rPr sz="1900" b="0">
                <a:solidFill>
                  <a:srgbClr val="1C2330"/>
                </a:solidFill>
                <a:latin typeface="Segoe UI"/>
              </a:rPr>
              <a:t> → </a:t>
            </a:r>
            <a:r>
              <a:rPr sz="1900" b="1">
                <a:solidFill>
                  <a:srgbClr val="1C2330"/>
                </a:solidFill>
                <a:latin typeface="Segoe UI"/>
              </a:rPr>
              <a:t>list</a:t>
            </a:r>
            <a:r>
              <a:rPr sz="1900" b="0">
                <a:solidFill>
                  <a:srgbClr val="1C2330"/>
                </a:solidFill>
                <a:latin typeface="Segoe UI"/>
              </a:rPr>
              <a:t> all books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</a:t>
            </a:r>
            <a:r>
              <a:rPr sz="1900" b="0">
                <a:solidFill>
                  <a:srgbClr val="6A3FC0"/>
                </a:solidFill>
                <a:latin typeface="Consolas"/>
              </a:rPr>
              <a:t>POST</a:t>
            </a:r>
            <a:r>
              <a:rPr sz="1900" b="0">
                <a:solidFill>
                  <a:srgbClr val="1C2330"/>
                </a:solidFill>
                <a:latin typeface="Segoe UI"/>
              </a:rPr>
              <a:t> → </a:t>
            </a:r>
            <a:r>
              <a:rPr sz="1900" b="1">
                <a:solidFill>
                  <a:srgbClr val="1C2330"/>
                </a:solidFill>
                <a:latin typeface="Segoe UI"/>
              </a:rPr>
              <a:t>create</a:t>
            </a:r>
            <a:r>
              <a:rPr sz="1900" b="0">
                <a:solidFill>
                  <a:srgbClr val="1C2330"/>
                </a:solidFill>
                <a:latin typeface="Segoe UI"/>
              </a:rPr>
              <a:t> a new book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No id in the address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508760"/>
            <a:ext cx="5272887" cy="4389120"/>
          </a:xfrm>
          <a:prstGeom prst="roundRect">
            <a:avLst>
              <a:gd name="adj" fmla="val 6000"/>
            </a:avLst>
          </a:prstGeom>
          <a:solidFill>
            <a:srgbClr val="E5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8767" y="1737360"/>
            <a:ext cx="4632807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400" b="1">
                <a:solidFill>
                  <a:srgbClr val="2F6FDF"/>
                </a:solidFill>
                <a:latin typeface="Segoe UI"/>
              </a:rPr>
              <a:t>/books/{id}/  (one book)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</a:t>
            </a:r>
            <a:r>
              <a:rPr sz="1900" b="0">
                <a:solidFill>
                  <a:srgbClr val="6A3FC0"/>
                </a:solidFill>
                <a:latin typeface="Consolas"/>
              </a:rPr>
              <a:t>GET</a:t>
            </a:r>
            <a:r>
              <a:rPr sz="1900" b="0">
                <a:solidFill>
                  <a:srgbClr val="1C2330"/>
                </a:solidFill>
                <a:latin typeface="Segoe UI"/>
              </a:rPr>
              <a:t> → </a:t>
            </a:r>
            <a:r>
              <a:rPr sz="1900" b="1">
                <a:solidFill>
                  <a:srgbClr val="1C2330"/>
                </a:solidFill>
                <a:latin typeface="Segoe UI"/>
              </a:rPr>
              <a:t>retrieve</a:t>
            </a:r>
            <a:r>
              <a:rPr sz="1900" b="0">
                <a:solidFill>
                  <a:srgbClr val="1C2330"/>
                </a:solidFill>
                <a:latin typeface="Segoe UI"/>
              </a:rPr>
              <a:t> that book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</a:t>
            </a:r>
            <a:r>
              <a:rPr sz="1900" b="0">
                <a:solidFill>
                  <a:srgbClr val="6A3FC0"/>
                </a:solidFill>
                <a:latin typeface="Consolas"/>
              </a:rPr>
              <a:t>PUT</a:t>
            </a:r>
            <a:r>
              <a:rPr sz="1900" b="0">
                <a:solidFill>
                  <a:srgbClr val="1C2330"/>
                </a:solidFill>
                <a:latin typeface="Segoe UI"/>
              </a:rPr>
              <a:t> → </a:t>
            </a:r>
            <a:r>
              <a:rPr sz="1900" b="1">
                <a:solidFill>
                  <a:srgbClr val="1C2330"/>
                </a:solidFill>
                <a:latin typeface="Segoe UI"/>
              </a:rPr>
              <a:t>update</a:t>
            </a:r>
            <a:r>
              <a:rPr sz="1900" b="0">
                <a:solidFill>
                  <a:srgbClr val="1C2330"/>
                </a:solidFill>
                <a:latin typeface="Segoe UI"/>
              </a:rPr>
              <a:t>: send every field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</a:t>
            </a:r>
            <a:r>
              <a:rPr sz="1900" b="0">
                <a:solidFill>
                  <a:srgbClr val="6A3FC0"/>
                </a:solidFill>
                <a:latin typeface="Consolas"/>
              </a:rPr>
              <a:t>PATCH</a:t>
            </a:r>
            <a:r>
              <a:rPr sz="1900" b="0">
                <a:solidFill>
                  <a:srgbClr val="1C2330"/>
                </a:solidFill>
                <a:latin typeface="Segoe UI"/>
              </a:rPr>
              <a:t> → </a:t>
            </a:r>
            <a:r>
              <a:rPr sz="1900" b="1">
                <a:solidFill>
                  <a:srgbClr val="1C2330"/>
                </a:solidFill>
                <a:latin typeface="Segoe UI"/>
              </a:rPr>
              <a:t>partial update</a:t>
            </a:r>
            <a:r>
              <a:rPr sz="1900" b="0">
                <a:solidFill>
                  <a:srgbClr val="1C2330"/>
                </a:solidFill>
                <a:latin typeface="Segoe UI"/>
              </a:rPr>
              <a:t>: only fields sent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</a:t>
            </a:r>
            <a:r>
              <a:rPr sz="1900" b="0">
                <a:solidFill>
                  <a:srgbClr val="6A3FC0"/>
                </a:solidFill>
                <a:latin typeface="Consolas"/>
              </a:rPr>
              <a:t>DELETE</a:t>
            </a:r>
            <a:r>
              <a:rPr sz="1900" b="0">
                <a:solidFill>
                  <a:srgbClr val="1C2330"/>
                </a:solidFill>
                <a:latin typeface="Segoe UI"/>
              </a:rPr>
              <a:t> → </a:t>
            </a:r>
            <a:r>
              <a:rPr sz="1900" b="1">
                <a:solidFill>
                  <a:srgbClr val="1C2330"/>
                </a:solidFill>
                <a:latin typeface="Segoe UI"/>
              </a:rPr>
              <a:t>destroy</a:t>
            </a:r>
            <a:r>
              <a:rPr sz="1900" b="0">
                <a:solidFill>
                  <a:srgbClr val="1C2330"/>
                </a:solidFill>
                <a:latin typeface="Segoe UI"/>
              </a:rPr>
              <a:t>, reply </a:t>
            </a:r>
            <a:r>
              <a:rPr sz="1900" b="0">
                <a:solidFill>
                  <a:srgbClr val="6A3FC0"/>
                </a:solidFill>
                <a:latin typeface="Consolas"/>
              </a:rPr>
              <a:t>204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07  ·  A full CRUD API in 15 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Your task, step by step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714500"/>
            <a:ext cx="457200" cy="457200"/>
          </a:xfrm>
          <a:prstGeom prst="ellipse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08760"/>
            <a:ext cx="825977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6A3FC0"/>
                </a:solidFill>
                <a:latin typeface="Consolas"/>
              </a:rPr>
              <a:t>BookSerializer</a:t>
            </a:r>
            <a:r>
              <a:rPr sz="1900" b="0">
                <a:solidFill>
                  <a:srgbClr val="1C2330"/>
                </a:solidFill>
                <a:latin typeface="Segoe UI"/>
              </a:rPr>
              <a:t>: a </a:t>
            </a:r>
            <a:r>
              <a:rPr sz="1900" b="0">
                <a:solidFill>
                  <a:srgbClr val="6A3FC0"/>
                </a:solidFill>
                <a:latin typeface="Consolas"/>
              </a:rPr>
              <a:t>class Meta</a:t>
            </a:r>
            <a:r>
              <a:rPr sz="1900" b="0">
                <a:solidFill>
                  <a:srgbClr val="1C2330"/>
                </a:solidFill>
                <a:latin typeface="Segoe UI"/>
              </a:rPr>
              <a:t> with </a:t>
            </a:r>
            <a:r>
              <a:rPr sz="1900" b="0">
                <a:solidFill>
                  <a:srgbClr val="6A3FC0"/>
                </a:solidFill>
                <a:latin typeface="Consolas"/>
              </a:rPr>
              <a:t>model = Book</a:t>
            </a:r>
            <a:r>
              <a:rPr sz="1900" b="0">
                <a:solidFill>
                  <a:srgbClr val="1C2330"/>
                </a:solidFill>
                <a:latin typeface="Segoe UI"/>
              </a:rPr>
              <a:t> and four </a:t>
            </a:r>
            <a:r>
              <a:rPr sz="1900" b="0">
                <a:solidFill>
                  <a:srgbClr val="6A3FC0"/>
                </a:solidFill>
                <a:latin typeface="Consolas"/>
              </a:rPr>
              <a:t>fields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1508760"/>
            <a:ext cx="1828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2F6FDF"/>
                </a:solidFill>
                <a:latin typeface="Segoe UI"/>
              </a:rPr>
              <a:t>→ tests 2-4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583180"/>
            <a:ext cx="457200" cy="457200"/>
          </a:xfrm>
          <a:prstGeom prst="ellipse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377440"/>
            <a:ext cx="825977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6A3FC0"/>
                </a:solidFill>
                <a:latin typeface="Consolas"/>
              </a:rPr>
              <a:t>BookViewSet</a:t>
            </a:r>
            <a:r>
              <a:rPr sz="1900" b="0">
                <a:solidFill>
                  <a:srgbClr val="1C2330"/>
                </a:solidFill>
                <a:latin typeface="Segoe UI"/>
              </a:rPr>
              <a:t>: set </a:t>
            </a:r>
            <a:r>
              <a:rPr sz="1900" b="0">
                <a:solidFill>
                  <a:srgbClr val="6A3FC0"/>
                </a:solidFill>
                <a:latin typeface="Consolas"/>
              </a:rPr>
              <a:t>queryset</a:t>
            </a:r>
            <a:r>
              <a:rPr sz="1900" b="0">
                <a:solidFill>
                  <a:srgbClr val="1C2330"/>
                </a:solidFill>
                <a:latin typeface="Segoe UI"/>
              </a:rPr>
              <a:t> (ordered by </a:t>
            </a:r>
            <a:r>
              <a:rPr sz="1900" b="0">
                <a:solidFill>
                  <a:srgbClr val="6A3FC0"/>
                </a:solidFill>
                <a:latin typeface="Consolas"/>
              </a:rPr>
              <a:t>id</a:t>
            </a:r>
            <a:r>
              <a:rPr sz="1900" b="0">
                <a:solidFill>
                  <a:srgbClr val="1C2330"/>
                </a:solidFill>
                <a:latin typeface="Segoe UI"/>
              </a:rPr>
              <a:t>) and </a:t>
            </a:r>
            <a:r>
              <a:rPr sz="1900" b="0">
                <a:solidFill>
                  <a:srgbClr val="6A3FC0"/>
                </a:solidFill>
                <a:latin typeface="Consolas"/>
              </a:rPr>
              <a:t>serializer_class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22815" y="2377440"/>
            <a:ext cx="1828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2F6FDF"/>
                </a:solidFill>
                <a:latin typeface="Segoe UI"/>
              </a:rPr>
              <a:t>→ tests 1, 5-7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451860"/>
            <a:ext cx="457200" cy="457200"/>
          </a:xfrm>
          <a:prstGeom prst="ellipse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246120"/>
            <a:ext cx="825977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6A3FC0"/>
                </a:solidFill>
                <a:latin typeface="Consolas"/>
              </a:rPr>
              <a:t>router = DefaultRouter()</a:t>
            </a:r>
            <a:r>
              <a:rPr sz="1900" b="0">
                <a:solidFill>
                  <a:srgbClr val="1C2330"/>
                </a:solidFill>
                <a:latin typeface="Segoe UI"/>
              </a:rPr>
              <a:t>, then register at </a:t>
            </a:r>
            <a:r>
              <a:rPr sz="1900" b="0">
                <a:solidFill>
                  <a:srgbClr val="6A3FC0"/>
                </a:solidFill>
                <a:latin typeface="Consolas"/>
              </a:rPr>
              <a:t>"books"</a:t>
            </a:r>
            <a:r>
              <a:rPr sz="1900" b="0">
                <a:solidFill>
                  <a:srgbClr val="1C2330"/>
                </a:solidFill>
                <a:latin typeface="Segoe UI"/>
              </a:rPr>
              <a:t>, </a:t>
            </a:r>
            <a:r>
              <a:rPr sz="1900" b="0">
                <a:solidFill>
                  <a:srgbClr val="6A3FC0"/>
                </a:solidFill>
                <a:latin typeface="Consolas"/>
              </a:rPr>
              <a:t>basename="book"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320540"/>
            <a:ext cx="457200" cy="457200"/>
          </a:xfrm>
          <a:prstGeom prst="ellipse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114800"/>
            <a:ext cx="825977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Set </a:t>
            </a:r>
            <a:r>
              <a:rPr sz="1900" b="0">
                <a:solidFill>
                  <a:srgbClr val="6A3FC0"/>
                </a:solidFill>
                <a:latin typeface="Consolas"/>
              </a:rPr>
              <a:t>urlpatterns = router.urls</a:t>
            </a:r>
            <a:r>
              <a:rPr sz="1900" b="0">
                <a:solidFill>
                  <a:srgbClr val="1C2330"/>
                </a:solidFill>
                <a:latin typeface="Segoe UI"/>
              </a:rPr>
              <a:t>, after the register 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22815" y="4114800"/>
            <a:ext cx="1828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2F6FDF"/>
                </a:solidFill>
                <a:latin typeface="Segoe UI"/>
              </a:rPr>
              <a:t>→ tests 1-7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07  ·  A full CRUD API in 15 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Common mistakes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11535" cy="4526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•  </a:t>
            </a:r>
            <a:r>
              <a:rPr sz="2400" b="0">
                <a:solidFill>
                  <a:srgbClr val="6A3FC0"/>
                </a:solidFill>
                <a:latin typeface="Consolas"/>
              </a:rPr>
              <a:t>Content-Type ... text/html</a:t>
            </a:r>
            <a:r>
              <a:rPr sz="2400" b="0">
                <a:solidFill>
                  <a:srgbClr val="1C2330"/>
                </a:solidFill>
                <a:latin typeface="Segoe UI"/>
              </a:rPr>
              <a:t> or </a:t>
            </a:r>
            <a:r>
              <a:rPr sz="2400" b="0">
                <a:solidFill>
                  <a:srgbClr val="6A3FC0"/>
                </a:solidFill>
                <a:latin typeface="Consolas"/>
              </a:rPr>
              <a:t>200 != 201</a:t>
            </a:r>
            <a:r>
              <a:rPr sz="2400" b="0">
                <a:solidFill>
                  <a:srgbClr val="1C2330"/>
                </a:solidFill>
                <a:latin typeface="Segoe UI"/>
              </a:rPr>
              <a:t>: </a:t>
            </a:r>
            <a:r>
              <a:rPr sz="2400" b="0">
                <a:solidFill>
                  <a:srgbClr val="6A3FC0"/>
                </a:solidFill>
                <a:latin typeface="Consolas"/>
              </a:rPr>
              <a:t>urlpatterns</a:t>
            </a:r>
            <a:r>
              <a:rPr sz="2400" b="0">
                <a:solidFill>
                  <a:srgbClr val="1C2330"/>
                </a:solidFill>
                <a:latin typeface="Segoe UI"/>
              </a:rPr>
              <a:t> is still empty</a:t>
            </a:r>
          </a:p>
          <a:p>
            <a:pPr>
              <a:spcAft>
                <a:spcPts val="16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•  Every test gives </a:t>
            </a:r>
            <a:r>
              <a:rPr sz="2400" b="0">
                <a:solidFill>
                  <a:srgbClr val="6A3FC0"/>
                </a:solidFill>
                <a:latin typeface="Consolas"/>
              </a:rPr>
              <a:t>404</a:t>
            </a:r>
            <a:r>
              <a:rPr sz="2400" b="0">
                <a:solidFill>
                  <a:srgbClr val="1C2330"/>
                </a:solidFill>
                <a:latin typeface="Segoe UI"/>
              </a:rPr>
              <a:t>: the prefix isn't exactly </a:t>
            </a:r>
            <a:r>
              <a:rPr sz="2400" b="0">
                <a:solidFill>
                  <a:srgbClr val="6A3FC0"/>
                </a:solidFill>
                <a:latin typeface="Consolas"/>
              </a:rPr>
              <a:t>"books"</a:t>
            </a:r>
          </a:p>
          <a:p>
            <a:pPr>
              <a:spcAft>
                <a:spcPts val="16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•  Prefix </a:t>
            </a:r>
            <a:r>
              <a:rPr sz="2400" b="0">
                <a:solidFill>
                  <a:srgbClr val="6A3FC0"/>
                </a:solidFill>
                <a:latin typeface="Consolas"/>
              </a:rPr>
              <a:t>"/books/"</a:t>
            </a:r>
            <a:r>
              <a:rPr sz="2400" b="0">
                <a:solidFill>
                  <a:srgbClr val="1C2330"/>
                </a:solidFill>
                <a:latin typeface="Segoe UI"/>
              </a:rPr>
              <a:t>: write </a:t>
            </a:r>
            <a:r>
              <a:rPr sz="2400" b="0">
                <a:solidFill>
                  <a:srgbClr val="6A3FC0"/>
                </a:solidFill>
                <a:latin typeface="Consolas"/>
              </a:rPr>
              <a:t>"books"</a:t>
            </a:r>
            <a:r>
              <a:rPr sz="2400" b="0">
                <a:solidFill>
                  <a:srgbClr val="1C2330"/>
                </a:solidFill>
                <a:latin typeface="Segoe UI"/>
              </a:rPr>
              <a:t>, the router adds slashes</a:t>
            </a:r>
          </a:p>
          <a:p>
            <a:pPr>
              <a:spcAft>
                <a:spcPts val="16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•  </a:t>
            </a:r>
            <a:r>
              <a:rPr sz="2400" b="0">
                <a:solidFill>
                  <a:srgbClr val="6A3FC0"/>
                </a:solidFill>
                <a:latin typeface="Consolas"/>
              </a:rPr>
              <a:t>serializer_class = BookSerializer()</a:t>
            </a:r>
            <a:r>
              <a:rPr sz="2400" b="0">
                <a:solidFill>
                  <a:srgbClr val="1C2330"/>
                </a:solidFill>
                <a:latin typeface="Segoe UI"/>
              </a:rPr>
              <a:t>: give the class, no brackets</a:t>
            </a:r>
          </a:p>
          <a:p>
            <a:pPr>
              <a:spcAft>
                <a:spcPts val="16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•  Books in the wrong order: the queryset needs </a:t>
            </a:r>
            <a:r>
              <a:rPr sz="2400" b="0">
                <a:solidFill>
                  <a:srgbClr val="6A3FC0"/>
                </a:solidFill>
                <a:latin typeface="Consolas"/>
              </a:rPr>
              <a:t>order_by("id")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07  ·  A full CRUD API in 15 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Where you'll use this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10911535" cy="1554480"/>
          </a:xfrm>
          <a:prstGeom prst="roundRect">
            <a:avLst>
              <a:gd name="adj" fmla="val 6000"/>
            </a:avLst>
          </a:prstGeom>
          <a:solidFill>
            <a:srgbClr val="E3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10180015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100" b="0">
                <a:solidFill>
                  <a:srgbClr val="1C2330"/>
                </a:solidFill>
                <a:latin typeface="Segoe UI"/>
              </a:rPr>
              <a:t>A reading-list phone app needs to show, add, edit and remove books. With these ~15 lines, your server answers all of it at </a:t>
            </a:r>
            <a:r>
              <a:rPr sz="2100" b="0">
                <a:solidFill>
                  <a:srgbClr val="6A3FC0"/>
                </a:solidFill>
                <a:latin typeface="Consolas"/>
              </a:rPr>
              <a:t>/books/</a:t>
            </a:r>
            <a:r>
              <a:rPr sz="2100" b="0">
                <a:solidFill>
                  <a:srgbClr val="1C2330"/>
                </a:solidFill>
                <a:latin typeface="Segoe UI"/>
              </a:rPr>
              <a:t> and </a:t>
            </a:r>
            <a:r>
              <a:rPr sz="2100" b="0">
                <a:solidFill>
                  <a:srgbClr val="6A3FC0"/>
                </a:solidFill>
                <a:latin typeface="Consolas"/>
              </a:rPr>
              <a:t>/books/{id}/</a:t>
            </a:r>
            <a:r>
              <a:rPr sz="2100" b="0">
                <a:solidFill>
                  <a:srgbClr val="1C2330"/>
                </a:solidFill>
                <a:latin typeface="Segoe UI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37560"/>
            <a:ext cx="10911535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•  Most DRF APIs are built this way: model, serializer, viewset, router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•  Next exercises add rules to this setup: who may do what, then filtering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•  </a:t>
            </a:r>
            <a:r>
              <a:rPr sz="2000" b="0">
                <a:solidFill>
                  <a:srgbClr val="6A3FC0"/>
                </a:solidFill>
                <a:latin typeface="Consolas"/>
              </a:rPr>
              <a:t>DefaultRouter</a:t>
            </a:r>
            <a:r>
              <a:rPr sz="2000" b="0">
                <a:solidFill>
                  <a:srgbClr val="1C2330"/>
                </a:solidFill>
                <a:latin typeface="Segoe UI"/>
              </a:rPr>
              <a:t> also gives you a browsable front page listing your resources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07  ·  A full CRUD API in 15 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Check yourself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11535" cy="4526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800"/>
              </a:spcAft>
            </a:pPr>
            <a:r>
              <a:rPr sz="2300" b="0">
                <a:solidFill>
                  <a:srgbClr val="1C2330"/>
                </a:solidFill>
                <a:latin typeface="Segoe UI"/>
              </a:rPr>
              <a:t>1.  Which URL and method does a router send to </a:t>
            </a:r>
            <a:r>
              <a:rPr sz="2300" b="0">
                <a:solidFill>
                  <a:srgbClr val="6A3FC0"/>
                </a:solidFill>
                <a:latin typeface="Consolas"/>
              </a:rPr>
              <a:t>partial_update</a:t>
            </a:r>
            <a:r>
              <a:rPr sz="2300" b="0">
                <a:solidFill>
                  <a:srgbClr val="1C2330"/>
                </a:solidFill>
                <a:latin typeface="Segoe UI"/>
              </a:rPr>
              <a:t>?</a:t>
            </a:r>
          </a:p>
          <a:p>
            <a:pPr>
              <a:spcAft>
                <a:spcPts val="1800"/>
              </a:spcAft>
            </a:pPr>
            <a:r>
              <a:rPr sz="2300" b="0">
                <a:solidFill>
                  <a:srgbClr val="1C2330"/>
                </a:solidFill>
                <a:latin typeface="Segoe UI"/>
              </a:rPr>
              <a:t>2.  Why does the viewset's queryset need </a:t>
            </a:r>
            <a:r>
              <a:rPr sz="2300" b="0">
                <a:solidFill>
                  <a:srgbClr val="6A3FC0"/>
                </a:solidFill>
                <a:latin typeface="Consolas"/>
              </a:rPr>
              <a:t>order_by("id")</a:t>
            </a:r>
            <a:r>
              <a:rPr sz="2300" b="0">
                <a:solidFill>
                  <a:srgbClr val="1C2330"/>
                </a:solidFill>
                <a:latin typeface="Segoe UI"/>
              </a:rPr>
              <a:t>?</a:t>
            </a:r>
          </a:p>
          <a:p>
            <a:pPr>
              <a:spcAft>
                <a:spcPts val="1800"/>
              </a:spcAft>
            </a:pPr>
            <a:r>
              <a:rPr sz="2300" b="0">
                <a:solidFill>
                  <a:srgbClr val="1C2330"/>
                </a:solidFill>
                <a:latin typeface="Segoe UI"/>
              </a:rPr>
              <a:t>3.  What's the difference between </a:t>
            </a:r>
            <a:r>
              <a:rPr sz="2300" b="0">
                <a:solidFill>
                  <a:srgbClr val="6A3FC0"/>
                </a:solidFill>
                <a:latin typeface="Consolas"/>
              </a:rPr>
              <a:t>PUT</a:t>
            </a:r>
            <a:r>
              <a:rPr sz="2300" b="0">
                <a:solidFill>
                  <a:srgbClr val="1C2330"/>
                </a:solidFill>
                <a:latin typeface="Segoe UI"/>
              </a:rPr>
              <a:t> and </a:t>
            </a:r>
            <a:r>
              <a:rPr sz="2300" b="0">
                <a:solidFill>
                  <a:srgbClr val="6A3FC0"/>
                </a:solidFill>
                <a:latin typeface="Consolas"/>
              </a:rPr>
              <a:t>PATCH</a:t>
            </a:r>
            <a:r>
              <a:rPr sz="2300" b="0">
                <a:solidFill>
                  <a:srgbClr val="1C2330"/>
                </a:solidFill>
                <a:latin typeface="Segoe UI"/>
              </a:rPr>
              <a:t>?</a:t>
            </a:r>
          </a:p>
          <a:p>
            <a:pPr>
              <a:spcAft>
                <a:spcPts val="1800"/>
              </a:spcAft>
            </a:pPr>
            <a:r>
              <a:rPr sz="2300" b="0">
                <a:solidFill>
                  <a:srgbClr val="1C2330"/>
                </a:solidFill>
                <a:latin typeface="Segoe UI"/>
              </a:rPr>
              <a:t>4.  Why does a successful </a:t>
            </a:r>
            <a:r>
              <a:rPr sz="2300" b="0">
                <a:solidFill>
                  <a:srgbClr val="6A3FC0"/>
                </a:solidFill>
                <a:latin typeface="Consolas"/>
              </a:rPr>
              <a:t>DELETE</a:t>
            </a:r>
            <a:r>
              <a:rPr sz="2300" b="0">
                <a:solidFill>
                  <a:srgbClr val="1C2330"/>
                </a:solidFill>
                <a:latin typeface="Segoe UI"/>
              </a:rPr>
              <a:t> reply </a:t>
            </a:r>
            <a:r>
              <a:rPr sz="2300" b="0">
                <a:solidFill>
                  <a:srgbClr val="6A3FC0"/>
                </a:solidFill>
                <a:latin typeface="Consolas"/>
              </a:rPr>
              <a:t>204</a:t>
            </a:r>
            <a:r>
              <a:rPr sz="2300" b="0">
                <a:solidFill>
                  <a:srgbClr val="1C2330"/>
                </a:solidFill>
                <a:latin typeface="Segoe UI"/>
              </a:rPr>
              <a:t> with no body?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07  ·  A full CRUD API in 15 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Keep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11535" cy="4663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000" b="1">
                <a:solidFill>
                  <a:srgbClr val="2F6FDF"/>
                </a:solidFill>
                <a:latin typeface="Segoe UI"/>
                <a:hlinkClick r:id="rId2"/>
              </a:rPr>
              <a:t>Quickstart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5D6778"/>
                </a:solidFill>
                <a:latin typeface="Segoe UI"/>
              </a:rPr>
              <a:t>Django REST framework · tutorial · beginner. Start here: a working API with a serializer, a viewset and a router in a few minutes, the same three pieces as this exercise.</a:t>
            </a:r>
          </a:p>
          <a:p>
            <a:pPr>
              <a:spcAft>
                <a:spcPts val="200"/>
              </a:spcAft>
            </a:pPr>
            <a:r>
              <a:rPr sz="2000" b="1">
                <a:solidFill>
                  <a:srgbClr val="2F6FDF"/>
                </a:solidFill>
                <a:latin typeface="Segoe UI"/>
                <a:hlinkClick r:id="rId3"/>
              </a:rPr>
              <a:t>Tutorial 6: ViewSets &amp; Routers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5D6778"/>
                </a:solidFill>
                <a:latin typeface="Segoe UI"/>
              </a:rPr>
              <a:t>Django REST framework · tutorial · beginner. Explains how a viewset replaces separate list and detail views and how the router writes the URLs for you.</a:t>
            </a:r>
          </a:p>
          <a:p>
            <a:pPr>
              <a:spcAft>
                <a:spcPts val="200"/>
              </a:spcAft>
            </a:pPr>
            <a:r>
              <a:rPr sz="2000" b="1">
                <a:solidFill>
                  <a:srgbClr val="2F6FDF"/>
                </a:solidFill>
                <a:latin typeface="Segoe UI"/>
                <a:hlinkClick r:id="rId4"/>
              </a:rPr>
              <a:t>Serializers: ModelSerializer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5D6778"/>
                </a:solidFill>
                <a:latin typeface="Segoe UI"/>
              </a:rPr>
              <a:t>Django REST framework · docs · intermediate. Reference for ModelSerializer and its Meta fields option, which builds serializer fields from your model.</a:t>
            </a:r>
          </a:p>
          <a:p>
            <a:pPr>
              <a:spcAft>
                <a:spcPts val="200"/>
              </a:spcAft>
            </a:pPr>
            <a:r>
              <a:rPr sz="2000" b="1">
                <a:solidFill>
                  <a:srgbClr val="2F6FDF"/>
                </a:solidFill>
                <a:latin typeface="Segoe UI"/>
                <a:hlinkClick r:id="rId5"/>
              </a:rPr>
              <a:t>ViewSets: ModelViewSet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5D6778"/>
                </a:solidFill>
                <a:latin typeface="Segoe UI"/>
              </a:rPr>
              <a:t>Django REST framework · docs · intermediate. Lists the actions ModelViewSet gives you (list, create, retrieve, update, partial_update, destroy).</a:t>
            </a:r>
          </a:p>
          <a:p>
            <a:pPr>
              <a:spcAft>
                <a:spcPts val="200"/>
              </a:spcAft>
            </a:pPr>
            <a:r>
              <a:rPr sz="2000" b="1">
                <a:solidFill>
                  <a:srgbClr val="2F6FDF"/>
                </a:solidFill>
                <a:latin typeface="Segoe UI"/>
                <a:hlinkClick r:id="rId6"/>
              </a:rPr>
              <a:t>Routers: DefaultRouter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5D6778"/>
                </a:solidFill>
                <a:latin typeface="Segoe UI"/>
              </a:rPr>
              <a:t>Django REST framework · docs · intermediate. Shows the exact URL patterns DefaultRouter generates, useful when a test hits a URL you did not expect.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