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goes with exercise 4. By the end you should be able to create users with hashed passwords, refuse duplicates, and fetch only the rows a user 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database with plain passwords leaks, every account is exposed, and people reuse passwords, so their email and bank too. To check a login, Django hashes what was typed and compares fingerprints.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foreign key is a column that points at a row in another table. Here each note points at one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your functions these arrive as parameters: username, email, password, user, text. You don't create users for the tests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Console and the tests use a fast md5 hasher so they run quickly. A real project uses a slow, strong one, and hashes start with pbkdf2_sha256$. The hash is different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look almost the same and both save a user. That's why this bug is so easy to miss: nothing crashes. Test 2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filter needs an exact match, so the capital letters make it miss. __iexact is how you'd catch 'ADA' when 'ada' already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tests catch your error exactly like this and check the message. Writing return ValueError(...) instead of raise quietly hands back an error object and carries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 the whole user object: owner=grace, not owner="grace". The - in order_by reverses the order. You can chain .order_by(...) straight after .filter(...).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Order matters in register_user: check for the duplicate before creating anything. Otherwise the duplicate is already saved and test 3 sees 2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eveloper.mozilla.org/en-US/docs/Learn_web_development/Extensions/Server-side/Django/Authentication" TargetMode="External"/><Relationship Id="rId3" Type="http://schemas.openxmlformats.org/officeDocument/2006/relationships/hyperlink" Target="https://docs.djangoproject.com/en/5.2/topics/auth/default/#creating-users" TargetMode="External"/><Relationship Id="rId4" Type="http://schemas.openxmlformats.org/officeDocument/2006/relationships/hyperlink" Target="https://docs.djangoproject.com/en/5.2/topics/db/queries/" TargetMode="External"/><Relationship Id="rId5" Type="http://schemas.openxmlformats.org/officeDocument/2006/relationships/hyperlink" Target="https://docs.djangoproject.com/en/5.2/topics/auth/passwords/" TargetMode="External"/><Relationship Id="rId6" Type="http://schemas.openxmlformats.org/officeDocument/2006/relationships/hyperlink" Target="https://top10.owasp.org/2025/A01_2025-Broken_Access_Control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5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B38CFF"/>
                </a:solidFill>
                <a:latin typeface="Segoe UI"/>
              </a:rPr>
              <a:t>WEEK 1  ·  EXERCISE 04  · 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Users &amp;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160520"/>
            <a:ext cx="1280160" cy="73152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0">
                <a:solidFill>
                  <a:srgbClr val="C9D1DE"/>
                </a:solidFill>
                <a:latin typeface="Segoe UI"/>
              </a:rPr>
              <a:t>Store passwords safely, and make sure each user only ever sees their own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9AA4B5"/>
                </a:solidFill>
                <a:latin typeface="Segoe UI"/>
              </a:rPr>
              <a:t>Backend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big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10911535" cy="420624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997135" cy="3840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1C2330"/>
                </a:solidFill>
                <a:latin typeface="Segoe UI"/>
              </a:rPr>
              <a:t>1. Keep passwords safe.</a:t>
            </a:r>
            <a:r>
              <a:rPr sz="2400" b="0">
                <a:solidFill>
                  <a:srgbClr val="1C2330"/>
                </a:solidFill>
                <a:latin typeface="Segoe UI"/>
              </a:rPr>
              <a:t> Never store what the user typed. Store a </a:t>
            </a:r>
            <a:r>
              <a:rPr sz="2400" b="1">
                <a:solidFill>
                  <a:srgbClr val="1C2330"/>
                </a:solidFill>
                <a:latin typeface="Segoe UI"/>
              </a:rPr>
              <a:t>hash</a:t>
            </a:r>
            <a:r>
              <a:rPr sz="2400" b="0">
                <a:solidFill>
                  <a:srgbClr val="1C2330"/>
                </a:solidFill>
                <a:latin typeface="Segoe UI"/>
              </a:rPr>
              <a:t>: a one-way fingerprint. The same password always gives the same fingerprint, but you can't rebuild the password from it.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1C2330"/>
                </a:solidFill>
                <a:latin typeface="Segoe UI"/>
              </a:rPr>
              <a:t>2. Only show people their own data.</a:t>
            </a:r>
            <a:r>
              <a:rPr sz="2400" b="0">
                <a:solidFill>
                  <a:srgbClr val="1C2330"/>
                </a:solidFill>
                <a:latin typeface="Segoe UI"/>
              </a:rPr>
              <a:t> Each note has an </a:t>
            </a:r>
            <a:r>
              <a:rPr sz="2400" b="1">
                <a:solidFill>
                  <a:srgbClr val="1C2330"/>
                </a:solidFill>
                <a:latin typeface="Segoe UI"/>
              </a:rPr>
              <a:t>owner</a:t>
            </a:r>
            <a:r>
              <a:rPr sz="2400" b="0">
                <a:solidFill>
                  <a:srgbClr val="1C2330"/>
                </a:solidFill>
                <a:latin typeface="Segoe UI"/>
              </a:rPr>
              <a:t>. The query itself keeps only Ada's notes, like </a:t>
            </a:r>
            <a:r>
              <a:rPr sz="2400" b="0">
                <a:solidFill>
                  <a:srgbClr val="6A3FC0"/>
                </a:solidFill>
                <a:latin typeface="Consolas"/>
              </a:rPr>
              <a:t>df[df.owner == "ada"]</a:t>
            </a:r>
            <a:r>
              <a:rPr sz="2400" b="0">
                <a:solidFill>
                  <a:srgbClr val="1C2330"/>
                </a:solidFill>
                <a:latin typeface="Segoe UI"/>
              </a:rPr>
              <a:t> in pandas.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The Note model you're given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Already written in </a:t>
            </a:r>
            <a:r>
              <a:rPr sz="2000" b="0">
                <a:solidFill>
                  <a:srgbClr val="6A3FC0"/>
                </a:solidFill>
                <a:latin typeface="Consolas"/>
              </a:rPr>
              <a:t>sandbox/models.py</a:t>
            </a:r>
            <a:r>
              <a:rPr sz="2000" b="0">
                <a:solidFill>
                  <a:srgbClr val="1C2330"/>
                </a:solidFill>
                <a:latin typeface="Segoe UI"/>
              </a:rPr>
              <a:t>. The </a:t>
            </a:r>
            <a:r>
              <a:rPr sz="2000" b="0">
                <a:solidFill>
                  <a:srgbClr val="6A3FC0"/>
                </a:solidFill>
                <a:latin typeface="Consolas"/>
              </a:rPr>
              <a:t>owner</a:t>
            </a:r>
            <a:r>
              <a:rPr sz="2000" b="0">
                <a:solidFill>
                  <a:srgbClr val="1C2330"/>
                </a:solidFill>
                <a:latin typeface="Segoe UI"/>
              </a:rPr>
              <a:t> column points at a user.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C586C0"/>
                </a:solidFill>
                <a:latin typeface="Consolas"/>
              </a:rPr>
              <a:t>class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4EC9B0"/>
                </a:solidFill>
                <a:latin typeface="Consolas"/>
              </a:rPr>
              <a:t>Note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Model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owner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ForeignKey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settings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AUTH_USER_MODEL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points at the User model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on_delete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CASCADE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user deleted -&gt; their notes deleted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9CDCFE"/>
                </a:solidFill>
                <a:latin typeface="Consolas"/>
              </a:rPr>
              <a:t>related_name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notes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lets you write user.notes.all()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text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CharField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max_length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B5CEA8"/>
                </a:solidFill>
                <a:latin typeface="Consolas"/>
              </a:rPr>
              <a:t>200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created_at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models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DateTimeField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auto_now_add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586C0"/>
                </a:solidFill>
                <a:latin typeface="Consolas"/>
              </a:rPr>
              <a:t>True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What the tests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The tests call your three functions and pass the values in. </a:t>
            </a:r>
            <a:r>
              <a:rPr sz="2000" b="0">
                <a:solidFill>
                  <a:srgbClr val="6A3FC0"/>
                </a:solidFill>
                <a:latin typeface="Consolas"/>
              </a:rPr>
              <a:t>ada</a:t>
            </a:r>
            <a:r>
              <a:rPr sz="20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000" b="0">
                <a:solidFill>
                  <a:srgbClr val="6A3FC0"/>
                </a:solidFill>
                <a:latin typeface="Consolas"/>
              </a:rPr>
              <a:t>bob</a:t>
            </a:r>
            <a:r>
              <a:rPr sz="2000" b="0">
                <a:solidFill>
                  <a:srgbClr val="1C2330"/>
                </a:solidFill>
                <a:latin typeface="Segoe UI"/>
              </a:rPr>
              <a:t> are users they made.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register_user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ada@example.com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s3cret-pass!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  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NOT "s3cret-pass!"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check_password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s3cret-pass!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 True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register_user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ADA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other@example.com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another-pass!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6A9955"/>
                </a:solidFill>
                <a:latin typeface="Consolas"/>
              </a:rPr>
              <a:t># raises ValueError("username already taken"), still only 1 user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create_note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ada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Buy milk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 a saved Note whose owner is ada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notes_for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ada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 only Ada's notes, never Bob's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notes_for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ada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# newest first: ["new", "middle", "old"]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New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0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scrambled, one-way version of a password, like </a:t>
            </a:r>
            <a:r>
              <a:rPr sz="1900" b="0">
                <a:solidFill>
                  <a:srgbClr val="6A3FC0"/>
                </a:solidFill>
                <a:latin typeface="Consolas"/>
              </a:rPr>
              <a:t>pbkdf2_sha256$...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0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plain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70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The password exactly as typed. Never store this.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270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3032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foreign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032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column that points at a row in another table.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3032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794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queryset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94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What </a:t>
            </a:r>
            <a:r>
              <a:rPr sz="1900" b="0">
                <a:solidFill>
                  <a:srgbClr val="6A3FC0"/>
                </a:solidFill>
                <a:latin typeface="Consolas"/>
              </a:rPr>
              <a:t>.filter(...)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gives back: a list-like set of rows.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794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556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raise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56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Stop a function and report an error: </a:t>
            </a:r>
            <a:r>
              <a:rPr sz="1900" b="0">
                <a:solidFill>
                  <a:srgbClr val="6A3FC0"/>
                </a:solidFill>
                <a:latin typeface="Consolas"/>
              </a:rPr>
              <a:t>raise ValueError("...")</a:t>
            </a:r>
            <a:r>
              <a:rPr sz="19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56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5318760"/>
            <a:ext cx="301752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8A4FE0"/>
                </a:solidFill>
                <a:latin typeface="Segoe UI"/>
              </a:rPr>
              <a:t>service function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318760"/>
            <a:ext cx="7711135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A plain function for one job, so views stay short.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5318760"/>
            <a:ext cx="10911535" cy="0"/>
          </a:xfrm>
          <a:prstGeom prst="line">
            <a:avLst/>
          </a:prstGeom>
          <a:ln>
            <a:solidFill>
              <a:srgbClr val="DDE1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create_user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Creates and saves a user, and </a:t>
            </a:r>
            <a:r>
              <a:rPr sz="2000" b="1">
                <a:solidFill>
                  <a:srgbClr val="1C2330"/>
                </a:solidFill>
                <a:latin typeface="Segoe UI"/>
              </a:rPr>
              <a:t>hashes the password</a:t>
            </a:r>
            <a:r>
              <a:rPr sz="2000" b="0">
                <a:solidFill>
                  <a:srgbClr val="1C2330"/>
                </a:solidFill>
                <a:latin typeface="Segoe UI"/>
              </a:rPr>
              <a:t> for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grace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User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9CDCFE"/>
                </a:solidFill>
                <a:latin typeface="Consolas"/>
              </a:rPr>
              <a:t>username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grace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email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grace@example.com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password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tea-time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grace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password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 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md5$lbkk...$b9d0...  (a hash)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grace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check_password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tea-time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True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grace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check_password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coffee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    </a:t>
            </a:r>
            <a:r>
              <a:rPr sz="1800">
                <a:solidFill>
                  <a:srgbClr val="6A9955"/>
                </a:solidFill>
                <a:latin typeface="Consolas"/>
              </a:rPr>
              <a:t># False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create vs create_user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F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8A4FE0"/>
                </a:solidFill>
                <a:latin typeface="Segoe UI"/>
              </a:rPr>
              <a:t>User.objects.create(...)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Saves the user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Stores the password as </a:t>
            </a:r>
            <a:r>
              <a:rPr sz="1900" b="1">
                <a:solidFill>
                  <a:srgbClr val="1C2330"/>
                </a:solidFill>
                <a:latin typeface="Segoe UI"/>
              </a:rPr>
              <a:t>plain text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Logins never work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 leak exposes every password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The starter's 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08760"/>
            <a:ext cx="5272887" cy="4389120"/>
          </a:xfrm>
          <a:prstGeom prst="roundRect">
            <a:avLst>
              <a:gd name="adj" fmla="val 6000"/>
            </a:avLst>
          </a:prstGeom>
          <a:solidFill>
            <a:srgbClr val="E5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737360"/>
            <a:ext cx="4632807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400" b="1">
                <a:solidFill>
                  <a:srgbClr val="2F6FDF"/>
                </a:solidFill>
                <a:latin typeface="Segoe UI"/>
              </a:rPr>
              <a:t>User.objects.create_user(...)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Saves the user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Stores a </a:t>
            </a:r>
            <a:r>
              <a:rPr sz="1900" b="1">
                <a:solidFill>
                  <a:srgbClr val="1C2330"/>
                </a:solidFill>
                <a:latin typeface="Segoe UI"/>
              </a:rPr>
              <a:t>hash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</a:t>
            </a:r>
            <a:r>
              <a:rPr sz="1900" b="0">
                <a:solidFill>
                  <a:srgbClr val="6A3FC0"/>
                </a:solidFill>
                <a:latin typeface="Consolas"/>
              </a:rPr>
              <a:t>check_password(...)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works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A leak exposes only fingerprints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•  What you should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Tools: filter, __iexact and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Add </a:t>
            </a:r>
            <a:r>
              <a:rPr sz="2000" b="0">
                <a:solidFill>
                  <a:srgbClr val="6A3FC0"/>
                </a:solidFill>
                <a:latin typeface="Consolas"/>
              </a:rPr>
              <a:t>__iexact</a:t>
            </a:r>
            <a:r>
              <a:rPr sz="2000" b="0">
                <a:solidFill>
                  <a:srgbClr val="1C2330"/>
                </a:solidFill>
                <a:latin typeface="Segoe UI"/>
              </a:rPr>
              <a:t> (two underscores) to ignore upper/lower case. </a:t>
            </a:r>
            <a:r>
              <a:rPr sz="2000" b="0">
                <a:solidFill>
                  <a:srgbClr val="6A3FC0"/>
                </a:solidFill>
                <a:latin typeface="Consolas"/>
              </a:rPr>
              <a:t>.exists()</a:t>
            </a:r>
            <a:r>
              <a:rPr sz="2000" b="0">
                <a:solidFill>
                  <a:srgbClr val="1C2330"/>
                </a:solidFill>
                <a:latin typeface="Segoe UI"/>
              </a:rPr>
              <a:t> gives </a:t>
            </a:r>
            <a:r>
              <a:rPr sz="2000" b="0">
                <a:solidFill>
                  <a:srgbClr val="6A3FC0"/>
                </a:solidFill>
                <a:latin typeface="Consolas"/>
              </a:rPr>
              <a:t>True</a:t>
            </a:r>
            <a:r>
              <a:rPr sz="2000" b="0">
                <a:solidFill>
                  <a:srgbClr val="1C2330"/>
                </a:solidFill>
                <a:latin typeface="Segoe UI"/>
              </a:rPr>
              <a:t> or </a:t>
            </a:r>
            <a:r>
              <a:rPr sz="2000" b="0">
                <a:solidFill>
                  <a:srgbClr val="6A3FC0"/>
                </a:solidFill>
                <a:latin typeface="Consolas"/>
              </a:rPr>
              <a:t>False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2569464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2203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>
                <a:solidFill>
                  <a:srgbClr val="9CDCFE"/>
                </a:solidFill>
                <a:latin typeface="Consolas"/>
              </a:rPr>
              <a:t>User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username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grace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9CDCFE"/>
                </a:solidFill>
                <a:latin typeface="Consolas"/>
              </a:rPr>
              <a:t>email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Grace@Example.com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                         </a:t>
            </a:r>
            <a:r>
              <a:rPr sz="1800">
                <a:solidFill>
                  <a:srgbClr val="9CDCFE"/>
                </a:solidFill>
                <a:latin typeface="Consolas"/>
              </a:rPr>
              <a:t>password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x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User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filter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email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grace@example.com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exists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4EC9B0"/>
                </a:solidFill>
                <a:latin typeface="Consolas"/>
              </a:rPr>
              <a:t>print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User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objects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filter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9CDCFE"/>
                </a:solidFill>
                <a:latin typeface="Consolas"/>
              </a:rPr>
              <a:t>email__iexact</a:t>
            </a:r>
            <a:r>
              <a:rPr sz="1800">
                <a:solidFill>
                  <a:srgbClr val="D4D4D4"/>
                </a:solidFill>
                <a:latin typeface="Consolas"/>
              </a:rPr>
              <a:t>=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grace@example.com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.</a:t>
            </a:r>
            <a:r>
              <a:rPr sz="1800">
                <a:solidFill>
                  <a:srgbClr val="9CDCFE"/>
                </a:solidFill>
                <a:latin typeface="Consolas"/>
              </a:rPr>
              <a:t>exists</a:t>
            </a:r>
            <a:r>
              <a:rPr sz="1800">
                <a:solidFill>
                  <a:srgbClr val="D4D4D4"/>
                </a:solidFill>
                <a:latin typeface="Consolas"/>
              </a:rPr>
              <a:t>(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  <a:r>
              <a:rPr sz="18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40080" y="5084064"/>
            <a:ext cx="10911535" cy="1088136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85232"/>
            <a:ext cx="10362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False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True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Tool: raise ValueError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000" b="0">
                <a:solidFill>
                  <a:srgbClr val="6A3FC0"/>
                </a:solidFill>
                <a:latin typeface="Consolas"/>
              </a:rPr>
              <a:t>raise</a:t>
            </a:r>
            <a:r>
              <a:rPr sz="2000" b="0">
                <a:solidFill>
                  <a:srgbClr val="1C2330"/>
                </a:solidFill>
                <a:latin typeface="Segoe UI"/>
              </a:rPr>
              <a:t> stops the function right there. The caller can catch it with </a:t>
            </a:r>
            <a:r>
              <a:rPr sz="2000" b="0">
                <a:solidFill>
                  <a:srgbClr val="6A3FC0"/>
                </a:solidFill>
                <a:latin typeface="Consolas"/>
              </a:rPr>
              <a:t>try</a:t>
            </a:r>
            <a:r>
              <a:rPr sz="2000" b="0">
                <a:solidFill>
                  <a:srgbClr val="1C2330"/>
                </a:solidFill>
                <a:latin typeface="Segoe UI"/>
              </a:rPr>
              <a:t> / </a:t>
            </a:r>
            <a:r>
              <a:rPr sz="2000" b="0">
                <a:solidFill>
                  <a:srgbClr val="6A3FC0"/>
                </a:solidFill>
                <a:latin typeface="Consolas"/>
              </a:rPr>
              <a:t>except</a:t>
            </a:r>
            <a:r>
              <a:rPr sz="2000" b="0">
                <a:solidFill>
                  <a:srgbClr val="1C2330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1091153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62895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def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set_age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age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if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age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&lt;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raise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ValueError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age cannot be negative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return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age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set_age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30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600">
                <a:solidFill>
                  <a:srgbClr val="6A9955"/>
                </a:solidFill>
                <a:latin typeface="Consolas"/>
              </a:rPr>
              <a:t># 30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try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9CDCFE"/>
                </a:solidFill>
                <a:latin typeface="Consolas"/>
              </a:rPr>
              <a:t>set_age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-</a:t>
            </a:r>
            <a:r>
              <a:rPr sz="1600">
                <a:solidFill>
                  <a:srgbClr val="B5CEA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C586C0"/>
                </a:solidFill>
                <a:latin typeface="Consolas"/>
              </a:rPr>
              <a:t>except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ValueError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as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error</a:t>
            </a:r>
            <a:r>
              <a:rPr sz="1600">
                <a:solidFill>
                  <a:srgbClr val="D4D4D4"/>
                </a:solidFill>
                <a:latin typeface="Consolas"/>
              </a:rPr>
              <a:t>: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Caught: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error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# Caught: age cannot be negative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Pattern: only one owner's rows, sorted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10911535" cy="3145536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2779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grace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username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grace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linus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User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create_user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username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linus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password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x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grace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text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Water plants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linus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text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Fix kernel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create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grace</a:t>
            </a:r>
            <a:r>
              <a:rPr sz="1600">
                <a:solidFill>
                  <a:srgbClr val="D4D4D4"/>
                </a:solidFill>
                <a:latin typeface="Consolas"/>
              </a:rPr>
              <a:t>,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text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Call mum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9CDCFE"/>
                </a:solidFill>
                <a:latin typeface="Consolas"/>
              </a:rPr>
              <a:t>n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text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filter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9CDCFE"/>
                </a:solidFill>
                <a:latin typeface="Consolas"/>
              </a:rPr>
              <a:t>owner</a:t>
            </a:r>
            <a:r>
              <a:rPr sz="1600">
                <a:solidFill>
                  <a:srgbClr val="D4D4D4"/>
                </a:solidFill>
                <a:latin typeface="Consolas"/>
              </a:rPr>
              <a:t>=</a:t>
            </a:r>
            <a:r>
              <a:rPr sz="1600">
                <a:solidFill>
                  <a:srgbClr val="9CDCFE"/>
                </a:solidFill>
                <a:latin typeface="Consolas"/>
              </a:rPr>
              <a:t>grace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9CDCFE"/>
                </a:solidFill>
                <a:latin typeface="Consolas"/>
              </a:rPr>
              <a:t>n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text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linus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notes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all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print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9CDCFE"/>
                </a:solidFill>
                <a:latin typeface="Consolas"/>
              </a:rPr>
              <a:t>n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text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in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9CDCFE"/>
                </a:solidFill>
                <a:latin typeface="Consolas"/>
              </a:rPr>
              <a:t>Note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objects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9CDCFE"/>
                </a:solidFill>
                <a:latin typeface="Consolas"/>
              </a:rPr>
              <a:t>order_by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-text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10000"/>
              </a:lnSpc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640080" y="4791456"/>
            <a:ext cx="10911535" cy="1380744"/>
          </a:xfrm>
          <a:prstGeom prst="roundRect">
            <a:avLst>
              <a:gd name="adj" fmla="val 6000"/>
            </a:avLst>
          </a:prstGeom>
          <a:solidFill>
            <a:srgbClr val="2A2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92624"/>
            <a:ext cx="10362895" cy="101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4B5"/>
                </a:solidFill>
                <a:latin typeface="Segoe UI"/>
              </a:rPr>
              <a:t>OUTPUT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Water plants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Call mum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Fix kernel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800">
                <a:solidFill>
                  <a:srgbClr val="D4D4D4"/>
                </a:solidFill>
                <a:latin typeface="Consolas"/>
              </a:rPr>
              <a:t>[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Water plants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Fix kernel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,</a:t>
            </a:r>
            <a:r>
              <a:rPr sz="1800">
                <a:solidFill>
                  <a:srgbClr val="D4D4D4"/>
                </a:solidFill>
                <a:latin typeface="Consolas"/>
              </a:rPr>
              <a:t> 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Call mum</a:t>
            </a:r>
            <a:r>
              <a:rPr sz="1800">
                <a:solidFill>
                  <a:srgbClr val="D4D4D4"/>
                </a:solidFill>
                <a:latin typeface="Consolas"/>
              </a:rPr>
              <a:t>'</a:t>
            </a:r>
            <a:r>
              <a:rPr sz="1800">
                <a:solidFill>
                  <a:srgbClr val="D4D4D4"/>
                </a:solidFill>
                <a:latin typeface="Consolas"/>
              </a:rPr>
              <a:t>]</a:t>
            </a:r>
          </a:p>
          <a:p>
            <a:pPr>
              <a:lnSpc>
                <a:spcPct val="110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Your task, step by step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71450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0876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If taken (any case): </a:t>
            </a:r>
            <a:r>
              <a:rPr sz="1900" b="0">
                <a:solidFill>
                  <a:srgbClr val="6A3FC0"/>
                </a:solidFill>
                <a:latin typeface="Consolas"/>
              </a:rPr>
              <a:t>raise ValueError("username already taken")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22815" y="150876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3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Swap </a:t>
            </a:r>
            <a:r>
              <a:rPr sz="1900" b="0">
                <a:solidFill>
                  <a:srgbClr val="6A3FC0"/>
                </a:solidFill>
                <a:latin typeface="Consolas"/>
              </a:rPr>
              <a:t>create(...)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for </a:t>
            </a:r>
            <a:r>
              <a:rPr sz="1900" b="0">
                <a:solidFill>
                  <a:srgbClr val="6A3FC0"/>
                </a:solidFill>
                <a:latin typeface="Consolas"/>
              </a:rPr>
              <a:t>create_user(...)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and return the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2815" y="237744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tests 1-2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5186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4612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create_note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Note.objects.create(...)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with </a:t>
            </a:r>
            <a:r>
              <a:rPr sz="1900" b="0">
                <a:solidFill>
                  <a:srgbClr val="6A3FC0"/>
                </a:solidFill>
                <a:latin typeface="Consolas"/>
              </a:rPr>
              <a:t>owner=user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2815" y="32461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4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32054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11480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6A3FC0"/>
                </a:solidFill>
                <a:latin typeface="Consolas"/>
              </a:rPr>
              <a:t>notes_for</a:t>
            </a:r>
            <a:r>
              <a:rPr sz="1900" b="0">
                <a:solidFill>
                  <a:srgbClr val="1C2330"/>
                </a:solidFill>
                <a:latin typeface="Segoe UI"/>
              </a:rPr>
              <a:t>: </a:t>
            </a:r>
            <a:r>
              <a:rPr sz="1900" b="0">
                <a:solidFill>
                  <a:srgbClr val="6A3FC0"/>
                </a:solidFill>
                <a:latin typeface="Consolas"/>
              </a:rPr>
              <a:t>.filter(...)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on the owner instead of </a:t>
            </a:r>
            <a:r>
              <a:rPr sz="1900" b="0">
                <a:solidFill>
                  <a:srgbClr val="6A3FC0"/>
                </a:solidFill>
                <a:latin typeface="Consolas"/>
              </a:rPr>
              <a:t>.all()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2815" y="411480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5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89220"/>
            <a:ext cx="457200" cy="457200"/>
          </a:xfrm>
          <a:prstGeom prst="ellipse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983480"/>
            <a:ext cx="8259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900" b="0">
                <a:solidFill>
                  <a:srgbClr val="1C2330"/>
                </a:solidFill>
                <a:latin typeface="Segoe UI"/>
              </a:rPr>
              <a:t>Chain </a:t>
            </a:r>
            <a:r>
              <a:rPr sz="1900" b="0">
                <a:solidFill>
                  <a:srgbClr val="6A3FC0"/>
                </a:solidFill>
                <a:latin typeface="Consolas"/>
              </a:rPr>
              <a:t>.order_by(...)</a:t>
            </a:r>
            <a:r>
              <a:rPr sz="1900" b="0">
                <a:solidFill>
                  <a:srgbClr val="1C2330"/>
                </a:solidFill>
                <a:latin typeface="Segoe UI"/>
              </a:rPr>
              <a:t> on </a:t>
            </a:r>
            <a:r>
              <a:rPr sz="1900" b="0">
                <a:solidFill>
                  <a:srgbClr val="6A3FC0"/>
                </a:solidFill>
                <a:latin typeface="Consolas"/>
              </a:rPr>
              <a:t>created_at</a:t>
            </a:r>
            <a:r>
              <a:rPr sz="1900" b="0">
                <a:solidFill>
                  <a:srgbClr val="1C2330"/>
                </a:solidFill>
                <a:latin typeface="Segoe UI"/>
              </a:rPr>
              <a:t>, with a </a:t>
            </a:r>
            <a:r>
              <a:rPr sz="1900" b="0">
                <a:solidFill>
                  <a:srgbClr val="6A3FC0"/>
                </a:solidFill>
                <a:latin typeface="Consolas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2815" y="498348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2F6FDF"/>
                </a:solidFill>
                <a:latin typeface="Segoe UI"/>
              </a:rPr>
              <a:t>→ test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Keeping </a:t>
            </a:r>
            <a:r>
              <a:rPr sz="2400" b="0">
                <a:solidFill>
                  <a:srgbClr val="6A3FC0"/>
                </a:solidFill>
                <a:latin typeface="Consolas"/>
              </a:rPr>
              <a:t>create(...)</a:t>
            </a:r>
            <a:r>
              <a:rPr sz="2400" b="0">
                <a:solidFill>
                  <a:srgbClr val="1C2330"/>
                </a:solidFill>
                <a:latin typeface="Segoe UI"/>
              </a:rPr>
              <a:t>: "The password was stored as plain text!"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filter(username=...)</a:t>
            </a:r>
            <a:r>
              <a:rPr sz="2400" b="0">
                <a:solidFill>
                  <a:srgbClr val="1C2330"/>
                </a:solidFill>
                <a:latin typeface="Segoe UI"/>
              </a:rPr>
              <a:t> without </a:t>
            </a:r>
            <a:r>
              <a:rPr sz="2400" b="0">
                <a:solidFill>
                  <a:srgbClr val="6A3FC0"/>
                </a:solidFill>
                <a:latin typeface="Consolas"/>
              </a:rPr>
              <a:t>__iexact</a:t>
            </a:r>
            <a:r>
              <a:rPr sz="2400" b="0">
                <a:solidFill>
                  <a:srgbClr val="1C2330"/>
                </a:solidFill>
                <a:latin typeface="Segoe UI"/>
              </a:rPr>
              <a:t> lets </a:t>
            </a:r>
            <a:r>
              <a:rPr sz="2400" b="0">
                <a:solidFill>
                  <a:srgbClr val="6A3FC0"/>
                </a:solidFill>
                <a:latin typeface="Consolas"/>
              </a:rPr>
              <a:t>"ADA"</a:t>
            </a:r>
            <a:r>
              <a:rPr sz="2400" b="0">
                <a:solidFill>
                  <a:srgbClr val="1C2330"/>
                </a:solidFill>
                <a:latin typeface="Segoe UI"/>
              </a:rPr>
              <a:t> in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Creating the user first, then checking: the duplicate is already saved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order_by("created_at")</a:t>
            </a:r>
            <a:r>
              <a:rPr sz="2400" b="0">
                <a:solidFill>
                  <a:srgbClr val="1C2330"/>
                </a:solidFill>
                <a:latin typeface="Segoe UI"/>
              </a:rPr>
              <a:t> without the </a:t>
            </a:r>
            <a:r>
              <a:rPr sz="2400" b="0">
                <a:solidFill>
                  <a:srgbClr val="6A3FC0"/>
                </a:solidFill>
                <a:latin typeface="Consolas"/>
              </a:rPr>
              <a:t>-</a:t>
            </a:r>
            <a:r>
              <a:rPr sz="2400" b="0">
                <a:solidFill>
                  <a:srgbClr val="1C2330"/>
                </a:solidFill>
                <a:latin typeface="Segoe UI"/>
              </a:rPr>
              <a:t> gives the oldest first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C2330"/>
                </a:solidFill>
                <a:latin typeface="Segoe UI"/>
              </a:rPr>
              <a:t>•  </a:t>
            </a:r>
            <a:r>
              <a:rPr sz="2400" b="0">
                <a:solidFill>
                  <a:srgbClr val="6A3FC0"/>
                </a:solidFill>
                <a:latin typeface="Consolas"/>
              </a:rPr>
              <a:t>owner=user.username</a:t>
            </a:r>
            <a:r>
              <a:rPr sz="2400" b="0">
                <a:solidFill>
                  <a:srgbClr val="1C2330"/>
                </a:solidFill>
                <a:latin typeface="Segoe UI"/>
              </a:rPr>
              <a:t>: the foreign key needs the </a:t>
            </a:r>
            <a:r>
              <a:rPr sz="2400" b="0">
                <a:solidFill>
                  <a:srgbClr val="6A3FC0"/>
                </a:solidFill>
                <a:latin typeface="Consolas"/>
              </a:rPr>
              <a:t>User</a:t>
            </a:r>
            <a:r>
              <a:rPr sz="2400" b="0">
                <a:solidFill>
                  <a:srgbClr val="1C2330"/>
                </a:solidFill>
                <a:latin typeface="Segoe UI"/>
              </a:rPr>
              <a:t> object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Where you'll use this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10911535" cy="1554480"/>
          </a:xfrm>
          <a:prstGeom prst="roundRect">
            <a:avLst>
              <a:gd name="adj" fmla="val 6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10180015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C2330"/>
                </a:solidFill>
                <a:latin typeface="Segoe UI"/>
              </a:rPr>
              <a:t>Ada opens a notes app and it calls </a:t>
            </a:r>
            <a:r>
              <a:rPr sz="2100" b="0">
                <a:solidFill>
                  <a:srgbClr val="6A3FC0"/>
                </a:solidFill>
                <a:latin typeface="Consolas"/>
              </a:rPr>
              <a:t>GET /api/notes/</a:t>
            </a:r>
            <a:r>
              <a:rPr sz="2100" b="0">
                <a:solidFill>
                  <a:srgbClr val="1C2330"/>
                </a:solidFill>
                <a:latin typeface="Segoe UI"/>
              </a:rPr>
              <a:t>. The server must answer with </a:t>
            </a:r>
            <a:r>
              <a:rPr sz="2100" b="1">
                <a:solidFill>
                  <a:srgbClr val="1C2330"/>
                </a:solidFill>
                <a:latin typeface="Segoe UI"/>
              </a:rPr>
              <a:t>Ada's</a:t>
            </a:r>
            <a:r>
              <a:rPr sz="2100" b="0">
                <a:solidFill>
                  <a:srgbClr val="1C2330"/>
                </a:solidFill>
                <a:latin typeface="Segoe UI"/>
              </a:rPr>
              <a:t> notes only, even if someone calls the API directly and skips the app.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115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The logged-in user is </a:t>
            </a:r>
            <a:r>
              <a:rPr sz="2000" b="0">
                <a:solidFill>
                  <a:srgbClr val="6A3FC0"/>
                </a:solidFill>
                <a:latin typeface="Consolas"/>
              </a:rPr>
              <a:t>request.user</a:t>
            </a:r>
            <a:r>
              <a:rPr sz="2000" b="0">
                <a:solidFill>
                  <a:srgbClr val="1C2330"/>
                </a:solidFill>
                <a:latin typeface="Segoe UI"/>
              </a:rPr>
              <a:t> in a Django view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Every private list filters by it: </a:t>
            </a:r>
            <a:r>
              <a:rPr sz="2000" b="0">
                <a:solidFill>
                  <a:srgbClr val="6A3FC0"/>
                </a:solidFill>
                <a:latin typeface="Consolas"/>
              </a:rPr>
              <a:t>Note.objects.filter(owner=request.user)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C2330"/>
                </a:solidFill>
                <a:latin typeface="Segoe UI"/>
              </a:rPr>
              <a:t>•  Hiding data in the frontend isn't enough: the rule lives in the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Check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11535" cy="4526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1.  Why must a password never be stored as plain text?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2.  What's the difference between </a:t>
            </a:r>
            <a:r>
              <a:rPr sz="2300" b="0">
                <a:solidFill>
                  <a:srgbClr val="6A3FC0"/>
                </a:solidFill>
                <a:latin typeface="Consolas"/>
              </a:rPr>
              <a:t>create(...)</a:t>
            </a:r>
            <a:r>
              <a:rPr sz="2300" b="0">
                <a:solidFill>
                  <a:srgbClr val="1C2330"/>
                </a:solidFill>
                <a:latin typeface="Segoe UI"/>
              </a:rPr>
              <a:t> and </a:t>
            </a:r>
            <a:r>
              <a:rPr sz="2300" b="0">
                <a:solidFill>
                  <a:srgbClr val="6A3FC0"/>
                </a:solidFill>
                <a:latin typeface="Consolas"/>
              </a:rPr>
              <a:t>create_user(...)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3.  What does </a:t>
            </a:r>
            <a:r>
              <a:rPr sz="2300" b="0">
                <a:solidFill>
                  <a:srgbClr val="6A3FC0"/>
                </a:solidFill>
                <a:latin typeface="Consolas"/>
              </a:rPr>
              <a:t>__iexact</a:t>
            </a:r>
            <a:r>
              <a:rPr sz="2300" b="0">
                <a:solidFill>
                  <a:srgbClr val="1C2330"/>
                </a:solidFill>
                <a:latin typeface="Segoe UI"/>
              </a:rPr>
              <a:t> change in a </a:t>
            </a:r>
            <a:r>
              <a:rPr sz="2300" b="0">
                <a:solidFill>
                  <a:srgbClr val="6A3FC0"/>
                </a:solidFill>
                <a:latin typeface="Consolas"/>
              </a:rPr>
              <a:t>.filter(...)</a:t>
            </a:r>
            <a:r>
              <a:rPr sz="2300" b="0">
                <a:solidFill>
                  <a:srgbClr val="1C2330"/>
                </a:solidFill>
                <a:latin typeface="Segoe UI"/>
              </a:rPr>
              <a:t>?</a:t>
            </a:r>
          </a:p>
          <a:p>
            <a:pPr>
              <a:spcAft>
                <a:spcPts val="1800"/>
              </a:spcAft>
            </a:pPr>
            <a:r>
              <a:rPr sz="2300" b="0">
                <a:solidFill>
                  <a:srgbClr val="1C2330"/>
                </a:solidFill>
                <a:latin typeface="Segoe UI"/>
              </a:rPr>
              <a:t>4.  Why check for a duplicate </a:t>
            </a:r>
            <a:r>
              <a:rPr sz="2300" b="1">
                <a:solidFill>
                  <a:srgbClr val="1C2330"/>
                </a:solidFill>
                <a:latin typeface="Segoe UI"/>
              </a:rPr>
              <a:t>before</a:t>
            </a:r>
            <a:r>
              <a:rPr sz="2300" b="0">
                <a:solidFill>
                  <a:srgbClr val="1C2330"/>
                </a:solidFill>
                <a:latin typeface="Segoe UI"/>
              </a:rPr>
              <a:t> creating the user?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Backend Lab  ·  Exercise 04  ·  Users &amp;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D6778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C2330"/>
                </a:solidFill>
                <a:latin typeface="Segoe UI"/>
              </a:rPr>
              <a:t>Keep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11535" cy="4663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2"/>
              </a:rPr>
              <a:t>Django Tutorial Part 8: User authentication and permissions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MDN Web Docs · tutorial · beginner. Start here: a guided tutorial on Django users, logging in and showing each user only their own records.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3"/>
              </a:rPr>
              <a:t>Using the Django authentication system: creating users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beginner. Shows User.objects.create_user, which stores a hashed password instead of the plain text one.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4"/>
              </a:rPr>
              <a:t>Making queries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Covers filter(), exists(), create() and lookups like __iexact, which you use to check usernames and fetch a user's notes.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5"/>
              </a:rPr>
              <a:t>Password management in Django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Django docs · docs · intermediate. Explains how Django hashes and checks passwords, so you understand why you never save them yourself.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F6FDF"/>
                </a:solidFill>
                <a:latin typeface="Segoe UI"/>
                <a:hlinkClick r:id="rId6"/>
              </a:rPr>
              <a:t>A01 Broken Access Control (OWASP Top 10:2025)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5D6778"/>
                </a:solidFill>
                <a:latin typeface="Segoe UI"/>
              </a:rPr>
              <a:t>OWASP · article · intermediate. Why returning another user's data is the number one web security risk, and how filtering by owner prevents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