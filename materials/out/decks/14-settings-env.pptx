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goes with exercise 14. By the end you should be able to explain why settings live in environment variables, and write helpers that turn their text into booleans, numbers and lists.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a CSV where numbers and yes/no values arrive as text: you must convert them before use. Secrets in settings.py would also end up in git, where anyone can read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never set these yourself. name is just a string like "APP_PORT"; your function looks it up. Not set and only spaces both mean: use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ImproperlyConfigured is Django's error for 'the settings are wrong'. You raise it to stop the app with a clear message.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 shows the quotes so you can see the spaces are kept. os.environ["NOT_SET"] with square brackets crashes with KeyError; .get gives None instead.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exactly the bug in the starter's env_bool. You have to look at the words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check is None first. None.strip() crashes, but or stops as soon as one side is true, so the strip never runs on None.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already imported in your file. The tests check that the message contains the variable's name.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env_int, the except block raises ImproperlyConfigured instead of printing. {text!r} shows the value with its quotes.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Failing loudly at startup beats discovering a wrong setting from a customer's bug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an empty list and append inside the loop. If you know list comprehensions, it fits on one 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is shared by all four helpers. You can copy it, or write one small helper of your own and call it from all four.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reecodecamp.org/news/python-env-vars-how-to-get-an-environment-variable-in-python/" TargetMode="External"/><Relationship Id="rId3" Type="http://schemas.openxmlformats.org/officeDocument/2006/relationships/hyperlink" Target="https://12factor.net/config" TargetMode="External"/><Relationship Id="rId4" Type="http://schemas.openxmlformats.org/officeDocument/2006/relationships/hyperlink" Target="https://docs.python.org/3/library/os.html#os.environ" TargetMode="External"/><Relationship Id="rId5" Type="http://schemas.openxmlformats.org/officeDocument/2006/relationships/hyperlink" Target="https://docs.djangoproject.com/en/5.2/topics/settings/" TargetMode="External"/><Relationship Id="rId6" Type="http://schemas.openxmlformats.org/officeDocument/2006/relationships/hyperlink" Target="https://docs.djangoproject.com/en/5.2/howto/deployment/checklis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51C"/>
        </a:solidFill>
        <a:effectLst/>
      </p:bgPr>
    </p:bg>
    <p:spTree>
      <p:nvGrpSpPr>
        <p:cNvPr id="1" name=""/>
        <p:cNvGrpSpPr/>
        <p:nvPr/>
      </p:nvGrpSpPr>
      <p:grpSpPr/>
      <p:sp>
        <p:nvSpPr>
          <p:cNvPr id="2" name="TextBox 1"/>
          <p:cNvSpPr txBox="1"/>
          <p:nvPr/>
        </p:nvSpPr>
        <p:spPr>
          <a:xfrm>
            <a:off x="640080" y="1554480"/>
            <a:ext cx="8229600" cy="365760"/>
          </a:xfrm>
          <a:prstGeom prst="rect">
            <a:avLst/>
          </a:prstGeom>
          <a:noFill/>
        </p:spPr>
        <p:txBody>
          <a:bodyPr wrap="square" anchor="t" lIns="0" rIns="0" tIns="0" bIns="0">
            <a:spAutoFit/>
          </a:bodyPr>
          <a:lstStyle/>
          <a:p>
            <a:pPr>
              <a:spcAft>
                <a:spcPts val="600"/>
              </a:spcAft>
            </a:pPr>
            <a:r>
              <a:rPr sz="1400" b="1">
                <a:solidFill>
                  <a:srgbClr val="B38CFF"/>
                </a:solidFill>
                <a:latin typeface="Segoe UI"/>
              </a:rPr>
              <a:t>WEEK 3  ·  EXERCISE 14  ·  SETTINGS</a:t>
            </a:r>
          </a:p>
        </p:txBody>
      </p:sp>
      <p:sp>
        <p:nvSpPr>
          <p:cNvPr id="3" name="TextBox 2"/>
          <p:cNvSpPr txBox="1"/>
          <p:nvPr/>
        </p:nvSpPr>
        <p:spPr>
          <a:xfrm>
            <a:off x="640080" y="2103120"/>
            <a:ext cx="10911535" cy="2011680"/>
          </a:xfrm>
          <a:prstGeom prst="rect">
            <a:avLst/>
          </a:prstGeom>
          <a:noFill/>
        </p:spPr>
        <p:txBody>
          <a:bodyPr wrap="square" anchor="t" lIns="0" rIns="0" tIns="0" bIns="0">
            <a:spAutoFit/>
          </a:bodyPr>
          <a:lstStyle/>
          <a:p>
            <a:pPr>
              <a:spcAft>
                <a:spcPts val="600"/>
              </a:spcAft>
            </a:pPr>
            <a:r>
              <a:rPr sz="5400" b="1">
                <a:solidFill>
                  <a:srgbClr val="FFFFFF"/>
                </a:solidFill>
                <a:latin typeface="Segoe UI"/>
              </a:rPr>
              <a:t>Configuration from the environment</a:t>
            </a:r>
          </a:p>
        </p:txBody>
      </p:sp>
      <p:sp>
        <p:nvSpPr>
          <p:cNvPr id="4" name="Rectangle 3"/>
          <p:cNvSpPr/>
          <p:nvPr/>
        </p:nvSpPr>
        <p:spPr>
          <a:xfrm>
            <a:off x="640080" y="4160520"/>
            <a:ext cx="1280160" cy="73152"/>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480560"/>
            <a:ext cx="10911535" cy="1097280"/>
          </a:xfrm>
          <a:prstGeom prst="rect">
            <a:avLst/>
          </a:prstGeom>
          <a:noFill/>
        </p:spPr>
        <p:txBody>
          <a:bodyPr wrap="square" anchor="t" lIns="0" rIns="0" tIns="0" bIns="0">
            <a:spAutoFit/>
          </a:bodyPr>
          <a:lstStyle/>
          <a:p>
            <a:pPr>
              <a:spcAft>
                <a:spcPts val="600"/>
              </a:spcAft>
            </a:pPr>
            <a:r>
              <a:rPr sz="2200" b="0">
                <a:solidFill>
                  <a:srgbClr val="C9D1DE"/>
                </a:solidFill>
                <a:latin typeface="Segoe UI"/>
              </a:rPr>
              <a:t>Read settings from the computer the app runs on, and turn text into real types.</a:t>
            </a:r>
          </a:p>
        </p:txBody>
      </p:sp>
      <p:sp>
        <p:nvSpPr>
          <p:cNvPr id="6" name="TextBox 5"/>
          <p:cNvSpPr txBox="1"/>
          <p:nvPr/>
        </p:nvSpPr>
        <p:spPr>
          <a:xfrm>
            <a:off x="640080" y="6035040"/>
            <a:ext cx="5486400" cy="365760"/>
          </a:xfrm>
          <a:prstGeom prst="rect">
            <a:avLst/>
          </a:prstGeom>
          <a:noFill/>
        </p:spPr>
        <p:txBody>
          <a:bodyPr wrap="square" anchor="t" lIns="0" rIns="0" tIns="0" bIns="0">
            <a:spAutoFit/>
          </a:bodyPr>
          <a:lstStyle/>
          <a:p>
            <a:pPr>
              <a:spcAft>
                <a:spcPts val="600"/>
              </a:spcAft>
            </a:pPr>
            <a:r>
              <a:rPr sz="1400" b="1">
                <a:solidFill>
                  <a:srgbClr val="9AA4B5"/>
                </a:solidFill>
                <a:latin typeface="Segoe UI"/>
              </a:rPr>
              <a:t>Backend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big idea</a:t>
            </a:r>
          </a:p>
        </p:txBody>
      </p:sp>
      <p:sp>
        <p:nvSpPr>
          <p:cNvPr id="6" name="Rounded Rectangle 5"/>
          <p:cNvSpPr/>
          <p:nvPr/>
        </p:nvSpPr>
        <p:spPr>
          <a:xfrm>
            <a:off x="640080" y="1554480"/>
            <a:ext cx="10911535" cy="420624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97135" cy="3840480"/>
          </a:xfrm>
          <a:prstGeom prst="rect">
            <a:avLst/>
          </a:prstGeom>
          <a:noFill/>
        </p:spPr>
        <p:txBody>
          <a:bodyPr wrap="square" anchor="ctr" lIns="0" rIns="0" tIns="0" bIns="0">
            <a:spAutoFit/>
          </a:bodyPr>
          <a:lstStyle/>
          <a:p>
            <a:pPr>
              <a:spcAft>
                <a:spcPts val="1400"/>
              </a:spcAft>
            </a:pPr>
            <a:r>
              <a:rPr sz="2400" b="0">
                <a:solidFill>
                  <a:srgbClr val="1C2330"/>
                </a:solidFill>
                <a:latin typeface="Segoe UI"/>
              </a:rPr>
              <a:t>The same code runs on your laptop and on the real server (</a:t>
            </a:r>
            <a:r>
              <a:rPr sz="2400" b="1">
                <a:solidFill>
                  <a:srgbClr val="1C2330"/>
                </a:solidFill>
                <a:latin typeface="Segoe UI"/>
              </a:rPr>
              <a:t>production</a:t>
            </a:r>
            <a:r>
              <a:rPr sz="2400" b="0">
                <a:solidFill>
                  <a:srgbClr val="1C2330"/>
                </a:solidFill>
                <a:latin typeface="Segoe UI"/>
              </a:rPr>
              <a:t>). Each place needs different </a:t>
            </a:r>
            <a:r>
              <a:rPr sz="2400" b="1">
                <a:solidFill>
                  <a:srgbClr val="1C2330"/>
                </a:solidFill>
                <a:latin typeface="Segoe UI"/>
              </a:rPr>
              <a:t>settings</a:t>
            </a:r>
            <a:r>
              <a:rPr sz="2400" b="0">
                <a:solidFill>
                  <a:srgbClr val="1C2330"/>
                </a:solidFill>
                <a:latin typeface="Segoe UI"/>
              </a:rPr>
              <a:t>: passwords, keys, </a:t>
            </a:r>
            <a:r>
              <a:rPr sz="2400" b="0">
                <a:solidFill>
                  <a:srgbClr val="6A3FC0"/>
                </a:solidFill>
                <a:latin typeface="Consolas"/>
              </a:rPr>
              <a:t>DEBUG</a:t>
            </a:r>
            <a:r>
              <a:rPr sz="2400" b="0">
                <a:solidFill>
                  <a:srgbClr val="1C2330"/>
                </a:solidFill>
                <a:latin typeface="Segoe UI"/>
              </a:rPr>
              <a:t> on or off.</a:t>
            </a:r>
          </a:p>
          <a:p>
            <a:pPr>
              <a:spcAft>
                <a:spcPts val="1400"/>
              </a:spcAft>
            </a:pPr>
            <a:r>
              <a:rPr sz="2400" b="0">
                <a:solidFill>
                  <a:srgbClr val="1C2330"/>
                </a:solidFill>
                <a:latin typeface="Segoe UI"/>
              </a:rPr>
              <a:t>The code is a recipe; </a:t>
            </a:r>
            <a:r>
              <a:rPr sz="2400" b="1">
                <a:solidFill>
                  <a:srgbClr val="1C2330"/>
                </a:solidFill>
                <a:latin typeface="Segoe UI"/>
              </a:rPr>
              <a:t>environment variables</a:t>
            </a:r>
            <a:r>
              <a:rPr sz="2400" b="0">
                <a:solidFill>
                  <a:srgbClr val="1C2330"/>
                </a:solidFill>
                <a:latin typeface="Segoe UI"/>
              </a:rPr>
              <a:t> are the oven dial in each kitchen. The catch: they are </a:t>
            </a:r>
            <a:r>
              <a:rPr sz="2400" b="1">
                <a:solidFill>
                  <a:srgbClr val="1C2330"/>
                </a:solidFill>
                <a:latin typeface="Segoe UI"/>
              </a:rPr>
              <a:t>always text</a:t>
            </a:r>
            <a:r>
              <a:rPr sz="2400" b="0">
                <a:solidFill>
                  <a:srgbClr val="1C2330"/>
                </a:solidFill>
                <a:latin typeface="Segoe UI"/>
              </a:rPr>
              <a:t>, so </a:t>
            </a:r>
            <a:r>
              <a:rPr sz="2400" b="0">
                <a:solidFill>
                  <a:srgbClr val="6A3FC0"/>
                </a:solidFill>
                <a:latin typeface="Consolas"/>
              </a:rPr>
              <a:t>DEBUG=False</a:t>
            </a:r>
            <a:r>
              <a:rPr sz="2400" b="0">
                <a:solidFill>
                  <a:srgbClr val="1C2330"/>
                </a:solidFill>
                <a:latin typeface="Segoe UI"/>
              </a:rPr>
              <a:t> arrives as the string </a:t>
            </a:r>
            <a:r>
              <a:rPr sz="2400" b="0">
                <a:solidFill>
                  <a:srgbClr val="6A3FC0"/>
                </a:solidFill>
                <a:latin typeface="Consolas"/>
              </a:rPr>
              <a:t>"False"</a:t>
            </a:r>
            <a:r>
              <a:rPr sz="2400" b="0">
                <a:solidFill>
                  <a:srgbClr val="1C2330"/>
                </a:solidFill>
                <a:latin typeface="Segoe U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What your code receives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tests set a variable for a moment, then pass its </a:t>
            </a:r>
            <a:r>
              <a:rPr sz="2000" b="1">
                <a:solidFill>
                  <a:srgbClr val="1C2330"/>
                </a:solidFill>
                <a:latin typeface="Segoe UI"/>
              </a:rPr>
              <a:t>name</a:t>
            </a:r>
            <a:r>
              <a:rPr sz="2000" b="0">
                <a:solidFill>
                  <a:srgbClr val="1C2330"/>
                </a:solidFill>
                <a:latin typeface="Segoe UI"/>
              </a:rPr>
              <a:t> to your function.</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600">
                <a:solidFill>
                  <a:srgbClr val="6A9955"/>
                </a:solidFill>
                <a:latin typeface="Consolas"/>
              </a:rPr>
              <a:t># 1. The test sets a variable (always text!)</a:t>
            </a:r>
          </a:p>
          <a:p>
            <a:pPr>
              <a:lnSpc>
                <a:spcPct val="110000"/>
              </a:lnSpc>
            </a:pPr>
            <a:r>
              <a:rPr sz="1600">
                <a:solidFill>
                  <a:srgbClr val="9CDCFE"/>
                </a:solidFill>
                <a:latin typeface="Consolas"/>
              </a:rPr>
              <a:t>os</a:t>
            </a:r>
            <a:r>
              <a:rPr sz="1600">
                <a:solidFill>
                  <a:srgbClr val="D4D4D4"/>
                </a:solidFill>
                <a:latin typeface="Consolas"/>
              </a:rPr>
              <a:t>.</a:t>
            </a:r>
            <a:r>
              <a:rPr sz="1600">
                <a:solidFill>
                  <a:srgbClr val="9CDCFE"/>
                </a:solidFill>
                <a:latin typeface="Consolas"/>
              </a:rPr>
              <a:t>environ</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APP_PORT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 8000 </a:t>
            </a:r>
            <a:r>
              <a:rPr sz="1600">
                <a:solidFill>
                  <a:srgbClr val="CE9178"/>
                </a:solidFill>
                <a:latin typeface="Consolas"/>
              </a:rPr>
              <a:t>"</a:t>
            </a:r>
          </a:p>
          <a:p>
            <a:pPr>
              <a:lnSpc>
                <a:spcPct val="110000"/>
              </a:lnSpc>
            </a:pPr>
            <a:r>
              <a:rPr sz="1600">
                <a:solidFill>
                  <a:srgbClr val="6A9955"/>
                </a:solidFill>
                <a:latin typeface="Consolas"/>
              </a:rPr>
              <a:t># 2. It calls your function with the variable's NAME</a:t>
            </a:r>
          </a:p>
          <a:p>
            <a:pPr>
              <a:lnSpc>
                <a:spcPct val="110000"/>
              </a:lnSpc>
            </a:pPr>
            <a:r>
              <a:rPr sz="1600">
                <a:solidFill>
                  <a:srgbClr val="9CDCFE"/>
                </a:solidFill>
                <a:latin typeface="Consolas"/>
              </a:rPr>
              <a:t>env_int</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APP_PORT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80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must return 8000, a number</a:t>
            </a:r>
          </a:p>
          <a:p>
            <a:pPr>
              <a:lnSpc>
                <a:spcPct val="110000"/>
              </a:lnSpc>
            </a:pPr>
          </a:p>
          <a:p>
            <a:pPr>
              <a:lnSpc>
                <a:spcPct val="110000"/>
              </a:lnSpc>
            </a:pPr>
            <a:r>
              <a:rPr sz="1600">
                <a:solidFill>
                  <a:srgbClr val="6A9955"/>
                </a:solidFill>
                <a:latin typeface="Consolas"/>
              </a:rPr>
              <a:t># More calls from the tests, and what they expect:</a:t>
            </a:r>
          </a:p>
          <a:p>
            <a:pPr>
              <a:lnSpc>
                <a:spcPct val="110000"/>
              </a:lnSpc>
            </a:pPr>
            <a:r>
              <a:rPr sz="1600">
                <a:solidFill>
                  <a:srgbClr val="9CDCFE"/>
                </a:solidFill>
                <a:latin typeface="Consolas"/>
              </a:rPr>
              <a:t>env_str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APP_NAME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fallback</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not set -&gt; "fallback"</a:t>
            </a:r>
          </a:p>
          <a:p>
            <a:pPr>
              <a:lnSpc>
                <a:spcPct val="110000"/>
              </a:lnSpc>
            </a:pPr>
            <a:r>
              <a:rPr sz="1600">
                <a:solidFill>
                  <a:srgbClr val="9CDCFE"/>
                </a:solidFill>
                <a:latin typeface="Consolas"/>
              </a:rPr>
              <a:t>env_str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APP_NAME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not set -&gt; ImproperlyConfigured</a:t>
            </a:r>
          </a:p>
          <a:p>
            <a:pPr>
              <a:lnSpc>
                <a:spcPct val="110000"/>
              </a:lnSpc>
            </a:pPr>
            <a:r>
              <a:rPr sz="1600">
                <a:solidFill>
                  <a:srgbClr val="9CDCFE"/>
                </a:solidFill>
                <a:latin typeface="Consolas"/>
              </a:rPr>
              <a:t>env_bool</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APP_DEBUG</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default</a:t>
            </a:r>
            <a:r>
              <a:rPr sz="1600">
                <a:solidFill>
                  <a:srgbClr val="D4D4D4"/>
                </a:solidFill>
                <a:latin typeface="Consolas"/>
              </a:rPr>
              <a:t>=</a:t>
            </a:r>
            <a:r>
              <a:rPr sz="1600">
                <a:solidFill>
                  <a:srgbClr val="C586C0"/>
                </a:solidFill>
                <a:latin typeface="Consolas"/>
              </a:rPr>
              <a:t>True</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 OFF " -&gt; False</a:t>
            </a:r>
          </a:p>
          <a:p>
            <a:pPr>
              <a:lnSpc>
                <a:spcPct val="110000"/>
              </a:lnSpc>
            </a:pPr>
            <a:r>
              <a:rPr sz="1600">
                <a:solidFill>
                  <a:srgbClr val="9CDCFE"/>
                </a:solidFill>
                <a:latin typeface="Consolas"/>
              </a:rPr>
              <a:t>env_bool</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APP_DEBUG</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"maybe" -&gt; ImproperlyConfigured</a:t>
            </a:r>
          </a:p>
          <a:p>
            <a:pPr>
              <a:lnSpc>
                <a:spcPct val="110000"/>
              </a:lnSpc>
            </a:pPr>
            <a:r>
              <a:rPr sz="1600">
                <a:solidFill>
                  <a:srgbClr val="9CDCFE"/>
                </a:solidFill>
                <a:latin typeface="Consolas"/>
              </a:rPr>
              <a:t>env_list</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APP_HOSTS</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 localhost, 127.0.0.1 ,,example.com, "</a:t>
            </a:r>
          </a:p>
          <a:p>
            <a:pPr>
              <a:lnSpc>
                <a:spcPct val="110000"/>
              </a:lnSpc>
            </a:pPr>
            <a:r>
              <a:rPr sz="1600">
                <a:solidFill>
                  <a:srgbClr val="D4D4D4"/>
                </a:solidFill>
                <a:latin typeface="Consolas"/>
              </a:rPr>
              <a:t>                       </a:t>
            </a:r>
            <a:r>
              <a:rPr sz="1600">
                <a:solidFill>
                  <a:srgbClr val="6A9955"/>
                </a:solidFill>
                <a:latin typeface="Consolas"/>
              </a:rPr>
              <a:t># -&gt; ["localhost", "127.0.0.1", "example.com"]</a:t>
            </a:r>
          </a:p>
          <a:p>
            <a:pPr>
              <a:lnSpc>
                <a:spcPct val="110000"/>
              </a:lnSpc>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New words</a:t>
            </a:r>
          </a:p>
        </p:txBody>
      </p:sp>
      <p:sp>
        <p:nvSpPr>
          <p:cNvPr id="6" name="TextBox 5"/>
          <p:cNvSpPr txBox="1"/>
          <p:nvPr/>
        </p:nvSpPr>
        <p:spPr>
          <a:xfrm>
            <a:off x="640080" y="150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environment variable</a:t>
            </a:r>
          </a:p>
        </p:txBody>
      </p:sp>
      <p:sp>
        <p:nvSpPr>
          <p:cNvPr id="7" name="TextBox 6"/>
          <p:cNvSpPr txBox="1"/>
          <p:nvPr/>
        </p:nvSpPr>
        <p:spPr>
          <a:xfrm>
            <a:off x="3840480" y="150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a:t>
            </a:r>
            <a:r>
              <a:rPr sz="1900" b="0">
                <a:solidFill>
                  <a:srgbClr val="6A3FC0"/>
                </a:solidFill>
                <a:latin typeface="Consolas"/>
              </a:rPr>
              <a:t>NAME=value</a:t>
            </a:r>
            <a:r>
              <a:rPr sz="1900" b="0">
                <a:solidFill>
                  <a:srgbClr val="1C2330"/>
                </a:solidFill>
                <a:latin typeface="Segoe UI"/>
              </a:rPr>
              <a:t> setting that lives outside your code.</a:t>
            </a:r>
          </a:p>
        </p:txBody>
      </p:sp>
      <p:sp>
        <p:nvSpPr>
          <p:cNvPr id="8" name="TextBox 7"/>
          <p:cNvSpPr txBox="1"/>
          <p:nvPr/>
        </p:nvSpPr>
        <p:spPr>
          <a:xfrm>
            <a:off x="640080" y="2270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production</a:t>
            </a:r>
          </a:p>
        </p:txBody>
      </p:sp>
      <p:sp>
        <p:nvSpPr>
          <p:cNvPr id="9" name="TextBox 8"/>
          <p:cNvSpPr txBox="1"/>
          <p:nvPr/>
        </p:nvSpPr>
        <p:spPr>
          <a:xfrm>
            <a:off x="3840480" y="2270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real server real users use. Mistakes here hurt.</a:t>
            </a:r>
          </a:p>
        </p:txBody>
      </p:sp>
      <p:cxnSp>
        <p:nvCxnSpPr>
          <p:cNvPr id="10" name="Connector 9"/>
          <p:cNvCxnSpPr/>
          <p:nvPr/>
        </p:nvCxnSpPr>
        <p:spPr>
          <a:xfrm>
            <a:off x="640080" y="2270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032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Consolas"/>
              </a:rPr>
              <a:t>os.environ</a:t>
            </a:r>
          </a:p>
        </p:txBody>
      </p:sp>
      <p:sp>
        <p:nvSpPr>
          <p:cNvPr id="12" name="TextBox 11"/>
          <p:cNvSpPr txBox="1"/>
          <p:nvPr/>
        </p:nvSpPr>
        <p:spPr>
          <a:xfrm>
            <a:off x="3840480" y="3032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Python's view of all environment variables: a dict of strings.</a:t>
            </a:r>
          </a:p>
        </p:txBody>
      </p:sp>
      <p:cxnSp>
        <p:nvCxnSpPr>
          <p:cNvPr id="13" name="Connector 12"/>
          <p:cNvCxnSpPr/>
          <p:nvPr/>
        </p:nvCxnSpPr>
        <p:spPr>
          <a:xfrm>
            <a:off x="640080" y="3032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794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truthy</a:t>
            </a:r>
          </a:p>
        </p:txBody>
      </p:sp>
      <p:sp>
        <p:nvSpPr>
          <p:cNvPr id="15" name="TextBox 14"/>
          <p:cNvSpPr txBox="1"/>
          <p:nvPr/>
        </p:nvSpPr>
        <p:spPr>
          <a:xfrm>
            <a:off x="3840480" y="3794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What </a:t>
            </a:r>
            <a:r>
              <a:rPr sz="1900" b="0">
                <a:solidFill>
                  <a:srgbClr val="6A3FC0"/>
                </a:solidFill>
                <a:latin typeface="Consolas"/>
              </a:rPr>
              <a:t>if</a:t>
            </a:r>
            <a:r>
              <a:rPr sz="1900" b="0">
                <a:solidFill>
                  <a:srgbClr val="1C2330"/>
                </a:solidFill>
                <a:latin typeface="Segoe UI"/>
              </a:rPr>
              <a:t> treats as true: every non-empty string, even </a:t>
            </a:r>
            <a:r>
              <a:rPr sz="1900" b="0">
                <a:solidFill>
                  <a:srgbClr val="6A3FC0"/>
                </a:solidFill>
                <a:latin typeface="Consolas"/>
              </a:rPr>
              <a:t>"False"</a:t>
            </a:r>
            <a:r>
              <a:rPr sz="1900" b="0">
                <a:solidFill>
                  <a:srgbClr val="1C2330"/>
                </a:solidFill>
                <a:latin typeface="Segoe UI"/>
              </a:rPr>
              <a:t>.</a:t>
            </a:r>
          </a:p>
        </p:txBody>
      </p:sp>
      <p:cxnSp>
        <p:nvCxnSpPr>
          <p:cNvPr id="16" name="Connector 15"/>
          <p:cNvCxnSpPr/>
          <p:nvPr/>
        </p:nvCxnSpPr>
        <p:spPr>
          <a:xfrm>
            <a:off x="640080" y="3794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556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default</a:t>
            </a:r>
          </a:p>
        </p:txBody>
      </p:sp>
      <p:sp>
        <p:nvSpPr>
          <p:cNvPr id="18" name="TextBox 17"/>
          <p:cNvSpPr txBox="1"/>
          <p:nvPr/>
        </p:nvSpPr>
        <p:spPr>
          <a:xfrm>
            <a:off x="3840480" y="4556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value to use when the variable isn't set.</a:t>
            </a:r>
          </a:p>
        </p:txBody>
      </p:sp>
      <p:cxnSp>
        <p:nvCxnSpPr>
          <p:cNvPr id="19" name="Connector 18"/>
          <p:cNvCxnSpPr/>
          <p:nvPr/>
        </p:nvCxnSpPr>
        <p:spPr>
          <a:xfrm>
            <a:off x="640080" y="4556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31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raise</a:t>
            </a:r>
          </a:p>
        </p:txBody>
      </p:sp>
      <p:sp>
        <p:nvSpPr>
          <p:cNvPr id="21" name="TextBox 20"/>
          <p:cNvSpPr txBox="1"/>
          <p:nvPr/>
        </p:nvSpPr>
        <p:spPr>
          <a:xfrm>
            <a:off x="3840480" y="531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Stop the function right away with an error.</a:t>
            </a:r>
          </a:p>
        </p:txBody>
      </p:sp>
      <p:cxnSp>
        <p:nvCxnSpPr>
          <p:cNvPr id="22" name="Connector 21"/>
          <p:cNvCxnSpPr/>
          <p:nvPr/>
        </p:nvCxnSpPr>
        <p:spPr>
          <a:xfrm>
            <a:off x="640080" y="5318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os.environ.get(name)</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A </a:t>
            </a:r>
            <a:r>
              <a:rPr sz="2000" b="1">
                <a:solidFill>
                  <a:srgbClr val="1C2330"/>
                </a:solidFill>
                <a:latin typeface="Segoe UI"/>
              </a:rPr>
              <a:t>method</a:t>
            </a:r>
            <a:r>
              <a:rPr sz="2000" b="0">
                <a:solidFill>
                  <a:srgbClr val="1C2330"/>
                </a:solidFill>
                <a:latin typeface="Segoe UI"/>
              </a:rPr>
              <a:t> on </a:t>
            </a:r>
            <a:r>
              <a:rPr sz="2000" b="0">
                <a:solidFill>
                  <a:srgbClr val="6A3FC0"/>
                </a:solidFill>
                <a:latin typeface="Consolas"/>
              </a:rPr>
              <a:t>os.environ</a:t>
            </a:r>
            <a:r>
              <a:rPr sz="2000" b="0">
                <a:solidFill>
                  <a:srgbClr val="1C2330"/>
                </a:solidFill>
                <a:latin typeface="Segoe UI"/>
              </a:rPr>
              <a:t>: gives the value as a </a:t>
            </a:r>
            <a:r>
              <a:rPr sz="2000" b="1">
                <a:solidFill>
                  <a:srgbClr val="1C2330"/>
                </a:solidFill>
                <a:latin typeface="Segoe UI"/>
              </a:rPr>
              <a:t>string</a:t>
            </a:r>
            <a:r>
              <a:rPr sz="2000" b="0">
                <a:solidFill>
                  <a:srgbClr val="1C2330"/>
                </a:solidFill>
                <a:latin typeface="Segoe UI"/>
              </a:rPr>
              <a:t>, or </a:t>
            </a:r>
            <a:r>
              <a:rPr sz="2000" b="0">
                <a:solidFill>
                  <a:srgbClr val="6A3FC0"/>
                </a:solidFill>
                <a:latin typeface="Consolas"/>
              </a:rPr>
              <a:t>None</a:t>
            </a:r>
            <a:r>
              <a:rPr sz="2000" b="0">
                <a:solidFill>
                  <a:srgbClr val="1C2330"/>
                </a:solidFill>
                <a:latin typeface="Segoe UI"/>
              </a:rPr>
              <a:t> if it isn't set.</a:t>
            </a:r>
          </a:p>
        </p:txBody>
      </p:sp>
      <p:sp>
        <p:nvSpPr>
          <p:cNvPr id="7" name="Rounded Rectangle 6"/>
          <p:cNvSpPr/>
          <p:nvPr/>
        </p:nvSpPr>
        <p:spPr>
          <a:xfrm>
            <a:off x="640080" y="2331720"/>
            <a:ext cx="10911535" cy="256946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203704"/>
          </a:xfrm>
          <a:prstGeom prst="rect">
            <a:avLst/>
          </a:prstGeom>
          <a:noFill/>
        </p:spPr>
        <p:txBody>
          <a:bodyPr wrap="square" anchor="t" lIns="0" rIns="0" tIns="0" bIns="0">
            <a:spAutoFit/>
          </a:bodyPr>
          <a:lstStyle/>
          <a:p>
            <a:pPr>
              <a:lnSpc>
                <a:spcPct val="110000"/>
              </a:lnSpc>
            </a:pPr>
            <a:r>
              <a:rPr sz="1800">
                <a:solidFill>
                  <a:srgbClr val="C586C0"/>
                </a:solidFill>
                <a:latin typeface="Consolas"/>
              </a:rPr>
              <a:t>import</a:t>
            </a:r>
            <a:r>
              <a:rPr sz="1800">
                <a:solidFill>
                  <a:srgbClr val="D4D4D4"/>
                </a:solidFill>
                <a:latin typeface="Consolas"/>
              </a:rPr>
              <a:t> </a:t>
            </a:r>
            <a:r>
              <a:rPr sz="1800">
                <a:solidFill>
                  <a:srgbClr val="9CDCFE"/>
                </a:solidFill>
                <a:latin typeface="Consolas"/>
              </a:rPr>
              <a:t>os</a:t>
            </a:r>
          </a:p>
          <a:p>
            <a:pPr>
              <a:lnSpc>
                <a:spcPct val="110000"/>
              </a:lnSpc>
            </a:pPr>
          </a:p>
          <a:p>
            <a:pPr>
              <a:lnSpc>
                <a:spcPct val="110000"/>
              </a:lnSpc>
            </a:pPr>
            <a:r>
              <a:rPr sz="1800">
                <a:solidFill>
                  <a:srgbClr val="9CDCFE"/>
                </a:solidFill>
                <a:latin typeface="Consolas"/>
              </a:rPr>
              <a:t>os</a:t>
            </a:r>
            <a:r>
              <a:rPr sz="1800">
                <a:solidFill>
                  <a:srgbClr val="D4D4D4"/>
                </a:solidFill>
                <a:latin typeface="Consolas"/>
              </a:rPr>
              <a:t>.</a:t>
            </a:r>
            <a:r>
              <a:rPr sz="1800">
                <a:solidFill>
                  <a:srgbClr val="9CDCFE"/>
                </a:solidFill>
                <a:latin typeface="Consolas"/>
              </a:rPr>
              <a:t>environ</a:t>
            </a:r>
            <a:r>
              <a:rPr sz="1800">
                <a:solidFill>
                  <a:srgbClr val="D4D4D4"/>
                </a:solidFill>
                <a:latin typeface="Consolas"/>
              </a:rPr>
              <a:t>[</a:t>
            </a:r>
            <a:r>
              <a:rPr sz="1800">
                <a:solidFill>
                  <a:srgbClr val="CE9178"/>
                </a:solidFill>
                <a:latin typeface="Consolas"/>
              </a:rPr>
              <a:t>"</a:t>
            </a:r>
            <a:r>
              <a:rPr sz="1800">
                <a:solidFill>
                  <a:srgbClr val="CE9178"/>
                </a:solidFill>
                <a:latin typeface="Consolas"/>
              </a:rPr>
              <a:t>MY_COLOUR</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 Blue </a:t>
            </a:r>
            <a:r>
              <a:rPr sz="1800">
                <a:solidFill>
                  <a:srgbClr val="CE9178"/>
                </a:solidFill>
                <a:latin typeface="Consolas"/>
              </a:rPr>
              <a:t>"</a:t>
            </a:r>
            <a:r>
              <a:rPr sz="1800">
                <a:solidFill>
                  <a:srgbClr val="D4D4D4"/>
                </a:solidFill>
                <a:latin typeface="Consolas"/>
              </a:rPr>
              <a:t>      </a:t>
            </a:r>
            <a:r>
              <a:rPr sz="1800">
                <a:solidFill>
                  <a:srgbClr val="6A9955"/>
                </a:solidFill>
                <a:latin typeface="Consolas"/>
              </a:rPr>
              <a:t># set one, just to try it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repr</a:t>
            </a:r>
            <a:r>
              <a:rPr sz="1800">
                <a:solidFill>
                  <a:srgbClr val="D4D4D4"/>
                </a:solidFill>
                <a:latin typeface="Consolas"/>
              </a:rPr>
              <a:t>(</a:t>
            </a:r>
            <a:r>
              <a:rPr sz="1800">
                <a:solidFill>
                  <a:srgbClr val="9CDCFE"/>
                </a:solidFill>
                <a:latin typeface="Consolas"/>
              </a:rPr>
              <a:t>os</a:t>
            </a:r>
            <a:r>
              <a:rPr sz="1800">
                <a:solidFill>
                  <a:srgbClr val="D4D4D4"/>
                </a:solidFill>
                <a:latin typeface="Consolas"/>
              </a:rPr>
              <a:t>.</a:t>
            </a:r>
            <a:r>
              <a:rPr sz="1800">
                <a:solidFill>
                  <a:srgbClr val="9CDCFE"/>
                </a:solidFill>
                <a:latin typeface="Consolas"/>
              </a:rPr>
              <a:t>environ</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MY_COLOUR</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os</a:t>
            </a:r>
            <a:r>
              <a:rPr sz="1800">
                <a:solidFill>
                  <a:srgbClr val="D4D4D4"/>
                </a:solidFill>
                <a:latin typeface="Consolas"/>
              </a:rPr>
              <a:t>.</a:t>
            </a:r>
            <a:r>
              <a:rPr sz="1800">
                <a:solidFill>
                  <a:srgbClr val="9CDCFE"/>
                </a:solidFill>
                <a:latin typeface="Consolas"/>
              </a:rPr>
              <a:t>environ</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NOT_SET_AT_ALL</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t>
            </a:r>
            <a:r>
              <a:rPr sz="1800">
                <a:solidFill>
                  <a:srgbClr val="D4D4D4"/>
                </a:solidFill>
                <a:latin typeface="Consolas"/>
              </a:rPr>
              <a:t> Blue </a:t>
            </a:r>
            <a:r>
              <a:rPr sz="1800">
                <a:solidFill>
                  <a:srgbClr val="D4D4D4"/>
                </a:solidFill>
                <a:latin typeface="Consolas"/>
              </a:rPr>
              <a:t>'</a:t>
            </a:r>
          </a:p>
          <a:p>
            <a:pPr>
              <a:lnSpc>
                <a:spcPct val="110000"/>
              </a:lnSpc>
            </a:pPr>
            <a:r>
              <a:rPr sz="1800">
                <a:solidFill>
                  <a:srgbClr val="D4D4D4"/>
                </a:solidFill>
                <a:latin typeface="Consolas"/>
              </a:rPr>
              <a:t>None</a:t>
            </a:r>
          </a:p>
          <a:p>
            <a:pPr>
              <a:lnSpc>
                <a:spcPct val="110000"/>
              </a:lnSpc>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Why "False" is truthy</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Only the empty string is false, so </a:t>
            </a:r>
            <a:r>
              <a:rPr sz="2000" b="0">
                <a:solidFill>
                  <a:srgbClr val="6A3FC0"/>
                </a:solidFill>
                <a:latin typeface="Consolas"/>
              </a:rPr>
              <a:t>bool(...)</a:t>
            </a:r>
            <a:r>
              <a:rPr sz="2000" b="0">
                <a:solidFill>
                  <a:srgbClr val="1C2330"/>
                </a:solidFill>
                <a:latin typeface="Segoe UI"/>
              </a:rPr>
              <a:t> can't read settings.</a:t>
            </a:r>
          </a:p>
        </p:txBody>
      </p:sp>
      <p:sp>
        <p:nvSpPr>
          <p:cNvPr id="7" name="Rounded Rectangle 6"/>
          <p:cNvSpPr/>
          <p:nvPr/>
        </p:nvSpPr>
        <p:spPr>
          <a:xfrm>
            <a:off x="640080" y="2331720"/>
            <a:ext cx="10911535" cy="2276856"/>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1911096"/>
          </a:xfrm>
          <a:prstGeom prst="rect">
            <a:avLst/>
          </a:prstGeom>
          <a:noFill/>
        </p:spPr>
        <p:txBody>
          <a:bodyPr wrap="square" anchor="t" lIns="0" rIns="0" tIns="0" bIns="0">
            <a:spAutoFit/>
          </a:bodyPr>
          <a:lstStyle/>
          <a:p>
            <a:pPr>
              <a:lnSpc>
                <a:spcPct val="110000"/>
              </a:lnSpc>
            </a:pP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bool</a:t>
            </a:r>
            <a:r>
              <a:rPr sz="1800">
                <a:solidFill>
                  <a:srgbClr val="D4D4D4"/>
                </a:solidFill>
                <a:latin typeface="Consolas"/>
              </a:rPr>
              <a:t>(</a:t>
            </a:r>
            <a:r>
              <a:rPr sz="1800">
                <a:solidFill>
                  <a:srgbClr val="CE9178"/>
                </a:solidFill>
                <a:latin typeface="Consolas"/>
              </a:rPr>
              <a:t>"</a:t>
            </a:r>
            <a:r>
              <a:rPr sz="1800">
                <a:solidFill>
                  <a:srgbClr val="CE9178"/>
                </a:solidFill>
                <a:latin typeface="Consolas"/>
              </a:rPr>
              <a:t>False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the classic bug</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bool</a:t>
            </a:r>
            <a:r>
              <a:rPr sz="1800">
                <a:solidFill>
                  <a:srgbClr val="D4D4D4"/>
                </a:solidFill>
                <a:latin typeface="Consolas"/>
              </a:rPr>
              <a:t>(</a:t>
            </a:r>
            <a:r>
              <a:rPr sz="1800">
                <a:solidFill>
                  <a:srgbClr val="CE9178"/>
                </a:solidFill>
                <a:latin typeface="Consolas"/>
              </a:rPr>
              <a:t>"</a:t>
            </a:r>
            <a:r>
              <a:rPr sz="1800">
                <a:solidFill>
                  <a:srgbClr val="CE9178"/>
                </a:solidFill>
                <a:latin typeface="Consolas"/>
              </a:rPr>
              <a:t>0</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bool</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4791456"/>
            <a:ext cx="10911535" cy="1380744"/>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92624"/>
            <a:ext cx="10362895" cy="1014984"/>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True</a:t>
            </a:r>
          </a:p>
          <a:p>
            <a:pPr>
              <a:lnSpc>
                <a:spcPct val="110000"/>
              </a:lnSpc>
            </a:pPr>
            <a:r>
              <a:rPr sz="1800">
                <a:solidFill>
                  <a:srgbClr val="D4D4D4"/>
                </a:solidFill>
                <a:latin typeface="Consolas"/>
              </a:rPr>
              <a:t>True</a:t>
            </a:r>
          </a:p>
          <a:p>
            <a:pPr>
              <a:lnSpc>
                <a:spcPct val="110000"/>
              </a:lnSpc>
            </a:pPr>
            <a:r>
              <a:rPr sz="1800">
                <a:solidFill>
                  <a:srgbClr val="D4D4D4"/>
                </a:solidFill>
                <a:latin typeface="Consolas"/>
              </a:rPr>
              <a:t>False</a:t>
            </a:r>
          </a:p>
          <a:p>
            <a:pPr>
              <a:lnSpc>
                <a:spcPct val="110000"/>
              </a:lnSpc>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7</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Tools: is None, .strip() and in {...}</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Check "missing or blank" first, then compare the cleaned word against a </a:t>
            </a:r>
            <a:r>
              <a:rPr sz="2000" b="1">
                <a:solidFill>
                  <a:srgbClr val="1C2330"/>
                </a:solidFill>
                <a:latin typeface="Segoe UI"/>
              </a:rPr>
              <a:t>set</a:t>
            </a:r>
            <a:r>
              <a:rPr sz="2000" b="0">
                <a:solidFill>
                  <a:srgbClr val="1C2330"/>
                </a:solidFill>
                <a:latin typeface="Segoe UI"/>
              </a:rPr>
              <a:t>.</a:t>
            </a:r>
          </a:p>
        </p:txBody>
      </p:sp>
      <p:sp>
        <p:nvSpPr>
          <p:cNvPr id="7" name="Rounded Rectangle 6"/>
          <p:cNvSpPr/>
          <p:nvPr/>
        </p:nvSpPr>
        <p:spPr>
          <a:xfrm>
            <a:off x="640080" y="2331720"/>
            <a:ext cx="10911535" cy="256946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203704"/>
          </a:xfrm>
          <a:prstGeom prst="rect">
            <a:avLst/>
          </a:prstGeom>
          <a:noFill/>
        </p:spPr>
        <p:txBody>
          <a:bodyPr wrap="square" anchor="t" lIns="0" rIns="0" tIns="0" bIns="0">
            <a:spAutoFit/>
          </a:bodyPr>
          <a:lstStyle/>
          <a:p>
            <a:pPr>
              <a:lnSpc>
                <a:spcPct val="110000"/>
              </a:lnSpc>
            </a:pPr>
            <a:r>
              <a:rPr sz="1800">
                <a:solidFill>
                  <a:srgbClr val="9CDCFE"/>
                </a:solidFill>
                <a:latin typeface="Consolas"/>
              </a:rPr>
              <a:t>value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   </a:t>
            </a:r>
            <a:r>
              <a:rPr sz="1800">
                <a:solidFill>
                  <a:srgbClr val="CE9178"/>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value</a:t>
            </a:r>
            <a:r>
              <a:rPr sz="1800">
                <a:solidFill>
                  <a:srgbClr val="D4D4D4"/>
                </a:solidFill>
                <a:latin typeface="Consolas"/>
              </a:rPr>
              <a:t> </a:t>
            </a:r>
            <a:r>
              <a:rPr sz="1800">
                <a:solidFill>
                  <a:srgbClr val="C586C0"/>
                </a:solidFill>
                <a:latin typeface="Consolas"/>
              </a:rPr>
              <a:t>is</a:t>
            </a:r>
            <a:r>
              <a:rPr sz="1800">
                <a:solidFill>
                  <a:srgbClr val="D4D4D4"/>
                </a:solidFill>
                <a:latin typeface="Consolas"/>
              </a:rPr>
              <a:t> </a:t>
            </a:r>
            <a:r>
              <a:rPr sz="1800">
                <a:solidFill>
                  <a:srgbClr val="C586C0"/>
                </a:solidFill>
                <a:latin typeface="Consolas"/>
              </a:rPr>
              <a:t>None</a:t>
            </a:r>
            <a:r>
              <a:rPr sz="1800">
                <a:solidFill>
                  <a:srgbClr val="D4D4D4"/>
                </a:solidFill>
                <a:latin typeface="Consolas"/>
              </a:rPr>
              <a:t> </a:t>
            </a:r>
            <a:r>
              <a:rPr sz="1800">
                <a:solidFill>
                  <a:srgbClr val="C586C0"/>
                </a:solidFill>
                <a:latin typeface="Consolas"/>
              </a:rPr>
              <a:t>or</a:t>
            </a:r>
            <a:r>
              <a:rPr sz="1800">
                <a:solidFill>
                  <a:srgbClr val="D4D4D4"/>
                </a:solidFill>
                <a:latin typeface="Consolas"/>
              </a:rPr>
              <a:t> </a:t>
            </a:r>
            <a:r>
              <a:rPr sz="1800">
                <a:solidFill>
                  <a:srgbClr val="C586C0"/>
                </a:solidFill>
                <a:latin typeface="Consolas"/>
              </a:rPr>
              <a:t>not</a:t>
            </a:r>
            <a:r>
              <a:rPr sz="1800">
                <a:solidFill>
                  <a:srgbClr val="D4D4D4"/>
                </a:solidFill>
                <a:latin typeface="Consolas"/>
              </a:rPr>
              <a:t> </a:t>
            </a:r>
            <a:r>
              <a:rPr sz="1800">
                <a:solidFill>
                  <a:srgbClr val="9CDCFE"/>
                </a:solidFill>
                <a:latin typeface="Consolas"/>
              </a:rPr>
              <a:t>value</a:t>
            </a:r>
            <a:r>
              <a:rPr sz="1800">
                <a:solidFill>
                  <a:srgbClr val="D4D4D4"/>
                </a:solidFill>
                <a:latin typeface="Consolas"/>
              </a:rPr>
              <a:t>.</a:t>
            </a:r>
            <a:r>
              <a:rPr sz="1800">
                <a:solidFill>
                  <a:srgbClr val="9CDCFE"/>
                </a:solidFill>
                <a:latin typeface="Consolas"/>
              </a:rPr>
              <a:t>strip</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blank: use the default</a:t>
            </a:r>
          </a:p>
          <a:p>
            <a:pPr>
              <a:lnSpc>
                <a:spcPct val="110000"/>
              </a:lnSpc>
            </a:pPr>
          </a:p>
          <a:p>
            <a:pPr>
              <a:lnSpc>
                <a:spcPct val="110000"/>
              </a:lnSpc>
            </a:pPr>
            <a:r>
              <a:rPr sz="1800">
                <a:solidFill>
                  <a:srgbClr val="9CDCFE"/>
                </a:solidFill>
                <a:latin typeface="Consolas"/>
              </a:rPr>
              <a:t>SIZES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small</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medium</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large</a:t>
            </a:r>
            <a:r>
              <a:rPr sz="1800">
                <a:solidFill>
                  <a:srgbClr val="CE9178"/>
                </a:solidFill>
                <a:latin typeface="Consolas"/>
              </a:rPr>
              <a:t>"</a:t>
            </a:r>
            <a:r>
              <a:rPr sz="1800">
                <a:solidFill>
                  <a:srgbClr val="D4D4D4"/>
                </a:solidFill>
                <a:latin typeface="Consolas"/>
              </a:rPr>
              <a:t>}</a:t>
            </a:r>
          </a:p>
          <a:p>
            <a:pPr>
              <a:lnSpc>
                <a:spcPct val="110000"/>
              </a:lnSpc>
            </a:pPr>
            <a:r>
              <a:rPr sz="1800">
                <a:solidFill>
                  <a:srgbClr val="9CDCFE"/>
                </a:solidFill>
                <a:latin typeface="Consolas"/>
              </a:rPr>
              <a:t>answer</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 Medium </a:t>
            </a:r>
            <a:r>
              <a:rPr sz="1800">
                <a:solidFill>
                  <a:srgbClr val="CE9178"/>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answer</a:t>
            </a:r>
            <a:r>
              <a:rPr sz="1800">
                <a:solidFill>
                  <a:srgbClr val="D4D4D4"/>
                </a:solidFill>
                <a:latin typeface="Consolas"/>
              </a:rPr>
              <a:t>.</a:t>
            </a:r>
            <a:r>
              <a:rPr sz="1800">
                <a:solidFill>
                  <a:srgbClr val="9CDCFE"/>
                </a:solidFill>
                <a:latin typeface="Consolas"/>
              </a:rPr>
              <a:t>strip</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9CDCFE"/>
                </a:solidFill>
                <a:latin typeface="Consolas"/>
              </a:rPr>
              <a:t>lower</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SIZES</a:t>
            </a:r>
            <a:r>
              <a:rPr sz="1800">
                <a:solidFill>
                  <a:srgbClr val="D4D4D4"/>
                </a:solidFill>
                <a:latin typeface="Consolas"/>
              </a:rPr>
              <a:t>)</a:t>
            </a:r>
          </a:p>
          <a:p>
            <a:pPr>
              <a:lnSpc>
                <a:spcPct val="110000"/>
              </a:lnSpc>
            </a:pPr>
          </a:p>
        </p:txBody>
      </p:sp>
      <p:sp>
        <p:nvSpPr>
          <p:cNvPr id="9" name="Rounded Rectangle 8"/>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True</a:t>
            </a:r>
          </a:p>
          <a:p>
            <a:pPr>
              <a:lnSpc>
                <a:spcPct val="110000"/>
              </a:lnSpc>
            </a:pPr>
            <a:r>
              <a:rPr sz="1800">
                <a:solidFill>
                  <a:srgbClr val="D4D4D4"/>
                </a:solidFill>
                <a:latin typeface="Consolas"/>
              </a:rPr>
              <a:t>True</a:t>
            </a:r>
          </a:p>
          <a:p>
            <a:pPr>
              <a:lnSpc>
                <a:spcPct val="110000"/>
              </a:lnSpc>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8</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raise ImproperlyConfigured(...)</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Stops the function with a clear message. Put the variable's name in it with an f-string.</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800">
                <a:solidFill>
                  <a:srgbClr val="C586C0"/>
                </a:solidFill>
                <a:latin typeface="Consolas"/>
              </a:rPr>
              <a:t>from</a:t>
            </a:r>
            <a:r>
              <a:rPr sz="1800">
                <a:solidFill>
                  <a:srgbClr val="D4D4D4"/>
                </a:solidFill>
                <a:latin typeface="Consolas"/>
              </a:rPr>
              <a:t> </a:t>
            </a:r>
            <a:r>
              <a:rPr sz="1800">
                <a:solidFill>
                  <a:srgbClr val="9CDCFE"/>
                </a:solidFill>
                <a:latin typeface="Consolas"/>
              </a:rPr>
              <a:t>django</a:t>
            </a:r>
            <a:r>
              <a:rPr sz="1800">
                <a:solidFill>
                  <a:srgbClr val="9CDCFE"/>
                </a:solidFill>
                <a:latin typeface="Consolas"/>
              </a:rPr>
              <a:t>.</a:t>
            </a:r>
            <a:r>
              <a:rPr sz="1800">
                <a:solidFill>
                  <a:srgbClr val="9CDCFE"/>
                </a:solidFill>
                <a:latin typeface="Consolas"/>
              </a:rPr>
              <a:t>core</a:t>
            </a:r>
            <a:r>
              <a:rPr sz="1800">
                <a:solidFill>
                  <a:srgbClr val="9CDCFE"/>
                </a:solidFill>
                <a:latin typeface="Consolas"/>
              </a:rPr>
              <a:t>.</a:t>
            </a:r>
            <a:r>
              <a:rPr sz="1800">
                <a:solidFill>
                  <a:srgbClr val="9CDCFE"/>
                </a:solidFill>
                <a:latin typeface="Consolas"/>
              </a:rPr>
              <a:t>exceptions</a:t>
            </a:r>
            <a:r>
              <a:rPr sz="1800">
                <a:solidFill>
                  <a:srgbClr val="D4D4D4"/>
                </a:solidFill>
                <a:latin typeface="Consolas"/>
              </a:rPr>
              <a:t> </a:t>
            </a:r>
            <a:r>
              <a:rPr sz="1800">
                <a:solidFill>
                  <a:srgbClr val="C586C0"/>
                </a:solidFill>
                <a:latin typeface="Consolas"/>
              </a:rPr>
              <a:t>import</a:t>
            </a:r>
            <a:r>
              <a:rPr sz="1800">
                <a:solidFill>
                  <a:srgbClr val="D4D4D4"/>
                </a:solidFill>
                <a:latin typeface="Consolas"/>
              </a:rPr>
              <a:t> </a:t>
            </a:r>
            <a:r>
              <a:rPr sz="1800">
                <a:solidFill>
                  <a:srgbClr val="9CDCFE"/>
                </a:solidFill>
                <a:latin typeface="Consolas"/>
              </a:rPr>
              <a:t>ImproperlyConfigured</a:t>
            </a:r>
          </a:p>
          <a:p>
            <a:pPr>
              <a:lnSpc>
                <a:spcPct val="110000"/>
              </a:lnSpc>
            </a:pPr>
          </a:p>
          <a:p>
            <a:pPr>
              <a:lnSpc>
                <a:spcPct val="110000"/>
              </a:lnSpc>
            </a:pPr>
            <a:r>
              <a:rPr sz="1800">
                <a:solidFill>
                  <a:srgbClr val="9CDCFE"/>
                </a:solidFill>
                <a:latin typeface="Consolas"/>
              </a:rPr>
              <a:t>name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MY_COLOUR</a:t>
            </a:r>
            <a:r>
              <a:rPr sz="1800">
                <a:solidFill>
                  <a:srgbClr val="CE9178"/>
                </a:solidFill>
                <a:latin typeface="Consolas"/>
              </a:rPr>
              <a:t>"</a:t>
            </a:r>
          </a:p>
          <a:p>
            <a:pPr>
              <a:lnSpc>
                <a:spcPct val="110000"/>
              </a:lnSpc>
            </a:pPr>
            <a:r>
              <a:rPr sz="1800">
                <a:solidFill>
                  <a:srgbClr val="C586C0"/>
                </a:solidFill>
                <a:latin typeface="Consolas"/>
              </a:rPr>
              <a:t>raise</a:t>
            </a:r>
            <a:r>
              <a:rPr sz="1800">
                <a:solidFill>
                  <a:srgbClr val="D4D4D4"/>
                </a:solidFill>
                <a:latin typeface="Consolas"/>
              </a:rPr>
              <a:t> </a:t>
            </a:r>
            <a:r>
              <a:rPr sz="1800">
                <a:solidFill>
                  <a:srgbClr val="9CDCFE"/>
                </a:solidFill>
                <a:latin typeface="Consolas"/>
              </a:rPr>
              <a:t>ImproperlyConfigured</a:t>
            </a:r>
            <a:r>
              <a:rPr sz="1800">
                <a:solidFill>
                  <a:srgbClr val="D4D4D4"/>
                </a:solidFill>
                <a:latin typeface="Consolas"/>
              </a:rPr>
              <a:t>(</a:t>
            </a:r>
            <a:r>
              <a:rPr sz="1800">
                <a:solidFill>
                  <a:srgbClr val="CE9178"/>
                </a:solidFill>
                <a:latin typeface="Consolas"/>
              </a:rPr>
              <a:t>f</a:t>
            </a:r>
            <a:r>
              <a:rPr sz="1800">
                <a:solidFill>
                  <a:srgbClr val="CE9178"/>
                </a:solidFill>
                <a:latin typeface="Consolas"/>
              </a:rPr>
              <a:t>"</a:t>
            </a:r>
            <a:r>
              <a:rPr sz="1800">
                <a:solidFill>
                  <a:srgbClr val="CE9178"/>
                </a:solidFill>
                <a:latin typeface="Consolas"/>
              </a:rPr>
              <a:t>Please set </a:t>
            </a:r>
            <a:r>
              <a:rPr sz="1800">
                <a:solidFill>
                  <a:srgbClr val="CE9178"/>
                </a:solidFill>
                <a:latin typeface="Consolas"/>
              </a:rPr>
              <a:t>{</a:t>
            </a:r>
            <a:r>
              <a:rPr sz="1800">
                <a:solidFill>
                  <a:srgbClr val="9CDCFE"/>
                </a:solidFill>
                <a:latin typeface="Consolas"/>
              </a:rPr>
              <a:t>name</a:t>
            </a:r>
            <a:r>
              <a:rPr sz="1800">
                <a:solidFill>
                  <a:srgbClr val="CE9178"/>
                </a:solidFill>
                <a:latin typeface="Consolas"/>
              </a:rPr>
              <a:t>}</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django</a:t>
            </a:r>
            <a:r>
              <a:rPr sz="1800">
                <a:solidFill>
                  <a:srgbClr val="D4D4D4"/>
                </a:solidFill>
                <a:latin typeface="Consolas"/>
              </a:rPr>
              <a:t>.</a:t>
            </a:r>
            <a:r>
              <a:rPr sz="1800">
                <a:solidFill>
                  <a:srgbClr val="D4D4D4"/>
                </a:solidFill>
                <a:latin typeface="Consolas"/>
              </a:rPr>
              <a:t>core</a:t>
            </a:r>
            <a:r>
              <a:rPr sz="1800">
                <a:solidFill>
                  <a:srgbClr val="D4D4D4"/>
                </a:solidFill>
                <a:latin typeface="Consolas"/>
              </a:rPr>
              <a:t>.</a:t>
            </a:r>
            <a:r>
              <a:rPr sz="1800">
                <a:solidFill>
                  <a:srgbClr val="D4D4D4"/>
                </a:solidFill>
                <a:latin typeface="Consolas"/>
              </a:rPr>
              <a:t>exceptions</a:t>
            </a:r>
            <a:r>
              <a:rPr sz="1800">
                <a:solidFill>
                  <a:srgbClr val="D4D4D4"/>
                </a:solidFill>
                <a:latin typeface="Consolas"/>
              </a:rPr>
              <a:t>.</a:t>
            </a:r>
            <a:r>
              <a:rPr sz="1800">
                <a:solidFill>
                  <a:srgbClr val="D4D4D4"/>
                </a:solidFill>
                <a:latin typeface="Consolas"/>
              </a:rPr>
              <a:t>ImproperlyConfigured</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Please</a:t>
            </a:r>
            <a:r>
              <a:rPr sz="1800">
                <a:solidFill>
                  <a:srgbClr val="D4D4D4"/>
                </a:solidFill>
                <a:latin typeface="Consolas"/>
              </a:rPr>
              <a:t> </a:t>
            </a:r>
            <a:r>
              <a:rPr sz="1800">
                <a:solidFill>
                  <a:srgbClr val="D4D4D4"/>
                </a:solidFill>
                <a:latin typeface="Consolas"/>
              </a:rPr>
              <a:t>set</a:t>
            </a:r>
            <a:r>
              <a:rPr sz="1800">
                <a:solidFill>
                  <a:srgbClr val="D4D4D4"/>
                </a:solidFill>
                <a:latin typeface="Consolas"/>
              </a:rPr>
              <a:t> </a:t>
            </a:r>
            <a:r>
              <a:rPr sz="1800">
                <a:solidFill>
                  <a:srgbClr val="D4D4D4"/>
                </a:solidFill>
                <a:latin typeface="Consolas"/>
              </a:rPr>
              <a:t>MY_COLOUR</a:t>
            </a:r>
            <a:r>
              <a:rPr sz="1800">
                <a:solidFill>
                  <a:srgbClr val="D4D4D4"/>
                </a:solidFill>
                <a:latin typeface="Consolas"/>
              </a:rPr>
              <a:t>.</a:t>
            </a:r>
          </a:p>
          <a:p>
            <a:pPr>
              <a:lnSpc>
                <a:spcPct val="110000"/>
              </a:lnSpc>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9</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int(text) with try / except</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6A3FC0"/>
                </a:solidFill>
                <a:latin typeface="Consolas"/>
              </a:rPr>
              <a:t>int(" 42 ")</a:t>
            </a:r>
            <a:r>
              <a:rPr sz="2000" b="0">
                <a:solidFill>
                  <a:srgbClr val="1C2330"/>
                </a:solidFill>
                <a:latin typeface="Segoe UI"/>
              </a:rPr>
              <a:t> works, </a:t>
            </a:r>
            <a:r>
              <a:rPr sz="2000" b="0">
                <a:solidFill>
                  <a:srgbClr val="6A3FC0"/>
                </a:solidFill>
                <a:latin typeface="Consolas"/>
              </a:rPr>
              <a:t>int("forty")</a:t>
            </a:r>
            <a:r>
              <a:rPr sz="2000" b="0">
                <a:solidFill>
                  <a:srgbClr val="1C2330"/>
                </a:solidFill>
                <a:latin typeface="Segoe UI"/>
              </a:rPr>
              <a:t> raises </a:t>
            </a:r>
            <a:r>
              <a:rPr sz="2000" b="0">
                <a:solidFill>
                  <a:srgbClr val="6A3FC0"/>
                </a:solidFill>
                <a:latin typeface="Consolas"/>
              </a:rPr>
              <a:t>ValueError</a:t>
            </a:r>
            <a:r>
              <a:rPr sz="2000" b="0">
                <a:solidFill>
                  <a:srgbClr val="1C2330"/>
                </a:solidFill>
                <a:latin typeface="Segoe UI"/>
              </a:rPr>
              <a:t>, and </a:t>
            </a:r>
            <a:r>
              <a:rPr sz="2000" b="0">
                <a:solidFill>
                  <a:srgbClr val="6A3FC0"/>
                </a:solidFill>
                <a:latin typeface="Consolas"/>
              </a:rPr>
              <a:t>except</a:t>
            </a:r>
            <a:r>
              <a:rPr sz="2000" b="0">
                <a:solidFill>
                  <a:srgbClr val="1C2330"/>
                </a:solidFill>
                <a:latin typeface="Segoe UI"/>
              </a:rPr>
              <a:t> catches it.</a:t>
            </a:r>
          </a:p>
        </p:txBody>
      </p:sp>
      <p:sp>
        <p:nvSpPr>
          <p:cNvPr id="7" name="Rounded Rectangle 6"/>
          <p:cNvSpPr/>
          <p:nvPr/>
        </p:nvSpPr>
        <p:spPr>
          <a:xfrm>
            <a:off x="640080" y="2331720"/>
            <a:ext cx="10911535" cy="256946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203704"/>
          </a:xfrm>
          <a:prstGeom prst="rect">
            <a:avLst/>
          </a:prstGeom>
          <a:noFill/>
        </p:spPr>
        <p:txBody>
          <a:bodyPr wrap="square" anchor="t" lIns="0" rIns="0" tIns="0" bIns="0">
            <a:spAutoFit/>
          </a:bodyPr>
          <a:lstStyle/>
          <a:p>
            <a:pPr>
              <a:lnSpc>
                <a:spcPct val="110000"/>
              </a:lnSpc>
            </a:pPr>
            <a:r>
              <a:rPr sz="1800">
                <a:solidFill>
                  <a:srgbClr val="C586C0"/>
                </a:solidFill>
                <a:latin typeface="Consolas"/>
              </a:rPr>
              <a:t>for</a:t>
            </a:r>
            <a:r>
              <a:rPr sz="1800">
                <a:solidFill>
                  <a:srgbClr val="D4D4D4"/>
                </a:solidFill>
                <a:latin typeface="Consolas"/>
              </a:rPr>
              <a:t> </a:t>
            </a:r>
            <a:r>
              <a:rPr sz="1800">
                <a:solidFill>
                  <a:srgbClr val="9CDCFE"/>
                </a:solidFill>
                <a:latin typeface="Consolas"/>
              </a:rPr>
              <a:t>text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42</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forty</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C586C0"/>
                </a:solidFill>
                <a:latin typeface="Consolas"/>
              </a:rPr>
              <a:t>try</a:t>
            </a:r>
            <a:r>
              <a:rPr sz="1800">
                <a:solidFill>
                  <a:srgbClr val="D4D4D4"/>
                </a:solidFill>
                <a:latin typeface="Consolas"/>
              </a:rPr>
              <a:t>:</a:t>
            </a:r>
          </a:p>
          <a:p>
            <a:pPr>
              <a:lnSpc>
                <a:spcPct val="110000"/>
              </a:lnSpc>
            </a:pPr>
            <a:r>
              <a:rPr sz="1800">
                <a:solidFill>
                  <a:srgbClr val="D4D4D4"/>
                </a:solidFill>
                <a:latin typeface="Consolas"/>
              </a:rPr>
              <a:t>        </a:t>
            </a: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int</a:t>
            </a:r>
            <a:r>
              <a:rPr sz="1800">
                <a:solidFill>
                  <a:srgbClr val="D4D4D4"/>
                </a:solidFill>
                <a:latin typeface="Consolas"/>
              </a:rPr>
              <a:t>(</a:t>
            </a:r>
            <a:r>
              <a:rPr sz="1800">
                <a:solidFill>
                  <a:srgbClr val="9CDCFE"/>
                </a:solidFill>
                <a:latin typeface="Consolas"/>
              </a:rPr>
              <a:t>text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a:t>
            </a:r>
            <a:r>
              <a:rPr sz="1800">
                <a:solidFill>
                  <a:srgbClr val="D4D4D4"/>
                </a:solidFill>
                <a:latin typeface="Consolas"/>
              </a:rPr>
              <a:t>)</a:t>
            </a:r>
          </a:p>
          <a:p>
            <a:pPr>
              <a:lnSpc>
                <a:spcPct val="110000"/>
              </a:lnSpc>
            </a:pPr>
            <a:r>
              <a:rPr sz="1800">
                <a:solidFill>
                  <a:srgbClr val="D4D4D4"/>
                </a:solidFill>
                <a:latin typeface="Consolas"/>
              </a:rPr>
              <a:t>    </a:t>
            </a:r>
            <a:r>
              <a:rPr sz="1800">
                <a:solidFill>
                  <a:srgbClr val="C586C0"/>
                </a:solidFill>
                <a:latin typeface="Consolas"/>
              </a:rPr>
              <a:t>except</a:t>
            </a:r>
            <a:r>
              <a:rPr sz="1800">
                <a:solidFill>
                  <a:srgbClr val="D4D4D4"/>
                </a:solidFill>
                <a:latin typeface="Consolas"/>
              </a:rPr>
              <a:t> </a:t>
            </a:r>
            <a:r>
              <a:rPr sz="1800">
                <a:solidFill>
                  <a:srgbClr val="9CDCFE"/>
                </a:solidFill>
                <a:latin typeface="Consolas"/>
              </a:rPr>
              <a:t>ValueError</a:t>
            </a:r>
            <a:r>
              <a:rPr sz="1800">
                <a:solidFill>
                  <a:srgbClr val="D4D4D4"/>
                </a:solidFill>
                <a:latin typeface="Consolas"/>
              </a:rPr>
              <a:t>:</a:t>
            </a:r>
          </a:p>
          <a:p>
            <a:pPr>
              <a:lnSpc>
                <a:spcPct val="110000"/>
              </a:lnSpc>
            </a:pPr>
            <a:r>
              <a:rPr sz="1800">
                <a:solidFill>
                  <a:srgbClr val="D4D4D4"/>
                </a:solidFill>
                <a:latin typeface="Consolas"/>
              </a:rPr>
              <a:t>        </a:t>
            </a: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f</a:t>
            </a:r>
            <a:r>
              <a:rPr sz="1800">
                <a:solidFill>
                  <a:srgbClr val="CE9178"/>
                </a:solidFill>
                <a:latin typeface="Consolas"/>
              </a:rPr>
              <a:t>"</a:t>
            </a:r>
            <a:r>
              <a:rPr sz="1800">
                <a:solidFill>
                  <a:srgbClr val="CE9178"/>
                </a:solidFill>
                <a:latin typeface="Consolas"/>
              </a:rPr>
              <a:t>{</a:t>
            </a:r>
            <a:r>
              <a:rPr sz="1800">
                <a:solidFill>
                  <a:srgbClr val="9CDCFE"/>
                </a:solidFill>
                <a:latin typeface="Consolas"/>
              </a:rPr>
              <a:t>text</a:t>
            </a:r>
            <a:r>
              <a:rPr sz="1800">
                <a:solidFill>
                  <a:srgbClr val="CE9178"/>
                </a:solidFill>
                <a:latin typeface="Consolas"/>
              </a:rPr>
              <a:t>!r}</a:t>
            </a:r>
            <a:r>
              <a:rPr sz="1800">
                <a:solidFill>
                  <a:srgbClr val="CE9178"/>
                </a:solidFill>
                <a:latin typeface="Consolas"/>
              </a:rPr>
              <a:t> is not a number</a:t>
            </a:r>
            <a:r>
              <a:rPr sz="1800">
                <a:solidFill>
                  <a:srgbClr val="CE9178"/>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43</a:t>
            </a:r>
          </a:p>
          <a:p>
            <a:pPr>
              <a:lnSpc>
                <a:spcPct val="110000"/>
              </a:lnSpc>
            </a:pPr>
            <a:r>
              <a:rPr sz="1800">
                <a:solidFill>
                  <a:srgbClr val="D4D4D4"/>
                </a:solidFill>
                <a:latin typeface="Consolas"/>
              </a:rPr>
              <a:t>'</a:t>
            </a:r>
            <a:r>
              <a:rPr sz="1800">
                <a:solidFill>
                  <a:srgbClr val="D4D4D4"/>
                </a:solidFill>
                <a:latin typeface="Consolas"/>
              </a:rPr>
              <a:t>forty</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is</a:t>
            </a:r>
            <a:r>
              <a:rPr sz="1800">
                <a:solidFill>
                  <a:srgbClr val="D4D4D4"/>
                </a:solidFill>
                <a:latin typeface="Consolas"/>
              </a:rPr>
              <a:t> </a:t>
            </a:r>
            <a:r>
              <a:rPr sz="1800">
                <a:solidFill>
                  <a:srgbClr val="D4D4D4"/>
                </a:solidFill>
                <a:latin typeface="Consolas"/>
              </a:rPr>
              <a:t>not</a:t>
            </a:r>
            <a:r>
              <a:rPr sz="1800">
                <a:solidFill>
                  <a:srgbClr val="D4D4D4"/>
                </a:solidFill>
                <a:latin typeface="Consolas"/>
              </a:rPr>
              <a:t> </a:t>
            </a:r>
            <a:r>
              <a:rPr sz="1800">
                <a:solidFill>
                  <a:srgbClr val="D4D4D4"/>
                </a:solidFill>
                <a:latin typeface="Consolas"/>
              </a:rPr>
              <a:t>a</a:t>
            </a:r>
            <a:r>
              <a:rPr sz="1800">
                <a:solidFill>
                  <a:srgbClr val="D4D4D4"/>
                </a:solidFill>
                <a:latin typeface="Consolas"/>
              </a:rPr>
              <a:t> </a:t>
            </a:r>
            <a:r>
              <a:rPr sz="1800">
                <a:solidFill>
                  <a:srgbClr val="D4D4D4"/>
                </a:solidFill>
                <a:latin typeface="Consolas"/>
              </a:rPr>
              <a:t>number</a:t>
            </a:r>
          </a:p>
          <a:p>
            <a:pPr>
              <a:lnSpc>
                <a:spcPct val="110000"/>
              </a:lnSpc>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10</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return vs raise</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return the error</a:t>
            </a:r>
          </a:p>
          <a:p>
            <a:pPr>
              <a:spcAft>
                <a:spcPts val="1000"/>
              </a:spcAft>
            </a:pPr>
            <a:r>
              <a:rPr sz="1900" b="0">
                <a:solidFill>
                  <a:srgbClr val="1C2330"/>
                </a:solidFill>
                <a:latin typeface="Segoe UI"/>
              </a:rPr>
              <a:t>•  Hands the error back as a </a:t>
            </a:r>
            <a:r>
              <a:rPr sz="1900" b="1">
                <a:solidFill>
                  <a:srgbClr val="1C2330"/>
                </a:solidFill>
                <a:latin typeface="Segoe UI"/>
              </a:rPr>
              <a:t>normal value</a:t>
            </a:r>
          </a:p>
          <a:p>
            <a:pPr>
              <a:spcAft>
                <a:spcPts val="1000"/>
              </a:spcAft>
            </a:pPr>
            <a:r>
              <a:rPr sz="1900" b="0">
                <a:solidFill>
                  <a:srgbClr val="1C2330"/>
                </a:solidFill>
                <a:latin typeface="Segoe UI"/>
              </a:rPr>
              <a:t>•  The function carries on as if all is fine</a:t>
            </a:r>
          </a:p>
          <a:p>
            <a:pPr>
              <a:spcAft>
                <a:spcPts val="1000"/>
              </a:spcAft>
            </a:pPr>
            <a:r>
              <a:rPr sz="1900" b="0">
                <a:solidFill>
                  <a:srgbClr val="1C2330"/>
                </a:solidFill>
                <a:latin typeface="Segoe UI"/>
              </a:rPr>
              <a:t>•  The app runs with a broken setting</a:t>
            </a:r>
          </a:p>
          <a:p>
            <a:pPr>
              <a:spcAft>
                <a:spcPts val="1000"/>
              </a:spcAft>
            </a:pPr>
            <a:r>
              <a:rPr sz="1900" b="0">
                <a:solidFill>
                  <a:srgbClr val="1C2330"/>
                </a:solidFill>
                <a:latin typeface="Segoe UI"/>
              </a:rPr>
              <a:t>•  The tests see no error: tests 2 and 5 fail</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raise the error</a:t>
            </a:r>
          </a:p>
          <a:p>
            <a:pPr>
              <a:spcAft>
                <a:spcPts val="1000"/>
              </a:spcAft>
            </a:pPr>
            <a:r>
              <a:rPr sz="1900" b="0">
                <a:solidFill>
                  <a:srgbClr val="1C2330"/>
                </a:solidFill>
                <a:latin typeface="Segoe UI"/>
              </a:rPr>
              <a:t>•  </a:t>
            </a:r>
            <a:r>
              <a:rPr sz="1900" b="1">
                <a:solidFill>
                  <a:srgbClr val="1C2330"/>
                </a:solidFill>
                <a:latin typeface="Segoe UI"/>
              </a:rPr>
              <a:t>Stops</a:t>
            </a:r>
            <a:r>
              <a:rPr sz="1900" b="0">
                <a:solidFill>
                  <a:srgbClr val="1C2330"/>
                </a:solidFill>
                <a:latin typeface="Segoe UI"/>
              </a:rPr>
              <a:t> the function right away</a:t>
            </a:r>
          </a:p>
          <a:p>
            <a:pPr>
              <a:spcAft>
                <a:spcPts val="1000"/>
              </a:spcAft>
            </a:pPr>
            <a:r>
              <a:rPr sz="1900" b="0">
                <a:solidFill>
                  <a:srgbClr val="1C2330"/>
                </a:solidFill>
                <a:latin typeface="Segoe UI"/>
              </a:rPr>
              <a:t>•  Nothing after it runs</a:t>
            </a:r>
          </a:p>
          <a:p>
            <a:pPr>
              <a:spcAft>
                <a:spcPts val="1000"/>
              </a:spcAft>
            </a:pPr>
            <a:r>
              <a:rPr sz="1900" b="0">
                <a:solidFill>
                  <a:srgbClr val="1C2330"/>
                </a:solidFill>
                <a:latin typeface="Segoe UI"/>
              </a:rPr>
              <a:t>•  The app refuses to start, with a clear message</a:t>
            </a:r>
          </a:p>
          <a:p>
            <a:pPr>
              <a:spcAft>
                <a:spcPts val="1000"/>
              </a:spcAft>
            </a:pPr>
            <a:r>
              <a:rPr sz="1900" b="0">
                <a:solidFill>
                  <a:srgbClr val="1C2330"/>
                </a:solidFill>
                <a:latin typeface="Segoe UI"/>
              </a:rPr>
              <a:t>•  What the tests expect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11</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Pattern: split, clean, keep the good ones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same loop </a:t>
            </a:r>
            <a:r>
              <a:rPr sz="2000" b="0">
                <a:solidFill>
                  <a:srgbClr val="6A3FC0"/>
                </a:solidFill>
                <a:latin typeface="Consolas"/>
              </a:rPr>
              <a:t>env_list</a:t>
            </a:r>
            <a:r>
              <a:rPr sz="2000" b="0">
                <a:solidFill>
                  <a:srgbClr val="1C2330"/>
                </a:solidFill>
                <a:latin typeface="Segoe UI"/>
              </a:rPr>
              <a:t> needs, on different data:</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800">
                <a:solidFill>
                  <a:srgbClr val="9CDCFE"/>
                </a:solidFill>
                <a:latin typeface="Consolas"/>
              </a:rPr>
              <a:t>raw</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 red , ,green,, blue </a:t>
            </a:r>
            <a:r>
              <a:rPr sz="1800">
                <a:solidFill>
                  <a:srgbClr val="CE9178"/>
                </a:solidFill>
                <a:latin typeface="Consolas"/>
              </a:rPr>
              <a:t>"</a:t>
            </a:r>
          </a:p>
          <a:p>
            <a:pPr>
              <a:lnSpc>
                <a:spcPct val="110000"/>
              </a:lnSpc>
            </a:pPr>
            <a:r>
              <a:rPr sz="1800">
                <a:solidFill>
                  <a:srgbClr val="9CDCFE"/>
                </a:solidFill>
                <a:latin typeface="Consolas"/>
              </a:rPr>
              <a:t>colours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a:t>
            </a:r>
          </a:p>
          <a:p>
            <a:pPr>
              <a:lnSpc>
                <a:spcPct val="110000"/>
              </a:lnSpc>
            </a:pPr>
            <a:r>
              <a:rPr sz="1800">
                <a:solidFill>
                  <a:srgbClr val="C586C0"/>
                </a:solidFill>
                <a:latin typeface="Consolas"/>
              </a:rPr>
              <a:t>for</a:t>
            </a:r>
            <a:r>
              <a:rPr sz="1800">
                <a:solidFill>
                  <a:srgbClr val="D4D4D4"/>
                </a:solidFill>
                <a:latin typeface="Consolas"/>
              </a:rPr>
              <a:t> </a:t>
            </a:r>
            <a:r>
              <a:rPr sz="1800">
                <a:solidFill>
                  <a:srgbClr val="9CDCFE"/>
                </a:solidFill>
                <a:latin typeface="Consolas"/>
              </a:rPr>
              <a:t>piece</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raw</a:t>
            </a:r>
            <a:r>
              <a:rPr sz="1800">
                <a:solidFill>
                  <a:srgbClr val="D4D4D4"/>
                </a:solidFill>
                <a:latin typeface="Consolas"/>
              </a:rPr>
              <a:t>.</a:t>
            </a:r>
            <a:r>
              <a:rPr sz="1800">
                <a:solidFill>
                  <a:srgbClr val="9CDCFE"/>
                </a:solidFill>
                <a:latin typeface="Consolas"/>
              </a:rPr>
              <a:t>split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piece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piece</a:t>
            </a:r>
            <a:r>
              <a:rPr sz="1800">
                <a:solidFill>
                  <a:srgbClr val="D4D4D4"/>
                </a:solidFill>
                <a:latin typeface="Consolas"/>
              </a:rPr>
              <a:t>.</a:t>
            </a:r>
            <a:r>
              <a:rPr sz="1800">
                <a:solidFill>
                  <a:srgbClr val="9CDCFE"/>
                </a:solidFill>
                <a:latin typeface="Consolas"/>
              </a:rPr>
              <a:t>strip</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C586C0"/>
                </a:solidFill>
                <a:latin typeface="Consolas"/>
              </a:rPr>
              <a:t>if</a:t>
            </a:r>
            <a:r>
              <a:rPr sz="1800">
                <a:solidFill>
                  <a:srgbClr val="D4D4D4"/>
                </a:solidFill>
                <a:latin typeface="Consolas"/>
              </a:rPr>
              <a:t> </a:t>
            </a:r>
            <a:r>
              <a:rPr sz="1800">
                <a:solidFill>
                  <a:srgbClr val="9CDCFE"/>
                </a:solidFill>
                <a:latin typeface="Consolas"/>
              </a:rPr>
              <a:t>piece</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 is falsy, so empty pieces are skipped</a:t>
            </a:r>
          </a:p>
          <a:p>
            <a:pPr>
              <a:lnSpc>
                <a:spcPct val="110000"/>
              </a:lnSpc>
            </a:pPr>
            <a:r>
              <a:rPr sz="1800">
                <a:solidFill>
                  <a:srgbClr val="D4D4D4"/>
                </a:solidFill>
                <a:latin typeface="Consolas"/>
              </a:rPr>
              <a:t>        </a:t>
            </a:r>
            <a:r>
              <a:rPr sz="1800">
                <a:solidFill>
                  <a:srgbClr val="9CDCFE"/>
                </a:solidFill>
                <a:latin typeface="Consolas"/>
              </a:rPr>
              <a:t>colours</a:t>
            </a:r>
            <a:r>
              <a:rPr sz="1800">
                <a:solidFill>
                  <a:srgbClr val="D4D4D4"/>
                </a:solidFill>
                <a:latin typeface="Consolas"/>
              </a:rPr>
              <a:t>.</a:t>
            </a:r>
            <a:r>
              <a:rPr sz="1800">
                <a:solidFill>
                  <a:srgbClr val="9CDCFE"/>
                </a:solidFill>
                <a:latin typeface="Consolas"/>
              </a:rPr>
              <a:t>append</a:t>
            </a:r>
            <a:r>
              <a:rPr sz="1800">
                <a:solidFill>
                  <a:srgbClr val="D4D4D4"/>
                </a:solidFill>
                <a:latin typeface="Consolas"/>
              </a:rPr>
              <a:t>(</a:t>
            </a:r>
            <a:r>
              <a:rPr sz="1800">
                <a:solidFill>
                  <a:srgbClr val="9CDCFE"/>
                </a:solidFill>
                <a:latin typeface="Consolas"/>
              </a:rPr>
              <a:t>piece</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colours</a:t>
            </a:r>
            <a:r>
              <a:rPr sz="18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t>
            </a:r>
            <a:r>
              <a:rPr sz="1800">
                <a:solidFill>
                  <a:srgbClr val="D4D4D4"/>
                </a:solidFill>
                <a:latin typeface="Consolas"/>
              </a:rPr>
              <a:t>'</a:t>
            </a:r>
            <a:r>
              <a:rPr sz="1800">
                <a:solidFill>
                  <a:srgbClr val="D4D4D4"/>
                </a:solidFill>
                <a:latin typeface="Consolas"/>
              </a:rPr>
              <a:t>red</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green</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blue</a:t>
            </a:r>
            <a:r>
              <a:rPr sz="1800">
                <a:solidFill>
                  <a:srgbClr val="D4D4D4"/>
                </a:solidFill>
                <a:latin typeface="Consolas"/>
              </a:rPr>
              <a:t>'</a:t>
            </a:r>
            <a:r>
              <a:rPr sz="1800">
                <a:solidFill>
                  <a:srgbClr val="D4D4D4"/>
                </a:solidFill>
                <a:latin typeface="Consolas"/>
              </a:rPr>
              <a:t>]</a:t>
            </a:r>
          </a:p>
          <a:p>
            <a:pPr>
              <a:lnSpc>
                <a:spcPct val="110000"/>
              </a:lnSpc>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Your task, step by step</a:t>
            </a:r>
          </a:p>
        </p:txBody>
      </p:sp>
      <p:sp>
        <p:nvSpPr>
          <p:cNvPr id="6" name="Oval 5"/>
          <p:cNvSpPr/>
          <p:nvPr/>
        </p:nvSpPr>
        <p:spPr>
          <a:xfrm>
            <a:off x="640080" y="16649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325880" y="150876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In every helper: read with </a:t>
            </a:r>
            <a:r>
              <a:rPr sz="1900" b="0">
                <a:solidFill>
                  <a:srgbClr val="6A3FC0"/>
                </a:solidFill>
                <a:latin typeface="Consolas"/>
              </a:rPr>
              <a:t>os.environ.get(name)</a:t>
            </a:r>
            <a:r>
              <a:rPr sz="1900" b="0">
                <a:solidFill>
                  <a:srgbClr val="1C2330"/>
                </a:solidFill>
                <a:latin typeface="Segoe UI"/>
              </a:rPr>
              <a:t>; </a:t>
            </a:r>
            <a:r>
              <a:rPr sz="1900" b="0">
                <a:solidFill>
                  <a:srgbClr val="6A3FC0"/>
                </a:solidFill>
                <a:latin typeface="Consolas"/>
              </a:rPr>
              <a:t>None</a:t>
            </a:r>
            <a:r>
              <a:rPr sz="1900" b="0">
                <a:solidFill>
                  <a:srgbClr val="1C2330"/>
                </a:solidFill>
                <a:latin typeface="Segoe UI"/>
              </a:rPr>
              <a:t> or blank means </a:t>
            </a:r>
            <a:r>
              <a:rPr sz="1900" b="1">
                <a:solidFill>
                  <a:srgbClr val="1C2330"/>
                </a:solidFill>
                <a:latin typeface="Segoe UI"/>
              </a:rPr>
              <a:t>missing</a:t>
            </a:r>
          </a:p>
        </p:txBody>
      </p:sp>
      <p:sp>
        <p:nvSpPr>
          <p:cNvPr id="8" name="Oval 7"/>
          <p:cNvSpPr/>
          <p:nvPr/>
        </p:nvSpPr>
        <p:spPr>
          <a:xfrm>
            <a:off x="640080" y="243459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9" name="TextBox 8"/>
          <p:cNvSpPr txBox="1"/>
          <p:nvPr/>
        </p:nvSpPr>
        <p:spPr>
          <a:xfrm>
            <a:off x="1325880" y="227838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env_str</a:t>
            </a:r>
            <a:r>
              <a:rPr sz="1900" b="0">
                <a:solidFill>
                  <a:srgbClr val="1C2330"/>
                </a:solidFill>
                <a:latin typeface="Segoe UI"/>
              </a:rPr>
              <a:t>: return the stripped value, or </a:t>
            </a:r>
            <a:r>
              <a:rPr sz="1900" b="0">
                <a:solidFill>
                  <a:srgbClr val="6A3FC0"/>
                </a:solidFill>
                <a:latin typeface="Consolas"/>
              </a:rPr>
              <a:t>default</a:t>
            </a:r>
          </a:p>
        </p:txBody>
      </p:sp>
      <p:sp>
        <p:nvSpPr>
          <p:cNvPr id="10" name="TextBox 9"/>
          <p:cNvSpPr txBox="1"/>
          <p:nvPr/>
        </p:nvSpPr>
        <p:spPr>
          <a:xfrm>
            <a:off x="9722815" y="227838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1</a:t>
            </a:r>
          </a:p>
        </p:txBody>
      </p:sp>
      <p:sp>
        <p:nvSpPr>
          <p:cNvPr id="11" name="Oval 10"/>
          <p:cNvSpPr/>
          <p:nvPr/>
        </p:nvSpPr>
        <p:spPr>
          <a:xfrm>
            <a:off x="640080" y="320421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2" name="TextBox 11"/>
          <p:cNvSpPr txBox="1"/>
          <p:nvPr/>
        </p:nvSpPr>
        <p:spPr>
          <a:xfrm>
            <a:off x="1325880" y="304800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env_str</a:t>
            </a:r>
            <a:r>
              <a:rPr sz="1900" b="0">
                <a:solidFill>
                  <a:srgbClr val="1C2330"/>
                </a:solidFill>
                <a:latin typeface="Segoe UI"/>
              </a:rPr>
              <a:t>: missing and no default? </a:t>
            </a:r>
            <a:r>
              <a:rPr sz="1900" b="0">
                <a:solidFill>
                  <a:srgbClr val="6A3FC0"/>
                </a:solidFill>
                <a:latin typeface="Consolas"/>
              </a:rPr>
              <a:t>raise ImproperlyConfigured</a:t>
            </a:r>
            <a:r>
              <a:rPr sz="1900" b="0">
                <a:solidFill>
                  <a:srgbClr val="1C2330"/>
                </a:solidFill>
                <a:latin typeface="Segoe UI"/>
              </a:rPr>
              <a:t> naming it</a:t>
            </a:r>
          </a:p>
        </p:txBody>
      </p:sp>
      <p:sp>
        <p:nvSpPr>
          <p:cNvPr id="13" name="TextBox 12"/>
          <p:cNvSpPr txBox="1"/>
          <p:nvPr/>
        </p:nvSpPr>
        <p:spPr>
          <a:xfrm>
            <a:off x="9722815" y="304800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2</a:t>
            </a:r>
          </a:p>
        </p:txBody>
      </p:sp>
      <p:sp>
        <p:nvSpPr>
          <p:cNvPr id="14" name="Oval 13"/>
          <p:cNvSpPr/>
          <p:nvPr/>
        </p:nvSpPr>
        <p:spPr>
          <a:xfrm>
            <a:off x="640080" y="397383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5" name="TextBox 14"/>
          <p:cNvSpPr txBox="1"/>
          <p:nvPr/>
        </p:nvSpPr>
        <p:spPr>
          <a:xfrm>
            <a:off x="1325880" y="381762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env_bool</a:t>
            </a:r>
            <a:r>
              <a:rPr sz="1900" b="0">
                <a:solidFill>
                  <a:srgbClr val="1C2330"/>
                </a:solidFill>
                <a:latin typeface="Segoe UI"/>
              </a:rPr>
              <a:t>: lower-case, check the true set and the false set, else raise</a:t>
            </a:r>
          </a:p>
        </p:txBody>
      </p:sp>
      <p:sp>
        <p:nvSpPr>
          <p:cNvPr id="16" name="TextBox 15"/>
          <p:cNvSpPr txBox="1"/>
          <p:nvPr/>
        </p:nvSpPr>
        <p:spPr>
          <a:xfrm>
            <a:off x="9722815" y="381762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3-5</a:t>
            </a:r>
          </a:p>
        </p:txBody>
      </p:sp>
      <p:sp>
        <p:nvSpPr>
          <p:cNvPr id="17" name="Oval 16"/>
          <p:cNvSpPr/>
          <p:nvPr/>
        </p:nvSpPr>
        <p:spPr>
          <a:xfrm>
            <a:off x="640080" y="474345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8" name="TextBox 17"/>
          <p:cNvSpPr txBox="1"/>
          <p:nvPr/>
        </p:nvSpPr>
        <p:spPr>
          <a:xfrm>
            <a:off x="1325880" y="458724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env_int</a:t>
            </a:r>
            <a:r>
              <a:rPr sz="1900" b="0">
                <a:solidFill>
                  <a:srgbClr val="1C2330"/>
                </a:solidFill>
                <a:latin typeface="Segoe UI"/>
              </a:rPr>
              <a:t>: </a:t>
            </a:r>
            <a:r>
              <a:rPr sz="1900" b="0">
                <a:solidFill>
                  <a:srgbClr val="6A3FC0"/>
                </a:solidFill>
                <a:latin typeface="Consolas"/>
              </a:rPr>
              <a:t>int(value)</a:t>
            </a:r>
            <a:r>
              <a:rPr sz="1900" b="0">
                <a:solidFill>
                  <a:srgbClr val="1C2330"/>
                </a:solidFill>
                <a:latin typeface="Segoe UI"/>
              </a:rPr>
              <a:t> inside </a:t>
            </a:r>
            <a:r>
              <a:rPr sz="1900" b="0">
                <a:solidFill>
                  <a:srgbClr val="6A3FC0"/>
                </a:solidFill>
                <a:latin typeface="Consolas"/>
              </a:rPr>
              <a:t>try</a:t>
            </a:r>
            <a:r>
              <a:rPr sz="1900" b="0">
                <a:solidFill>
                  <a:srgbClr val="1C2330"/>
                </a:solidFill>
                <a:latin typeface="Segoe UI"/>
              </a:rPr>
              <a:t>; raise on </a:t>
            </a:r>
            <a:r>
              <a:rPr sz="1900" b="0">
                <a:solidFill>
                  <a:srgbClr val="6A3FC0"/>
                </a:solidFill>
                <a:latin typeface="Consolas"/>
              </a:rPr>
              <a:t>ValueError</a:t>
            </a:r>
          </a:p>
        </p:txBody>
      </p:sp>
      <p:sp>
        <p:nvSpPr>
          <p:cNvPr id="19" name="TextBox 18"/>
          <p:cNvSpPr txBox="1"/>
          <p:nvPr/>
        </p:nvSpPr>
        <p:spPr>
          <a:xfrm>
            <a:off x="9722815" y="458724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6</a:t>
            </a:r>
          </a:p>
        </p:txBody>
      </p:sp>
      <p:sp>
        <p:nvSpPr>
          <p:cNvPr id="20" name="Oval 19"/>
          <p:cNvSpPr/>
          <p:nvPr/>
        </p:nvSpPr>
        <p:spPr>
          <a:xfrm>
            <a:off x="640080" y="55130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1" name="TextBox 20"/>
          <p:cNvSpPr txBox="1"/>
          <p:nvPr/>
        </p:nvSpPr>
        <p:spPr>
          <a:xfrm>
            <a:off x="1325880" y="535686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env_list</a:t>
            </a:r>
            <a:r>
              <a:rPr sz="1900" b="0">
                <a:solidFill>
                  <a:srgbClr val="1C2330"/>
                </a:solidFill>
                <a:latin typeface="Segoe UI"/>
              </a:rPr>
              <a:t>: missing gives </a:t>
            </a:r>
            <a:r>
              <a:rPr sz="1900" b="0">
                <a:solidFill>
                  <a:srgbClr val="6A3FC0"/>
                </a:solidFill>
                <a:latin typeface="Consolas"/>
              </a:rPr>
              <a:t>default</a:t>
            </a:r>
            <a:r>
              <a:rPr sz="1900" b="0">
                <a:solidFill>
                  <a:srgbClr val="1C2330"/>
                </a:solidFill>
                <a:latin typeface="Segoe UI"/>
              </a:rPr>
              <a:t> or </a:t>
            </a:r>
            <a:r>
              <a:rPr sz="1900" b="0">
                <a:solidFill>
                  <a:srgbClr val="6A3FC0"/>
                </a:solidFill>
                <a:latin typeface="Consolas"/>
              </a:rPr>
              <a:t>[]</a:t>
            </a:r>
            <a:r>
              <a:rPr sz="1900" b="0">
                <a:solidFill>
                  <a:srgbClr val="1C2330"/>
                </a:solidFill>
                <a:latin typeface="Segoe UI"/>
              </a:rPr>
              <a:t>; else split, strip, skip empties</a:t>
            </a:r>
          </a:p>
        </p:txBody>
      </p:sp>
      <p:sp>
        <p:nvSpPr>
          <p:cNvPr id="22" name="TextBox 21"/>
          <p:cNvSpPr txBox="1"/>
          <p:nvPr/>
        </p:nvSpPr>
        <p:spPr>
          <a:xfrm>
            <a:off x="9722815" y="535686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7-8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Common mistakes</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600"/>
              </a:spcAft>
            </a:pPr>
            <a:r>
              <a:rPr sz="2400" b="0">
                <a:solidFill>
                  <a:srgbClr val="1C2330"/>
                </a:solidFill>
                <a:latin typeface="Segoe UI"/>
              </a:rPr>
              <a:t>•  </a:t>
            </a:r>
            <a:r>
              <a:rPr sz="2400" b="0">
                <a:solidFill>
                  <a:srgbClr val="6A3FC0"/>
                </a:solidFill>
                <a:latin typeface="Consolas"/>
              </a:rPr>
              <a:t>bool(value)</a:t>
            </a:r>
            <a:r>
              <a:rPr sz="2400" b="0">
                <a:solidFill>
                  <a:srgbClr val="1C2330"/>
                </a:solidFill>
                <a:latin typeface="Segoe UI"/>
              </a:rPr>
              <a:t> makes </a:t>
            </a:r>
            <a:r>
              <a:rPr sz="2400" b="0">
                <a:solidFill>
                  <a:srgbClr val="6A3FC0"/>
                </a:solidFill>
                <a:latin typeface="Consolas"/>
              </a:rPr>
              <a:t>"False"</a:t>
            </a:r>
            <a:r>
              <a:rPr sz="2400" b="0">
                <a:solidFill>
                  <a:srgbClr val="1C2330"/>
                </a:solidFill>
                <a:latin typeface="Segoe UI"/>
              </a:rPr>
              <a:t> true; </a:t>
            </a:r>
            <a:r>
              <a:rPr sz="2400" b="0">
                <a:solidFill>
                  <a:srgbClr val="6A3FC0"/>
                </a:solidFill>
                <a:latin typeface="Consolas"/>
              </a:rPr>
              <a:t>value == "True"</a:t>
            </a:r>
            <a:r>
              <a:rPr sz="2400" b="0">
                <a:solidFill>
                  <a:srgbClr val="1C2330"/>
                </a:solidFill>
                <a:latin typeface="Segoe UI"/>
              </a:rPr>
              <a:t> misses </a:t>
            </a:r>
            <a:r>
              <a:rPr sz="2400" b="0">
                <a:solidFill>
                  <a:srgbClr val="6A3FC0"/>
                </a:solidFill>
                <a:latin typeface="Consolas"/>
              </a:rPr>
              <a:t>"true"</a:t>
            </a:r>
            <a:r>
              <a:rPr sz="2400" b="0">
                <a:solidFill>
                  <a:srgbClr val="1C2330"/>
                </a:solidFill>
                <a:latin typeface="Segoe UI"/>
              </a:rPr>
              <a:t> and </a:t>
            </a:r>
            <a:r>
              <a:rPr sz="2400" b="0">
                <a:solidFill>
                  <a:srgbClr val="6A3FC0"/>
                </a:solidFill>
                <a:latin typeface="Consolas"/>
              </a:rPr>
              <a:t>"1"</a:t>
            </a:r>
          </a:p>
          <a:p>
            <a:pPr>
              <a:spcAft>
                <a:spcPts val="1600"/>
              </a:spcAft>
            </a:pPr>
            <a:r>
              <a:rPr sz="2400" b="0">
                <a:solidFill>
                  <a:srgbClr val="1C2330"/>
                </a:solidFill>
                <a:latin typeface="Segoe UI"/>
              </a:rPr>
              <a:t>•  Calling </a:t>
            </a:r>
            <a:r>
              <a:rPr sz="2400" b="0">
                <a:solidFill>
                  <a:srgbClr val="6A3FC0"/>
                </a:solidFill>
                <a:latin typeface="Consolas"/>
              </a:rPr>
              <a:t>.strip()</a:t>
            </a:r>
            <a:r>
              <a:rPr sz="2400" b="0">
                <a:solidFill>
                  <a:srgbClr val="1C2330"/>
                </a:solidFill>
                <a:latin typeface="Segoe UI"/>
              </a:rPr>
              <a:t> before checking </a:t>
            </a:r>
            <a:r>
              <a:rPr sz="2400" b="0">
                <a:solidFill>
                  <a:srgbClr val="6A3FC0"/>
                </a:solidFill>
                <a:latin typeface="Consolas"/>
              </a:rPr>
              <a:t>is None</a:t>
            </a:r>
            <a:r>
              <a:rPr sz="2400" b="0">
                <a:solidFill>
                  <a:srgbClr val="1C2330"/>
                </a:solidFill>
                <a:latin typeface="Segoe UI"/>
              </a:rPr>
              <a:t>: </a:t>
            </a:r>
            <a:r>
              <a:rPr sz="2400" b="0">
                <a:solidFill>
                  <a:srgbClr val="6A3FC0"/>
                </a:solidFill>
                <a:latin typeface="Consolas"/>
              </a:rPr>
              <a:t>AttributeError</a:t>
            </a:r>
          </a:p>
          <a:p>
            <a:pPr>
              <a:spcAft>
                <a:spcPts val="1600"/>
              </a:spcAft>
            </a:pPr>
            <a:r>
              <a:rPr sz="2400" b="0">
                <a:solidFill>
                  <a:srgbClr val="1C2330"/>
                </a:solidFill>
                <a:latin typeface="Segoe UI"/>
              </a:rPr>
              <a:t>•  Forgetting that </a:t>
            </a:r>
            <a:r>
              <a:rPr sz="2400" b="0">
                <a:solidFill>
                  <a:srgbClr val="6A3FC0"/>
                </a:solidFill>
                <a:latin typeface="Consolas"/>
              </a:rPr>
              <a:t>"   "</a:t>
            </a:r>
            <a:r>
              <a:rPr sz="2400" b="0">
                <a:solidFill>
                  <a:srgbClr val="1C2330"/>
                </a:solidFill>
                <a:latin typeface="Segoe UI"/>
              </a:rPr>
              <a:t> (only spaces) counts as missing</a:t>
            </a:r>
          </a:p>
          <a:p>
            <a:pPr>
              <a:spcAft>
                <a:spcPts val="1600"/>
              </a:spcAft>
            </a:pPr>
            <a:r>
              <a:rPr sz="2400" b="0">
                <a:solidFill>
                  <a:srgbClr val="1C2330"/>
                </a:solidFill>
                <a:latin typeface="Segoe UI"/>
              </a:rPr>
              <a:t>•  </a:t>
            </a:r>
            <a:r>
              <a:rPr sz="2400" b="0">
                <a:solidFill>
                  <a:srgbClr val="6A3FC0"/>
                </a:solidFill>
                <a:latin typeface="Consolas"/>
              </a:rPr>
              <a:t>return ImproperlyConfigured(...)</a:t>
            </a:r>
            <a:r>
              <a:rPr sz="2400" b="0">
                <a:solidFill>
                  <a:srgbClr val="1C2330"/>
                </a:solidFill>
                <a:latin typeface="Segoe UI"/>
              </a:rPr>
              <a:t> instead of </a:t>
            </a:r>
            <a:r>
              <a:rPr sz="2400" b="0">
                <a:solidFill>
                  <a:srgbClr val="6A3FC0"/>
                </a:solidFill>
                <a:latin typeface="Consolas"/>
              </a:rPr>
              <a:t>raise</a:t>
            </a:r>
          </a:p>
          <a:p>
            <a:pPr>
              <a:spcAft>
                <a:spcPts val="1600"/>
              </a:spcAft>
            </a:pPr>
            <a:r>
              <a:rPr sz="2400" b="0">
                <a:solidFill>
                  <a:srgbClr val="1C2330"/>
                </a:solidFill>
                <a:latin typeface="Segoe UI"/>
              </a:rPr>
              <a:t>•  </a:t>
            </a:r>
            <a:r>
              <a:rPr sz="2400" b="0">
                <a:solidFill>
                  <a:srgbClr val="6A3FC0"/>
                </a:solidFill>
                <a:latin typeface="Consolas"/>
              </a:rPr>
              <a:t>env_list</a:t>
            </a:r>
            <a:r>
              <a:rPr sz="2400" b="0">
                <a:solidFill>
                  <a:srgbClr val="1C2330"/>
                </a:solidFill>
                <a:latin typeface="Segoe UI"/>
              </a:rPr>
              <a:t> returning </a:t>
            </a:r>
            <a:r>
              <a:rPr sz="2400" b="0">
                <a:solidFill>
                  <a:srgbClr val="6A3FC0"/>
                </a:solidFill>
                <a:latin typeface="Consolas"/>
              </a:rPr>
              <a:t>None</a:t>
            </a:r>
            <a:r>
              <a:rPr sz="2400" b="0">
                <a:solidFill>
                  <a:srgbClr val="1C2330"/>
                </a:solidFill>
                <a:latin typeface="Segoe UI"/>
              </a:rPr>
              <a:t> instead of </a:t>
            </a:r>
            <a:r>
              <a:rPr sz="2400" b="0">
                <a:solidFill>
                  <a:srgbClr val="6A3FC0"/>
                </a:solidFill>
                <a:latin typeface="Consolas"/>
              </a:rPr>
              <a:t>[]</a:t>
            </a:r>
            <a:r>
              <a:rPr sz="2400" b="0">
                <a:solidFill>
                  <a:srgbClr val="1C2330"/>
                </a:solidFill>
                <a:latin typeface="Segoe UI"/>
              </a:rPr>
              <a:t>; </a:t>
            </a:r>
            <a:r>
              <a:rPr sz="2400" b="0">
                <a:solidFill>
                  <a:srgbClr val="6A3FC0"/>
                </a:solidFill>
                <a:latin typeface="Consolas"/>
              </a:rPr>
              <a:t>env_int</a:t>
            </a:r>
            <a:r>
              <a:rPr sz="2400" b="0">
                <a:solidFill>
                  <a:srgbClr val="1C2330"/>
                </a:solidFill>
                <a:latin typeface="Segoe UI"/>
              </a:rPr>
              <a:t> returning </a:t>
            </a:r>
            <a:r>
              <a:rPr sz="2400" b="0">
                <a:solidFill>
                  <a:srgbClr val="6A3FC0"/>
                </a:solidFill>
                <a:latin typeface="Consolas"/>
              </a:rPr>
              <a:t>"8000"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Where you'll use this</a:t>
            </a:r>
          </a:p>
        </p:txBody>
      </p:sp>
      <p:sp>
        <p:nvSpPr>
          <p:cNvPr id="6" name="Rounded Rectangle 5"/>
          <p:cNvSpPr/>
          <p:nvPr/>
        </p:nvSpPr>
        <p:spPr>
          <a:xfrm>
            <a:off x="640080" y="1508760"/>
            <a:ext cx="10911535" cy="15544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80015" cy="1280160"/>
          </a:xfrm>
          <a:prstGeom prst="rect">
            <a:avLst/>
          </a:prstGeom>
          <a:noFill/>
        </p:spPr>
        <p:txBody>
          <a:bodyPr wrap="square" anchor="ctr" lIns="0" rIns="0" tIns="0" bIns="0">
            <a:spAutoFit/>
          </a:bodyPr>
          <a:lstStyle/>
          <a:p>
            <a:pPr>
              <a:spcAft>
                <a:spcPts val="600"/>
              </a:spcAft>
            </a:pPr>
            <a:r>
              <a:rPr sz="2100" b="0">
                <a:solidFill>
                  <a:srgbClr val="1C2330"/>
                </a:solidFill>
                <a:latin typeface="Segoe UI"/>
              </a:rPr>
              <a:t>You deploy to production and set </a:t>
            </a:r>
            <a:r>
              <a:rPr sz="2100" b="0">
                <a:solidFill>
                  <a:srgbClr val="6A3FC0"/>
                </a:solidFill>
                <a:latin typeface="Consolas"/>
              </a:rPr>
              <a:t>DJANGO_DEBUG=ture</a:t>
            </a:r>
            <a:r>
              <a:rPr sz="2100" b="0">
                <a:solidFill>
                  <a:srgbClr val="1C2330"/>
                </a:solidFill>
                <a:latin typeface="Segoe UI"/>
              </a:rPr>
              <a:t> by mistake. With </a:t>
            </a:r>
            <a:r>
              <a:rPr sz="2100" b="0">
                <a:solidFill>
                  <a:srgbClr val="6A3FC0"/>
                </a:solidFill>
                <a:latin typeface="Consolas"/>
              </a:rPr>
              <a:t>bool(...)</a:t>
            </a:r>
            <a:r>
              <a:rPr sz="2100" b="0">
                <a:solidFill>
                  <a:srgbClr val="1C2330"/>
                </a:solidFill>
                <a:latin typeface="Segoe UI"/>
              </a:rPr>
              <a:t> the site quietly runs in debug mode and shows error details to strangers. With </a:t>
            </a:r>
            <a:r>
              <a:rPr sz="2100" b="0">
                <a:solidFill>
                  <a:srgbClr val="6A3FC0"/>
                </a:solidFill>
                <a:latin typeface="Consolas"/>
              </a:rPr>
              <a:t>env_bool</a:t>
            </a:r>
            <a:r>
              <a:rPr sz="2100" b="0">
                <a:solidFill>
                  <a:srgbClr val="1C2330"/>
                </a:solidFill>
                <a:latin typeface="Segoe UI"/>
              </a:rPr>
              <a:t>, it refuses to start and tells you why.</a:t>
            </a:r>
          </a:p>
        </p:txBody>
      </p:sp>
      <p:sp>
        <p:nvSpPr>
          <p:cNvPr id="8" name="TextBox 7"/>
          <p:cNvSpPr txBox="1"/>
          <p:nvPr/>
        </p:nvSpPr>
        <p:spPr>
          <a:xfrm>
            <a:off x="640080" y="3337560"/>
            <a:ext cx="10911535" cy="2743200"/>
          </a:xfrm>
          <a:prstGeom prst="rect">
            <a:avLst/>
          </a:prstGeom>
          <a:noFill/>
        </p:spPr>
        <p:txBody>
          <a:bodyPr wrap="square" anchor="t" lIns="0" rIns="0" tIns="0" bIns="0">
            <a:spAutoFit/>
          </a:bodyPr>
          <a:lstStyle/>
          <a:p>
            <a:pPr>
              <a:spcAft>
                <a:spcPts val="1200"/>
              </a:spcAft>
            </a:pPr>
            <a:r>
              <a:rPr sz="2000" b="0">
                <a:solidFill>
                  <a:srgbClr val="1C2330"/>
                </a:solidFill>
                <a:latin typeface="Segoe UI"/>
              </a:rPr>
              <a:t>•  Real projects read </a:t>
            </a:r>
            <a:r>
              <a:rPr sz="2000" b="0">
                <a:solidFill>
                  <a:srgbClr val="6A3FC0"/>
                </a:solidFill>
                <a:latin typeface="Consolas"/>
              </a:rPr>
              <a:t>SECRET_KEY</a:t>
            </a:r>
            <a:r>
              <a:rPr sz="2000" b="0">
                <a:solidFill>
                  <a:srgbClr val="1C2330"/>
                </a:solidFill>
                <a:latin typeface="Segoe UI"/>
              </a:rPr>
              <a:t>, </a:t>
            </a:r>
            <a:r>
              <a:rPr sz="2000" b="0">
                <a:solidFill>
                  <a:srgbClr val="6A3FC0"/>
                </a:solidFill>
                <a:latin typeface="Consolas"/>
              </a:rPr>
              <a:t>DEBUG</a:t>
            </a:r>
            <a:r>
              <a:rPr sz="2000" b="0">
                <a:solidFill>
                  <a:srgbClr val="1C2330"/>
                </a:solidFill>
                <a:latin typeface="Segoe UI"/>
              </a:rPr>
              <a:t>, </a:t>
            </a:r>
            <a:r>
              <a:rPr sz="2000" b="0">
                <a:solidFill>
                  <a:srgbClr val="6A3FC0"/>
                </a:solidFill>
                <a:latin typeface="Consolas"/>
              </a:rPr>
              <a:t>ALLOWED_HOSTS</a:t>
            </a:r>
            <a:r>
              <a:rPr sz="2000" b="0">
                <a:solidFill>
                  <a:srgbClr val="1C2330"/>
                </a:solidFill>
                <a:latin typeface="Segoe UI"/>
              </a:rPr>
              <a:t> and database settings this way</a:t>
            </a:r>
          </a:p>
          <a:p>
            <a:pPr>
              <a:spcAft>
                <a:spcPts val="1200"/>
              </a:spcAft>
            </a:pPr>
            <a:r>
              <a:rPr sz="2000" b="0">
                <a:solidFill>
                  <a:srgbClr val="1C2330"/>
                </a:solidFill>
                <a:latin typeface="Segoe UI"/>
              </a:rPr>
              <a:t>•  Open </a:t>
            </a:r>
            <a:r>
              <a:rPr sz="2000" b="0">
                <a:solidFill>
                  <a:srgbClr val="6A3FC0"/>
                </a:solidFill>
                <a:latin typeface="Consolas"/>
              </a:rPr>
              <a:t>.env.example</a:t>
            </a:r>
            <a:r>
              <a:rPr sz="2000" b="0">
                <a:solidFill>
                  <a:srgbClr val="1C2330"/>
                </a:solidFill>
                <a:latin typeface="Segoe UI"/>
              </a:rPr>
              <a:t> and </a:t>
            </a:r>
            <a:r>
              <a:rPr sz="2000" b="0">
                <a:solidFill>
                  <a:srgbClr val="6A3FC0"/>
                </a:solidFill>
                <a:latin typeface="Consolas"/>
              </a:rPr>
              <a:t>config/settings.py</a:t>
            </a:r>
            <a:r>
              <a:rPr sz="2000" b="0">
                <a:solidFill>
                  <a:srgbClr val="1C2330"/>
                </a:solidFill>
                <a:latin typeface="Segoe UI"/>
              </a:rPr>
              <a:t> in this project to see it</a:t>
            </a:r>
          </a:p>
          <a:p>
            <a:pPr>
              <a:spcAft>
                <a:spcPts val="1200"/>
              </a:spcAft>
            </a:pPr>
            <a:r>
              <a:rPr sz="2000" b="0">
                <a:solidFill>
                  <a:srgbClr val="1C2330"/>
                </a:solidFill>
                <a:latin typeface="Segoe UI"/>
              </a:rPr>
              <a:t>•  Libraries like </a:t>
            </a:r>
            <a:r>
              <a:rPr sz="2000" b="0">
                <a:solidFill>
                  <a:srgbClr val="6A3FC0"/>
                </a:solidFill>
                <a:latin typeface="Consolas"/>
              </a:rPr>
              <a:t>django-environ</a:t>
            </a:r>
            <a:r>
              <a:rPr sz="2000" b="0">
                <a:solidFill>
                  <a:srgbClr val="1C2330"/>
                </a:solidFill>
                <a:latin typeface="Segoe UI"/>
              </a:rPr>
              <a:t> do the same job as your four helpers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Check yourself</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800"/>
              </a:spcAft>
            </a:pPr>
            <a:r>
              <a:rPr sz="2300" b="0">
                <a:solidFill>
                  <a:srgbClr val="1C2330"/>
                </a:solidFill>
                <a:latin typeface="Segoe UI"/>
              </a:rPr>
              <a:t>1.  Why keep passwords and </a:t>
            </a:r>
            <a:r>
              <a:rPr sz="2300" b="0">
                <a:solidFill>
                  <a:srgbClr val="6A3FC0"/>
                </a:solidFill>
                <a:latin typeface="Consolas"/>
              </a:rPr>
              <a:t>SECRET_KEY</a:t>
            </a:r>
            <a:r>
              <a:rPr sz="2300" b="0">
                <a:solidFill>
                  <a:srgbClr val="1C2330"/>
                </a:solidFill>
                <a:latin typeface="Segoe UI"/>
              </a:rPr>
              <a:t> out of </a:t>
            </a:r>
            <a:r>
              <a:rPr sz="2300" b="0">
                <a:solidFill>
                  <a:srgbClr val="6A3FC0"/>
                </a:solidFill>
                <a:latin typeface="Consolas"/>
              </a:rPr>
              <a:t>settings.py</a:t>
            </a:r>
            <a:r>
              <a:rPr sz="2300" b="0">
                <a:solidFill>
                  <a:srgbClr val="1C2330"/>
                </a:solidFill>
                <a:latin typeface="Segoe UI"/>
              </a:rPr>
              <a:t>?</a:t>
            </a:r>
          </a:p>
          <a:p>
            <a:pPr>
              <a:spcAft>
                <a:spcPts val="1800"/>
              </a:spcAft>
            </a:pPr>
            <a:r>
              <a:rPr sz="2300" b="0">
                <a:solidFill>
                  <a:srgbClr val="1C2330"/>
                </a:solidFill>
                <a:latin typeface="Segoe UI"/>
              </a:rPr>
              <a:t>2.  </a:t>
            </a:r>
            <a:r>
              <a:rPr sz="2300" b="0">
                <a:solidFill>
                  <a:srgbClr val="6A3FC0"/>
                </a:solidFill>
                <a:latin typeface="Consolas"/>
              </a:rPr>
              <a:t>DJANGO_DEBUG=False</a:t>
            </a:r>
            <a:r>
              <a:rPr sz="2300" b="0">
                <a:solidFill>
                  <a:srgbClr val="1C2330"/>
                </a:solidFill>
                <a:latin typeface="Segoe UI"/>
              </a:rPr>
              <a:t>: what does </a:t>
            </a:r>
            <a:r>
              <a:rPr sz="2300" b="0">
                <a:solidFill>
                  <a:srgbClr val="6A3FC0"/>
                </a:solidFill>
                <a:latin typeface="Consolas"/>
              </a:rPr>
              <a:t>os.environ.get("DJANGO_DEBUG")</a:t>
            </a:r>
            <a:r>
              <a:rPr sz="2300" b="0">
                <a:solidFill>
                  <a:srgbClr val="1C2330"/>
                </a:solidFill>
                <a:latin typeface="Segoe UI"/>
              </a:rPr>
              <a:t> give, and is it truthy?</a:t>
            </a:r>
          </a:p>
          <a:p>
            <a:pPr>
              <a:spcAft>
                <a:spcPts val="1800"/>
              </a:spcAft>
            </a:pPr>
            <a:r>
              <a:rPr sz="2300" b="0">
                <a:solidFill>
                  <a:srgbClr val="1C2330"/>
                </a:solidFill>
                <a:latin typeface="Segoe UI"/>
              </a:rPr>
              <a:t>3.  Why check </a:t>
            </a:r>
            <a:r>
              <a:rPr sz="2300" b="0">
                <a:solidFill>
                  <a:srgbClr val="6A3FC0"/>
                </a:solidFill>
                <a:latin typeface="Consolas"/>
              </a:rPr>
              <a:t>value is None</a:t>
            </a:r>
            <a:r>
              <a:rPr sz="2300" b="0">
                <a:solidFill>
                  <a:srgbClr val="1C2330"/>
                </a:solidFill>
                <a:latin typeface="Segoe UI"/>
              </a:rPr>
              <a:t> before calling </a:t>
            </a:r>
            <a:r>
              <a:rPr sz="2300" b="0">
                <a:solidFill>
                  <a:srgbClr val="6A3FC0"/>
                </a:solidFill>
                <a:latin typeface="Consolas"/>
              </a:rPr>
              <a:t>.strip()</a:t>
            </a:r>
            <a:r>
              <a:rPr sz="2300" b="0">
                <a:solidFill>
                  <a:srgbClr val="1C2330"/>
                </a:solidFill>
                <a:latin typeface="Segoe UI"/>
              </a:rPr>
              <a:t>?</a:t>
            </a:r>
          </a:p>
          <a:p>
            <a:pPr>
              <a:spcAft>
                <a:spcPts val="1800"/>
              </a:spcAft>
            </a:pPr>
            <a:r>
              <a:rPr sz="2300" b="0">
                <a:solidFill>
                  <a:srgbClr val="1C2330"/>
                </a:solidFill>
                <a:latin typeface="Segoe UI"/>
              </a:rPr>
              <a:t>4.  What is the difference between </a:t>
            </a:r>
            <a:r>
              <a:rPr sz="2300" b="0">
                <a:solidFill>
                  <a:srgbClr val="6A3FC0"/>
                </a:solidFill>
                <a:latin typeface="Consolas"/>
              </a:rPr>
              <a:t>return</a:t>
            </a:r>
            <a:r>
              <a:rPr sz="2300" b="0">
                <a:solidFill>
                  <a:srgbClr val="1C2330"/>
                </a:solidFill>
                <a:latin typeface="Segoe UI"/>
              </a:rPr>
              <a:t> and </a:t>
            </a:r>
            <a:r>
              <a:rPr sz="2300" b="0">
                <a:solidFill>
                  <a:srgbClr val="6A3FC0"/>
                </a:solidFill>
                <a:latin typeface="Consolas"/>
              </a:rPr>
              <a:t>raise</a:t>
            </a:r>
            <a:r>
              <a:rPr sz="2300" b="0">
                <a:solidFill>
                  <a:srgbClr val="1C2330"/>
                </a:solidFill>
                <a:latin typeface="Segoe UI"/>
              </a:rPr>
              <a:t> for an error?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14  ·  Configuration from the environment</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Keep learning</a:t>
            </a:r>
          </a:p>
        </p:txBody>
      </p:sp>
      <p:sp>
        <p:nvSpPr>
          <p:cNvPr id="6" name="TextBox 5"/>
          <p:cNvSpPr txBox="1"/>
          <p:nvPr/>
        </p:nvSpPr>
        <p:spPr>
          <a:xfrm>
            <a:off x="640080" y="1463040"/>
            <a:ext cx="10911535" cy="4663440"/>
          </a:xfrm>
          <a:prstGeom prst="rect">
            <a:avLst/>
          </a:prstGeom>
          <a:noFill/>
        </p:spPr>
        <p:txBody>
          <a:bodyPr wrap="square" anchor="t" lIns="0" rIns="0" tIns="0" bIns="0">
            <a:spAutoFit/>
          </a:bodyPr>
          <a:lstStyle/>
          <a:p>
            <a:pPr>
              <a:spcAft>
                <a:spcPts val="200"/>
              </a:spcAft>
            </a:pPr>
            <a:r>
              <a:rPr sz="2000" b="1">
                <a:solidFill>
                  <a:srgbClr val="2F6FDF"/>
                </a:solidFill>
                <a:latin typeface="Segoe UI"/>
                <a:hlinkClick r:id="rId2"/>
              </a:rPr>
              <a:t>Python Env Vars – How to Get an Environment Variable in Python</a:t>
            </a:r>
          </a:p>
          <a:p>
            <a:pPr>
              <a:spcAft>
                <a:spcPts val="1200"/>
              </a:spcAft>
            </a:pPr>
            <a:r>
              <a:rPr sz="1500" b="0">
                <a:solidFill>
                  <a:srgbClr val="5D6778"/>
                </a:solidFill>
                <a:latin typeface="Segoe UI"/>
              </a:rPr>
              <a:t>freeCodeCamp · article · beginner. Start here: os.environ works like a dict, and os.environ.get lets you supply a default when a variable is missing.</a:t>
            </a:r>
          </a:p>
          <a:p>
            <a:pPr>
              <a:spcAft>
                <a:spcPts val="200"/>
              </a:spcAft>
            </a:pPr>
            <a:r>
              <a:rPr sz="2000" b="1">
                <a:solidFill>
                  <a:srgbClr val="2F6FDF"/>
                </a:solidFill>
                <a:latin typeface="Segoe UI"/>
                <a:hlinkClick r:id="rId3"/>
              </a:rPr>
              <a:t>The Twelve-Factor App: III. Config</a:t>
            </a:r>
          </a:p>
          <a:p>
            <a:pPr>
              <a:spcAft>
                <a:spcPts val="1200"/>
              </a:spcAft>
            </a:pPr>
            <a:r>
              <a:rPr sz="1500" b="0">
                <a:solidFill>
                  <a:srgbClr val="5D6778"/>
                </a:solidFill>
                <a:latin typeface="Segoe UI"/>
              </a:rPr>
              <a:t>The Twelve-Factor App · article · beginner. A one-page explanation of why settings and secrets belong in the environment, not in your code.</a:t>
            </a:r>
          </a:p>
          <a:p>
            <a:pPr>
              <a:spcAft>
                <a:spcPts val="200"/>
              </a:spcAft>
            </a:pPr>
            <a:r>
              <a:rPr sz="2000" b="1">
                <a:solidFill>
                  <a:srgbClr val="2F6FDF"/>
                </a:solidFill>
                <a:latin typeface="Segoe UI"/>
                <a:hlinkClick r:id="rId4"/>
              </a:rPr>
              <a:t>os.environ</a:t>
            </a:r>
          </a:p>
          <a:p>
            <a:pPr>
              <a:spcAft>
                <a:spcPts val="1200"/>
              </a:spcAft>
            </a:pPr>
            <a:r>
              <a:rPr sz="1500" b="0">
                <a:solidFill>
                  <a:srgbClr val="5D6778"/>
                </a:solidFill>
                <a:latin typeface="Segoe UI"/>
              </a:rPr>
              <a:t>Python docs · docs · intermediate. Official reference; note that every value is a string, which is why you write env_bool, env_int and env_list.</a:t>
            </a:r>
          </a:p>
          <a:p>
            <a:pPr>
              <a:spcAft>
                <a:spcPts val="200"/>
              </a:spcAft>
            </a:pPr>
            <a:r>
              <a:rPr sz="2000" b="1">
                <a:solidFill>
                  <a:srgbClr val="2F6FDF"/>
                </a:solidFill>
                <a:latin typeface="Segoe UI"/>
                <a:hlinkClick r:id="rId5"/>
              </a:rPr>
              <a:t>Django settings</a:t>
            </a:r>
          </a:p>
          <a:p>
            <a:pPr>
              <a:spcAft>
                <a:spcPts val="1200"/>
              </a:spcAft>
            </a:pPr>
            <a:r>
              <a:rPr sz="1500" b="0">
                <a:solidFill>
                  <a:srgbClr val="5D6778"/>
                </a:solidFill>
                <a:latin typeface="Segoe UI"/>
              </a:rPr>
              <a:t>Django docs · docs · intermediate. How Django loads settings.py, where your env helpers end up being used.</a:t>
            </a:r>
          </a:p>
          <a:p>
            <a:pPr>
              <a:spcAft>
                <a:spcPts val="200"/>
              </a:spcAft>
            </a:pPr>
            <a:r>
              <a:rPr sz="2000" b="1">
                <a:solidFill>
                  <a:srgbClr val="2F6FDF"/>
                </a:solidFill>
                <a:latin typeface="Segoe UI"/>
                <a:hlinkClick r:id="rId6"/>
              </a:rPr>
              <a:t>Deployment checklist</a:t>
            </a:r>
          </a:p>
          <a:p>
            <a:pPr>
              <a:spcAft>
                <a:spcPts val="1200"/>
              </a:spcAft>
            </a:pPr>
            <a:r>
              <a:rPr sz="1500" b="0">
                <a:solidFill>
                  <a:srgbClr val="5D6778"/>
                </a:solidFill>
                <a:latin typeface="Segoe UI"/>
              </a:rPr>
              <a:t>Django docs · docs · intermediate. Lists the settings (DEBUG, SECRET_KEY, ALLOWED_HOSTS) that must come from the environment in production.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