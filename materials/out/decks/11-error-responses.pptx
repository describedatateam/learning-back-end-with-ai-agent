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11. By the end you should be able to explain what an exception handler does and turn any DRF error into one standard JSON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You've met exceptions in data analysis: a typo in df["prise"] raises KeyError. DRF has its own exceptions for web errors, like NotFound, and calls a handler function to turn them into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never create these yourself inside the function. exc and response only exist while a test is calling your function. context normally says which view failed; you just pass it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Validation errors are keyed by field name. Every other error has one "detail" key. That difference is why you need an 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ErrorDetail is DRF's special string that also remembers an error code. It behaves like normal text, and str() turns it into a plain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str(...) turns an ErrorDetail into plain text. isinstance gives True or False. In your file ValidationError is already imported by name, so you can write isinstance(exc, ValidationError). Check for None with `is None`, not ==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response["status_code"] doesn't work, and neither does response.data.detail. The object uses dots; the dict inside it uses brackets. You can also replace the whole dict: response.data = {...}.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pick the two changing values with if / else, then build the nested dict once. A dict inside a dict is just a value that happens to be a 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setting is REST_FRAMEWORK = {"EXCEPTION_HANDLER": "core.exceptions.api_exception_handler"}. Every view in the project then uses your handler.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python.org/3/tutorial/errors.html" TargetMode="External"/><Relationship Id="rId3" Type="http://schemas.openxmlformats.org/officeDocument/2006/relationships/hyperlink" Target="https://developer.mozilla.org/en-US/docs/Web/HTTP/Reference/Status" TargetMode="External"/><Relationship Id="rId4" Type="http://schemas.openxmlformats.org/officeDocument/2006/relationships/hyperlink" Target="https://www.django-rest-framework.org/api-guide/exceptions/#custom-exception-handling" TargetMode="External"/><Relationship Id="rId5" Type="http://schemas.openxmlformats.org/officeDocument/2006/relationships/hyperlink" Target="https://www.rfc-editor.org/rfc/rfc9457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2  ·  EXERCISE 11  · 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Consistent error responses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Wrap every API error in the same shape, so clients always know where to look.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Things go wrong in every API: a missing field, a task that doesn't exist, a user who isn't logged in. The server still answers, with a </a:t>
            </a:r>
            <a:r>
              <a:rPr sz="2400" b="1">
                <a:solidFill>
                  <a:srgbClr val="1C2330"/>
                </a:solidFill>
                <a:latin typeface="Segoe UI"/>
              </a:rPr>
              <a:t>status code</a:t>
            </a:r>
            <a:r>
              <a:rPr sz="2400" b="0">
                <a:solidFill>
                  <a:srgbClr val="1C2330"/>
                </a:solidFill>
                <a:latin typeface="Segoe UI"/>
              </a:rPr>
              <a:t> like </a:t>
            </a:r>
            <a:r>
              <a:rPr sz="2400" b="0">
                <a:solidFill>
                  <a:srgbClr val="6A3FC0"/>
                </a:solidFill>
                <a:latin typeface="Consolas"/>
              </a:rPr>
              <a:t>404</a:t>
            </a:r>
            <a:r>
              <a:rPr sz="2400" b="0">
                <a:solidFill>
                  <a:srgbClr val="1C2330"/>
                </a:solidFill>
                <a:latin typeface="Segoe UI"/>
              </a:rPr>
              <a:t> and a JSON body.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DRF's default error bodies come in </a:t>
            </a:r>
            <a:r>
              <a:rPr sz="2400" b="1">
                <a:solidFill>
                  <a:srgbClr val="1C2330"/>
                </a:solidFill>
                <a:latin typeface="Segoe UI"/>
              </a:rPr>
              <a:t>different shapes</a:t>
            </a:r>
            <a:r>
              <a:rPr sz="2400" b="0">
                <a:solidFill>
                  <a:srgbClr val="1C2330"/>
                </a:solidFill>
                <a:latin typeface="Segoe UI"/>
              </a:rPr>
              <a:t>. Your </a:t>
            </a:r>
            <a:r>
              <a:rPr sz="2400" b="1">
                <a:solidFill>
                  <a:srgbClr val="1C2330"/>
                </a:solidFill>
                <a:latin typeface="Segoe UI"/>
              </a:rPr>
              <a:t>exception handler</a:t>
            </a:r>
            <a:r>
              <a:rPr sz="2400" b="0">
                <a:solidFill>
                  <a:srgbClr val="1C2330"/>
                </a:solidFill>
                <a:latin typeface="Segoe UI"/>
              </a:rPr>
              <a:t> is a help desk that files every complaint on the </a:t>
            </a:r>
            <a:r>
              <a:rPr sz="2400" b="1">
                <a:solidFill>
                  <a:srgbClr val="1C2330"/>
                </a:solidFill>
                <a:latin typeface="Segoe UI"/>
              </a:rPr>
              <a:t>same form</a:t>
            </a:r>
            <a:r>
              <a:rPr sz="24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your code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tests pass an exception in as </a:t>
            </a:r>
            <a:r>
              <a:rPr sz="2000" b="0">
                <a:solidFill>
                  <a:srgbClr val="6A3FC0"/>
                </a:solidFill>
                <a:latin typeface="Consolas"/>
              </a:rPr>
              <a:t>exc</a:t>
            </a:r>
            <a:r>
              <a:rPr sz="2000" b="0">
                <a:solidFill>
                  <a:srgbClr val="1C2330"/>
                </a:solidFill>
                <a:latin typeface="Segoe UI"/>
              </a:rPr>
              <a:t>, and an empty dict </a:t>
            </a:r>
            <a:r>
              <a:rPr sz="2000" b="0">
                <a:solidFill>
                  <a:srgbClr val="6A3FC0"/>
                </a:solidFill>
                <a:latin typeface="Consolas"/>
              </a:rPr>
              <a:t>{}</a:t>
            </a:r>
            <a:r>
              <a:rPr sz="2000" b="0">
                <a:solidFill>
                  <a:srgbClr val="1C2330"/>
                </a:solidFill>
                <a:latin typeface="Segoe UI"/>
              </a:rPr>
              <a:t> as </a:t>
            </a:r>
            <a:r>
              <a:rPr sz="2000" b="0">
                <a:solidFill>
                  <a:srgbClr val="6A3FC0"/>
                </a:solidFill>
                <a:latin typeface="Consolas"/>
              </a:rPr>
              <a:t>context</a:t>
            </a:r>
            <a:r>
              <a:rPr sz="20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from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rest_framework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import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test 2 does this: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response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api_exception_handler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NotFound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other exceptions the tests pass in as exc: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ValidationError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title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This field is required.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NotAuthenticated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</a:t>
            </a:r>
            <a:r>
              <a:rPr sz="1600">
                <a:solidFill>
                  <a:srgbClr val="6A9955"/>
                </a:solidFill>
                <a:latin typeface="Consolas"/>
              </a:rPr>
              <a:t># 401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MethodNotAllowed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POST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6A9955"/>
                </a:solidFill>
                <a:latin typeface="Consolas"/>
              </a:rPr>
              <a:t># 405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KeyError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boom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a bug, not a web error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Two shapes in, one shape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Same status code, but every body gets the </a:t>
            </a:r>
            <a:r>
              <a:rPr sz="2000" b="0">
                <a:solidFill>
                  <a:srgbClr val="6A3FC0"/>
                </a:solidFill>
                <a:latin typeface="Consolas"/>
              </a:rPr>
              <a:t>"error"</a:t>
            </a:r>
            <a:r>
              <a:rPr sz="2000" b="0">
                <a:solidFill>
                  <a:srgbClr val="1C2330"/>
                </a:solidFill>
                <a:latin typeface="Segoe UI"/>
              </a:rPr>
              <a:t> envelope.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DRF's default bodies (before your change)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title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This field is required.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# ValidationError, 400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detail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Not found.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NotFound, 404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What your handler must return instead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error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status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400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message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Invalid input.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details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title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This field is required.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error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status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404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message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Not found.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details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exception handler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function that turns an exception into a response. DRF calls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0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status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0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400</a:t>
            </a:r>
            <a:r>
              <a:rPr sz="1900" b="0">
                <a:solidFill>
                  <a:srgbClr val="1C2330"/>
                </a:solidFill>
                <a:latin typeface="Segoe UI"/>
              </a:rPr>
              <a:t> bad input, </a:t>
            </a:r>
            <a:r>
              <a:rPr sz="1900" b="0">
                <a:solidFill>
                  <a:srgbClr val="6A3FC0"/>
                </a:solidFill>
                <a:latin typeface="Consolas"/>
              </a:rPr>
              <a:t>401</a:t>
            </a:r>
            <a:r>
              <a:rPr sz="1900" b="0">
                <a:solidFill>
                  <a:srgbClr val="1C2330"/>
                </a:solidFill>
                <a:latin typeface="Segoe UI"/>
              </a:rPr>
              <a:t> not logged in, </a:t>
            </a:r>
            <a:r>
              <a:rPr sz="1900" b="0">
                <a:solidFill>
                  <a:srgbClr val="6A3FC0"/>
                </a:solidFill>
                <a:latin typeface="Consolas"/>
              </a:rPr>
              <a:t>403</a:t>
            </a:r>
            <a:r>
              <a:rPr sz="1900" b="0">
                <a:solidFill>
                  <a:srgbClr val="1C2330"/>
                </a:solidFill>
                <a:latin typeface="Segoe UI"/>
              </a:rPr>
              <a:t> not allowed, </a:t>
            </a:r>
            <a:r>
              <a:rPr sz="1900" b="0">
                <a:solidFill>
                  <a:srgbClr val="6A3FC0"/>
                </a:solidFill>
                <a:latin typeface="Consolas"/>
              </a:rPr>
              <a:t>404</a:t>
            </a:r>
            <a:r>
              <a:rPr sz="1900" b="0">
                <a:solidFill>
                  <a:srgbClr val="1C2330"/>
                </a:solidFill>
                <a:latin typeface="Segoe UI"/>
              </a:rPr>
              <a:t> not found.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70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032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32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server bug. Unexpected errors should stay 500s.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32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794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ValidationError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94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"The data you sent is wrong", with messages per field.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94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56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envelope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56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fixed outer shape around every body,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{"error": {...}}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56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1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1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DRF's reply object,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.status_code</a:t>
            </a:r>
            <a:r>
              <a:rPr sz="1900" b="0">
                <a:solidFill>
                  <a:srgbClr val="1C2330"/>
                </a:solidFill>
                <a:latin typeface="Segoe UI"/>
              </a:rPr>
              <a:t> and </a:t>
            </a:r>
            <a:r>
              <a:rPr sz="1900" b="0">
                <a:solidFill>
                  <a:srgbClr val="6A3FC0"/>
                </a:solidFill>
                <a:latin typeface="Consolas"/>
              </a:rPr>
              <a:t>.data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318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DRF's exception_handler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Already called on the first line of your function. A bug gives back </a:t>
            </a:r>
            <a:r>
              <a:rPr sz="2000" b="0">
                <a:solidFill>
                  <a:srgbClr val="6A3FC0"/>
                </a:solidFill>
                <a:latin typeface="Consolas"/>
              </a:rPr>
              <a:t>None</a:t>
            </a:r>
            <a:r>
              <a:rPr sz="20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27685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911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from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rest_framework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import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exceptions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from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rest_framework</a:t>
            </a:r>
            <a:r>
              <a:rPr sz="1800">
                <a:solidFill>
                  <a:srgbClr val="9CDCFE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views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import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exception_handler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response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exception_handler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exceptions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NotFound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response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status_code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response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data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exception_handler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KeyError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oops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6A9955"/>
                </a:solidFill>
                <a:latin typeface="Consolas"/>
              </a:rPr>
              <a:t># a bug, not a web error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404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detail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ErrorDetail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string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Not found.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code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not_found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None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str and isinstance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314553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2779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from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rest_framework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import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from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rest_framework</a:t>
            </a:r>
            <a:r>
              <a:rPr sz="1600">
                <a:solidFill>
                  <a:srgbClr val="9CDCFE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views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import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exception_handler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response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exception_handler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ParseError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str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response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data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detail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</a:t>
            </a:r>
            <a:r>
              <a:rPr sz="1600">
                <a:solidFill>
                  <a:srgbClr val="6A9955"/>
                </a:solidFill>
                <a:latin typeface="Consolas"/>
              </a:rPr>
              <a:t># plain text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isinstance asks: "is this value that kind of thing?"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bad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ValidationError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bad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isinstance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bad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ValidationError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isinstance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NotFound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exceptions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ValidationError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Malformed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request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Dots vs square brackets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response.status_code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An </a:t>
            </a:r>
            <a:r>
              <a:rPr sz="1900" b="1">
                <a:solidFill>
                  <a:srgbClr val="1C2330"/>
                </a:solidFill>
                <a:latin typeface="Segoe UI"/>
              </a:rPr>
              <a:t>attribute</a:t>
            </a:r>
            <a:r>
              <a:rPr sz="1900" b="0">
                <a:solidFill>
                  <a:srgbClr val="1C2330"/>
                </a:solidFill>
                <a:latin typeface="Segoe UI"/>
              </a:rPr>
              <a:t> of the response object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Read it with a </a:t>
            </a:r>
            <a:r>
              <a:rPr sz="1900" b="1">
                <a:solidFill>
                  <a:srgbClr val="1C2330"/>
                </a:solidFill>
                <a:latin typeface="Segoe UI"/>
              </a:rPr>
              <a:t>dot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 number,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404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Use it for </a:t>
            </a:r>
            <a:r>
              <a:rPr sz="1900" b="0">
                <a:solidFill>
                  <a:srgbClr val="6A3FC0"/>
                </a:solidFill>
                <a:latin typeface="Consolas"/>
              </a:rPr>
              <a:t>"status"</a:t>
            </a:r>
            <a:r>
              <a:rPr sz="1900" b="0">
                <a:solidFill>
                  <a:srgbClr val="1C2330"/>
                </a:solidFill>
                <a:latin typeface="Segoe UI"/>
              </a:rPr>
              <a:t>, never type </a:t>
            </a:r>
            <a:r>
              <a:rPr sz="1900" b="0">
                <a:solidFill>
                  <a:srgbClr val="6A3FC0"/>
                </a:solidFill>
                <a:latin typeface="Consolas"/>
              </a:rPr>
              <a:t>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response.data["detail"]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 </a:t>
            </a:r>
            <a:r>
              <a:rPr sz="1900" b="1">
                <a:solidFill>
                  <a:srgbClr val="1C2330"/>
                </a:solidFill>
                <a:latin typeface="Segoe UI"/>
              </a:rPr>
              <a:t>key</a:t>
            </a:r>
            <a:r>
              <a:rPr sz="1900" b="0">
                <a:solidFill>
                  <a:srgbClr val="1C2330"/>
                </a:solidFill>
                <a:latin typeface="Segoe UI"/>
              </a:rPr>
              <a:t> inside a dictionary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Read it with </a:t>
            </a:r>
            <a:r>
              <a:rPr sz="1900" b="1">
                <a:solidFill>
                  <a:srgbClr val="1C2330"/>
                </a:solidFill>
                <a:latin typeface="Segoe UI"/>
              </a:rPr>
              <a:t>square brackets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An </a:t>
            </a:r>
            <a:r>
              <a:rPr sz="1900" b="0">
                <a:solidFill>
                  <a:srgbClr val="6A3FC0"/>
                </a:solidFill>
                <a:latin typeface="Consolas"/>
              </a:rPr>
              <a:t>ErrorDetail</a:t>
            </a:r>
            <a:r>
              <a:rPr sz="1900" b="0">
                <a:solidFill>
                  <a:srgbClr val="1C2330"/>
                </a:solidFill>
                <a:latin typeface="Segoe UI"/>
              </a:rPr>
              <a:t>: wrap it in </a:t>
            </a:r>
            <a:r>
              <a:rPr sz="1900" b="0">
                <a:solidFill>
                  <a:srgbClr val="6A3FC0"/>
                </a:solidFill>
                <a:latin typeface="Consolas"/>
              </a:rPr>
              <a:t>str(...)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Missing for validation errors!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Pattern: choose, then wrap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same shape your handler needs, on different data: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86207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496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order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item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tea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problem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out of stock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if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order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problem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out of stock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note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extra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Sorry, we ran out.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item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order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item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else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note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extra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order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problem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reply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reply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code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7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note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note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extra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extra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reply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376672"/>
            <a:ext cx="10911535" cy="795528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62895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reply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code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7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note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Sorry, we ran out.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extra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item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tea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6497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Keep the first line; if </a:t>
            </a:r>
            <a:r>
              <a:rPr sz="1900" b="0">
                <a:solidFill>
                  <a:srgbClr val="6A3FC0"/>
                </a:solidFill>
                <a:latin typeface="Consolas"/>
              </a:rPr>
              <a:t>response</a:t>
            </a:r>
            <a:r>
              <a:rPr sz="1900" b="0">
                <a:solidFill>
                  <a:srgbClr val="1C2330"/>
                </a:solidFill>
                <a:latin typeface="Segoe UI"/>
              </a:rPr>
              <a:t> is </a:t>
            </a:r>
            <a:r>
              <a:rPr sz="1900" b="0">
                <a:solidFill>
                  <a:srgbClr val="6A3FC0"/>
                </a:solidFill>
                <a:latin typeface="Consolas"/>
              </a:rPr>
              <a:t>None</a:t>
            </a:r>
            <a:r>
              <a:rPr sz="1900" b="0">
                <a:solidFill>
                  <a:srgbClr val="1C2330"/>
                </a:solidFill>
                <a:latin typeface="Segoe UI"/>
              </a:rPr>
              <a:t>, return </a:t>
            </a:r>
            <a:r>
              <a:rPr sz="1900" b="0">
                <a:solidFill>
                  <a:srgbClr val="6A3FC0"/>
                </a:solidFill>
                <a:latin typeface="Consolas"/>
              </a:rPr>
              <a:t>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6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3459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7838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ValidationError</a:t>
            </a:r>
            <a:r>
              <a:rPr sz="1900" b="0">
                <a:solidFill>
                  <a:srgbClr val="1C2330"/>
                </a:solidFill>
                <a:latin typeface="Segoe UI"/>
              </a:rPr>
              <a:t>: message </a:t>
            </a:r>
            <a:r>
              <a:rPr sz="1900" b="0">
                <a:solidFill>
                  <a:srgbClr val="6A3FC0"/>
                </a:solidFill>
                <a:latin typeface="Consolas"/>
              </a:rPr>
              <a:t>"Invalid input."</a:t>
            </a:r>
            <a:r>
              <a:rPr sz="1900" b="0">
                <a:solidFill>
                  <a:srgbClr val="1C2330"/>
                </a:solidFill>
                <a:latin typeface="Segoe UI"/>
              </a:rPr>
              <a:t>, details </a:t>
            </a:r>
            <a:r>
              <a:rPr sz="1900" b="0">
                <a:solidFill>
                  <a:srgbClr val="6A3FC0"/>
                </a:solidFill>
                <a:latin typeface="Consolas"/>
              </a:rPr>
              <a:t>response.data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27838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1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0421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4800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Otherwise: message </a:t>
            </a:r>
            <a:r>
              <a:rPr sz="1900" b="0">
                <a:solidFill>
                  <a:srgbClr val="6A3FC0"/>
                </a:solidFill>
                <a:latin typeface="Consolas"/>
              </a:rPr>
              <a:t>str(response.data["detail"])</a:t>
            </a:r>
            <a:r>
              <a:rPr sz="1900" b="0">
                <a:solidFill>
                  <a:srgbClr val="1C2330"/>
                </a:solidFill>
                <a:latin typeface="Segoe UI"/>
              </a:rPr>
              <a:t>, details </a:t>
            </a:r>
            <a:r>
              <a:rPr sz="1900" b="0">
                <a:solidFill>
                  <a:srgbClr val="6A3FC0"/>
                </a:solidFill>
                <a:latin typeface="Consolas"/>
              </a:rPr>
              <a:t>{}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2815" y="304800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2-4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97383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1762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Build </a:t>
            </a:r>
            <a:r>
              <a:rPr sz="1900" b="0">
                <a:solidFill>
                  <a:srgbClr val="6A3FC0"/>
                </a:solidFill>
                <a:latin typeface="Consolas"/>
              </a:rPr>
              <a:t>{"status": ..., "message": ..., "details": ...}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74345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8724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Set </a:t>
            </a:r>
            <a:r>
              <a:rPr sz="1900" b="0">
                <a:solidFill>
                  <a:srgbClr val="6A3FC0"/>
                </a:solidFill>
                <a:latin typeface="Consolas"/>
              </a:rPr>
              <a:t>response.data = {"error": ...}</a:t>
            </a:r>
            <a:r>
              <a:rPr sz="1900" b="0">
                <a:solidFill>
                  <a:srgbClr val="1C2330"/>
                </a:solidFill>
                <a:latin typeface="Segoe UI"/>
              </a:rPr>
              <a:t>; status is </a:t>
            </a:r>
            <a:r>
              <a:rPr sz="1900" b="0">
                <a:solidFill>
                  <a:srgbClr val="6A3FC0"/>
                </a:solidFill>
                <a:latin typeface="Consolas"/>
              </a:rPr>
              <a:t>response.status_code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2815" y="458724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1-5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51307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5686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Return the same </a:t>
            </a:r>
            <a:r>
              <a:rPr sz="1900" b="0">
                <a:solidFill>
                  <a:srgbClr val="6A3FC0"/>
                </a:solidFill>
                <a:latin typeface="Consolas"/>
              </a:rPr>
              <a:t>response</a:t>
            </a:r>
            <a:r>
              <a:rPr sz="1900" b="0">
                <a:solidFill>
                  <a:srgbClr val="1C2330"/>
                </a:solidFill>
                <a:latin typeface="Segoe UI"/>
              </a:rPr>
              <a:t> object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535686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1-6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Reading </a:t>
            </a:r>
            <a:r>
              <a:rPr sz="2400" b="0">
                <a:solidFill>
                  <a:srgbClr val="6A3FC0"/>
                </a:solidFill>
                <a:latin typeface="Consolas"/>
              </a:rPr>
              <a:t>["detail"]</a:t>
            </a:r>
            <a:r>
              <a:rPr sz="2400" b="0">
                <a:solidFill>
                  <a:srgbClr val="1C2330"/>
                </a:solidFill>
                <a:latin typeface="Segoe UI"/>
              </a:rPr>
              <a:t> on a validation error: </a:t>
            </a:r>
            <a:r>
              <a:rPr sz="2400" b="0">
                <a:solidFill>
                  <a:srgbClr val="6A3FC0"/>
                </a:solidFill>
                <a:latin typeface="Consolas"/>
              </a:rPr>
              <a:t>KeyError</a:t>
            </a:r>
            <a:r>
              <a:rPr sz="2400" b="0">
                <a:solidFill>
                  <a:srgbClr val="1C2330"/>
                </a:solidFill>
                <a:latin typeface="Segoe UI"/>
              </a:rPr>
              <a:t>. Check it first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Returning your dict instead of </a:t>
            </a:r>
            <a:r>
              <a:rPr sz="2400" b="0">
                <a:solidFill>
                  <a:srgbClr val="6A3FC0"/>
                </a:solidFill>
                <a:latin typeface="Consolas"/>
              </a:rPr>
              <a:t>response</a:t>
            </a:r>
            <a:r>
              <a:rPr sz="2400" b="0">
                <a:solidFill>
                  <a:srgbClr val="1C2330"/>
                </a:solidFill>
                <a:latin typeface="Segoe UI"/>
              </a:rPr>
              <a:t>: the tests need </a:t>
            </a:r>
            <a:r>
              <a:rPr sz="2400" b="0">
                <a:solidFill>
                  <a:srgbClr val="6A3FC0"/>
                </a:solidFill>
                <a:latin typeface="Consolas"/>
              </a:rPr>
              <a:t>.status_code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Typing </a:t>
            </a:r>
            <a:r>
              <a:rPr sz="2400" b="0">
                <a:solidFill>
                  <a:srgbClr val="6A3FC0"/>
                </a:solidFill>
                <a:latin typeface="Consolas"/>
              </a:rPr>
              <a:t>"status": 400</a:t>
            </a:r>
            <a:r>
              <a:rPr sz="2400" b="0">
                <a:solidFill>
                  <a:srgbClr val="1C2330"/>
                </a:solidFill>
                <a:latin typeface="Segoe UI"/>
              </a:rPr>
              <a:t> by hand: test 5 checks 405, 429 and 400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Forgetting the outer </a:t>
            </a:r>
            <a:r>
              <a:rPr sz="2400" b="0">
                <a:solidFill>
                  <a:srgbClr val="6A3FC0"/>
                </a:solidFill>
                <a:latin typeface="Consolas"/>
              </a:rPr>
              <a:t>"error"</a:t>
            </a:r>
            <a:r>
              <a:rPr sz="2400" b="0">
                <a:solidFill>
                  <a:srgbClr val="1C2330"/>
                </a:solidFill>
                <a:latin typeface="Segoe UI"/>
              </a:rPr>
              <a:t> key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Turning </a:t>
            </a:r>
            <a:r>
              <a:rPr sz="2400" b="0">
                <a:solidFill>
                  <a:srgbClr val="6A3FC0"/>
                </a:solidFill>
                <a:latin typeface="Consolas"/>
              </a:rPr>
              <a:t>None</a:t>
            </a:r>
            <a:r>
              <a:rPr sz="2400" b="0">
                <a:solidFill>
                  <a:srgbClr val="1C2330"/>
                </a:solidFill>
                <a:latin typeface="Segoe UI"/>
              </a:rPr>
              <a:t> into a response: real bugs should stay 500s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React app shows a red banner whenever an API call fails. With one error shape, it only needs </a:t>
            </a:r>
            <a:r>
              <a:rPr sz="2100" b="0">
                <a:solidFill>
                  <a:srgbClr val="6A3FC0"/>
                </a:solidFill>
                <a:latin typeface="Consolas"/>
              </a:rPr>
              <a:t>body["error"]["message"]</a:t>
            </a:r>
            <a:r>
              <a:rPr sz="2100" b="0">
                <a:solidFill>
                  <a:srgbClr val="1C2330"/>
                </a:solidFill>
                <a:latin typeface="Segoe UI"/>
              </a:rPr>
              <a:t>, whatever went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Switch it on once, with the </a:t>
            </a:r>
            <a:r>
              <a:rPr sz="2000" b="0">
                <a:solidFill>
                  <a:srgbClr val="6A3FC0"/>
                </a:solidFill>
                <a:latin typeface="Consolas"/>
              </a:rPr>
              <a:t>EXCEPTION_HANDLER</a:t>
            </a:r>
            <a:r>
              <a:rPr sz="2000" b="0">
                <a:solidFill>
                  <a:srgbClr val="1C2330"/>
                </a:solidFill>
                <a:latin typeface="Segoe UI"/>
              </a:rPr>
              <a:t> setting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Mobile apps and other services get the same predictable errors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Unexpected bugs still become 500s, which you log and fix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What does </a:t>
            </a:r>
            <a:r>
              <a:rPr sz="2300" b="0">
                <a:solidFill>
                  <a:srgbClr val="6A3FC0"/>
                </a:solidFill>
                <a:latin typeface="Consolas"/>
              </a:rPr>
              <a:t>exception_handler</a:t>
            </a:r>
            <a:r>
              <a:rPr sz="2300" b="0">
                <a:solidFill>
                  <a:srgbClr val="1C2330"/>
                </a:solidFill>
                <a:latin typeface="Segoe UI"/>
              </a:rPr>
              <a:t> give back for a </a:t>
            </a:r>
            <a:r>
              <a:rPr sz="2300" b="0">
                <a:solidFill>
                  <a:srgbClr val="6A3FC0"/>
                </a:solidFill>
                <a:latin typeface="Consolas"/>
              </a:rPr>
              <a:t>KeyError</a:t>
            </a:r>
            <a:r>
              <a:rPr sz="2300" b="0">
                <a:solidFill>
                  <a:srgbClr val="1C2330"/>
                </a:solidFill>
                <a:latin typeface="Segoe UI"/>
              </a:rPr>
              <a:t>, and why?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Why must you check for </a:t>
            </a:r>
            <a:r>
              <a:rPr sz="2300" b="0">
                <a:solidFill>
                  <a:srgbClr val="6A3FC0"/>
                </a:solidFill>
                <a:latin typeface="Consolas"/>
              </a:rPr>
              <a:t>ValidationError</a:t>
            </a:r>
            <a:r>
              <a:rPr sz="2300" b="0">
                <a:solidFill>
                  <a:srgbClr val="1C2330"/>
                </a:solidFill>
                <a:latin typeface="Segoe UI"/>
              </a:rPr>
              <a:t> before reading </a:t>
            </a:r>
            <a:r>
              <a:rPr sz="2300" b="0">
                <a:solidFill>
                  <a:srgbClr val="6A3FC0"/>
                </a:solidFill>
                <a:latin typeface="Consolas"/>
              </a:rPr>
              <a:t>"detail"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Why use </a:t>
            </a:r>
            <a:r>
              <a:rPr sz="2300" b="0">
                <a:solidFill>
                  <a:srgbClr val="6A3FC0"/>
                </a:solidFill>
                <a:latin typeface="Consolas"/>
              </a:rPr>
              <a:t>response.status_code</a:t>
            </a:r>
            <a:r>
              <a:rPr sz="2300" b="0">
                <a:solidFill>
                  <a:srgbClr val="1C2330"/>
                </a:solidFill>
                <a:latin typeface="Segoe UI"/>
              </a:rPr>
              <a:t> instead of typing the number?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Why return </a:t>
            </a:r>
            <a:r>
              <a:rPr sz="2300" b="0">
                <a:solidFill>
                  <a:srgbClr val="6A3FC0"/>
                </a:solidFill>
                <a:latin typeface="Consolas"/>
              </a:rPr>
              <a:t>response</a:t>
            </a:r>
            <a:r>
              <a:rPr sz="2300" b="0">
                <a:solidFill>
                  <a:srgbClr val="1C2330"/>
                </a:solidFill>
                <a:latin typeface="Segoe UI"/>
              </a:rPr>
              <a:t>, not the dictionary you built?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11  ·  Consistent error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Errors and Exceptions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Python docs · tutorial · beginner. Start here: a refresher on raising and catching exceptions, since an exception handler is just code that receives one.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HTTP response status codes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MDN Web Docs · docs · beginner. The meaning of 400, 401, 403, 404 and 500, so every error your handler shapes keeps the right status.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Exceptions: custom exception handling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docs · intermediate. Official guide to writing a handler that calls DRF's exception_handler and reshapes its response, as this exercise does.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RFC 9457: Problem Details for HTTP APIs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IETF RFC Editor · docs · intermediate. The web standard for a consistent JSON error shape; skim it later to see how real APIs agree on error formats.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