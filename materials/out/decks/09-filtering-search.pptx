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goes with exercise 9. By the end you should be able to turn query parameters into a filtered, sorted queryset, and explain why ordering needs a whitelist.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turns those parameters into a database question: which rows, and in what order. In Django that question is a queryset. ?ordering=-due_date is like df.sort_values("due_date", ascending=False).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create these yourself. The tests create the tasks, then call your function with Task.objects.all() and a plain dict of parameters.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6 keeps a task due exactly on 2025-03-01, and leaves out Fix deploy script, which has no due date. The starter returns the queryset unchanged, so tests 1, 9 and 10 already pass by luck.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condition is written like a keyword argument, field=value with one =. Querysets are lazy: nothing touches the database until the results are used, so chaining filters is cheap.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icontains = contains, ignoring case. lte = less than or equal, so on or before that date. Rows with no due date are left out. Plain contains may care about capitals on some databases, so use icontains for search.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params.get gives None instead of a KeyError when the key is missing, and None and "" both count as false in an if. The blank second line of output is the empty string being printed. One if skips both missing and empty parameters, which is what test 10 needs.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ValueError is exactly what test 7 wants, so don't catch it. ALLOWED_ORDERING at the top of your file is a set like SIZES, and None in it is simply False.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go inside filter(...) and both return a new queryset. The parameter name in the URL (search, due_before) is not the field name: you choose the field and lookup.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max_length was empty, so its if was skipped. In your function, each if replaces queryset with queryset.filter(...).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Sorting by id on purpose keeps tests 1 and 10 passing for the right reason, not by luck.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9 checks that ordering=status is ignored even though status is a real field: it isn't on the whitelist.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utorial.djangogirls.org/en/django_orm/" TargetMode="External"/><Relationship Id="rId3" Type="http://schemas.openxmlformats.org/officeDocument/2006/relationships/hyperlink" Target="https://docs.djangoproject.com/en/5.2/topics/db/queries/" TargetMode="External"/><Relationship Id="rId4" Type="http://schemas.openxmlformats.org/officeDocument/2006/relationships/hyperlink" Target="https://docs.djangoproject.com/en/5.2/ref/models/querysets/#field-lookups" TargetMode="External"/><Relationship Id="rId5" Type="http://schemas.openxmlformats.org/officeDocument/2006/relationships/hyperlink" Target="https://docs.python.org/3/library/datetime.html#datetime.date.fromisoformat" TargetMode="External"/><Relationship Id="rId6" Type="http://schemas.openxmlformats.org/officeDocument/2006/relationships/hyperlink" Target="https://www.django-rest-framework.org/api-guide/filteri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51C"/>
        </a:solidFill>
        <a:effectLst/>
      </p:bgPr>
    </p:bg>
    <p:spTree>
      <p:nvGrpSpPr>
        <p:cNvPr id="1" name=""/>
        <p:cNvGrpSpPr/>
        <p:nvPr/>
      </p:nvGrpSpPr>
      <p:grpSpPr/>
      <p:sp>
        <p:nvSpPr>
          <p:cNvPr id="2" name="TextBox 1"/>
          <p:cNvSpPr txBox="1"/>
          <p:nvPr/>
        </p:nvSpPr>
        <p:spPr>
          <a:xfrm>
            <a:off x="640080" y="1554480"/>
            <a:ext cx="8229600" cy="365760"/>
          </a:xfrm>
          <a:prstGeom prst="rect">
            <a:avLst/>
          </a:prstGeom>
          <a:noFill/>
        </p:spPr>
        <p:txBody>
          <a:bodyPr wrap="square" anchor="t" lIns="0" rIns="0" tIns="0" bIns="0">
            <a:spAutoFit/>
          </a:bodyPr>
          <a:lstStyle/>
          <a:p>
            <a:pPr>
              <a:spcAft>
                <a:spcPts val="600"/>
              </a:spcAft>
            </a:pPr>
            <a:r>
              <a:rPr sz="1400" b="1">
                <a:solidFill>
                  <a:srgbClr val="B38CFF"/>
                </a:solidFill>
                <a:latin typeface="Segoe UI"/>
              </a:rPr>
              <a:t>WEEK 2  ·  EXERCISE 09  ·  QUERYSETS</a:t>
            </a:r>
          </a:p>
        </p:txBody>
      </p:sp>
      <p:sp>
        <p:nvSpPr>
          <p:cNvPr id="3" name="TextBox 2"/>
          <p:cNvSpPr txBox="1"/>
          <p:nvPr/>
        </p:nvSpPr>
        <p:spPr>
          <a:xfrm>
            <a:off x="640080" y="2103120"/>
            <a:ext cx="10911535" cy="2011680"/>
          </a:xfrm>
          <a:prstGeom prst="rect">
            <a:avLst/>
          </a:prstGeom>
          <a:noFill/>
        </p:spPr>
        <p:txBody>
          <a:bodyPr wrap="square" anchor="t" lIns="0" rIns="0" tIns="0" bIns="0">
            <a:spAutoFit/>
          </a:bodyPr>
          <a:lstStyle/>
          <a:p>
            <a:pPr>
              <a:spcAft>
                <a:spcPts val="600"/>
              </a:spcAft>
            </a:pPr>
            <a:r>
              <a:rPr sz="5400" b="1">
                <a:solidFill>
                  <a:srgbClr val="FFFFFF"/>
                </a:solidFill>
                <a:latin typeface="Segoe UI"/>
              </a:rPr>
              <a:t>Filter, search &amp; order</a:t>
            </a:r>
          </a:p>
        </p:txBody>
      </p:sp>
      <p:sp>
        <p:nvSpPr>
          <p:cNvPr id="4" name="Rectangle 3"/>
          <p:cNvSpPr/>
          <p:nvPr/>
        </p:nvSpPr>
        <p:spPr>
          <a:xfrm>
            <a:off x="640080" y="4160520"/>
            <a:ext cx="1280160" cy="73152"/>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480560"/>
            <a:ext cx="10911535" cy="1097280"/>
          </a:xfrm>
          <a:prstGeom prst="rect">
            <a:avLst/>
          </a:prstGeom>
          <a:noFill/>
        </p:spPr>
        <p:txBody>
          <a:bodyPr wrap="square" anchor="t" lIns="0" rIns="0" tIns="0" bIns="0">
            <a:spAutoFit/>
          </a:bodyPr>
          <a:lstStyle/>
          <a:p>
            <a:pPr>
              <a:spcAft>
                <a:spcPts val="600"/>
              </a:spcAft>
            </a:pPr>
            <a:r>
              <a:rPr sz="2200" b="0">
                <a:solidFill>
                  <a:srgbClr val="C9D1DE"/>
                </a:solidFill>
                <a:latin typeface="Segoe UI"/>
              </a:rPr>
              <a:t>Turn ?status=todo&amp;search=deploy&amp;ordering=-due_date into a safe database question.</a:t>
            </a:r>
          </a:p>
        </p:txBody>
      </p:sp>
      <p:sp>
        <p:nvSpPr>
          <p:cNvPr id="6" name="TextBox 5"/>
          <p:cNvSpPr txBox="1"/>
          <p:nvPr/>
        </p:nvSpPr>
        <p:spPr>
          <a:xfrm>
            <a:off x="640080" y="6035040"/>
            <a:ext cx="5486400" cy="365760"/>
          </a:xfrm>
          <a:prstGeom prst="rect">
            <a:avLst/>
          </a:prstGeom>
          <a:noFill/>
        </p:spPr>
        <p:txBody>
          <a:bodyPr wrap="square" anchor="t" lIns="0" rIns="0" tIns="0" bIns="0">
            <a:spAutoFit/>
          </a:bodyPr>
          <a:lstStyle/>
          <a:p>
            <a:pPr>
              <a:spcAft>
                <a:spcPts val="600"/>
              </a:spcAft>
            </a:pPr>
            <a:r>
              <a:rPr sz="1400" b="1">
                <a:solidFill>
                  <a:srgbClr val="9AA4B5"/>
                </a:solidFill>
                <a:latin typeface="Segoe UI"/>
              </a:rPr>
              <a:t>Backend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The big idea</a:t>
            </a:r>
          </a:p>
        </p:txBody>
      </p:sp>
      <p:sp>
        <p:nvSpPr>
          <p:cNvPr id="6" name="Rounded Rectangle 5"/>
          <p:cNvSpPr/>
          <p:nvPr/>
        </p:nvSpPr>
        <p:spPr>
          <a:xfrm>
            <a:off x="640080" y="1554480"/>
            <a:ext cx="10911535" cy="420624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997135" cy="3840480"/>
          </a:xfrm>
          <a:prstGeom prst="rect">
            <a:avLst/>
          </a:prstGeom>
          <a:noFill/>
        </p:spPr>
        <p:txBody>
          <a:bodyPr wrap="square" anchor="ctr" lIns="0" rIns="0" tIns="0" bIns="0">
            <a:spAutoFit/>
          </a:bodyPr>
          <a:lstStyle/>
          <a:p>
            <a:pPr>
              <a:spcAft>
                <a:spcPts val="1400"/>
              </a:spcAft>
            </a:pPr>
            <a:r>
              <a:rPr sz="2400" b="0">
                <a:solidFill>
                  <a:srgbClr val="1C2330"/>
                </a:solidFill>
                <a:latin typeface="Segoe UI"/>
              </a:rPr>
              <a:t>Users don't want every task. They want "my </a:t>
            </a:r>
            <a:r>
              <a:rPr sz="2400" b="1">
                <a:solidFill>
                  <a:srgbClr val="1C2330"/>
                </a:solidFill>
                <a:latin typeface="Segoe UI"/>
              </a:rPr>
              <a:t>high-priority</a:t>
            </a:r>
            <a:r>
              <a:rPr sz="2400" b="0">
                <a:solidFill>
                  <a:srgbClr val="1C2330"/>
                </a:solidFill>
                <a:latin typeface="Segoe UI"/>
              </a:rPr>
              <a:t> tasks due </a:t>
            </a:r>
            <a:r>
              <a:rPr sz="2400" b="1">
                <a:solidFill>
                  <a:srgbClr val="1C2330"/>
                </a:solidFill>
                <a:latin typeface="Segoe UI"/>
              </a:rPr>
              <a:t>before Friday</a:t>
            </a:r>
            <a:r>
              <a:rPr sz="2400" b="0">
                <a:solidFill>
                  <a:srgbClr val="1C2330"/>
                </a:solidFill>
                <a:latin typeface="Segoe UI"/>
              </a:rPr>
              <a:t>, most urgent first". The client asks by adding </a:t>
            </a:r>
            <a:r>
              <a:rPr sz="2400" b="1">
                <a:solidFill>
                  <a:srgbClr val="1C2330"/>
                </a:solidFill>
                <a:latin typeface="Segoe UI"/>
              </a:rPr>
              <a:t>query parameters</a:t>
            </a:r>
            <a:r>
              <a:rPr sz="2400" b="0">
                <a:solidFill>
                  <a:srgbClr val="1C2330"/>
                </a:solidFill>
                <a:latin typeface="Segoe UI"/>
              </a:rPr>
              <a:t>:</a:t>
            </a:r>
          </a:p>
          <a:p>
            <a:pPr>
              <a:spcAft>
                <a:spcPts val="1400"/>
              </a:spcAft>
            </a:pPr>
            <a:r>
              <a:rPr sz="2400" b="0">
                <a:solidFill>
                  <a:srgbClr val="6A3FC0"/>
                </a:solidFill>
                <a:latin typeface="Consolas"/>
              </a:rPr>
              <a:t>GET /api/tasks/?status=todo&amp;priority=high&amp;ordering=due_date</a:t>
            </a:r>
          </a:p>
          <a:p>
            <a:pPr>
              <a:spcAft>
                <a:spcPts val="1400"/>
              </a:spcAft>
            </a:pPr>
            <a:r>
              <a:rPr sz="2400" b="0">
                <a:solidFill>
                  <a:srgbClr val="1C2330"/>
                </a:solidFill>
                <a:latin typeface="Segoe UI"/>
              </a:rPr>
              <a:t>You're writing the backend half of a filter panel. </a:t>
            </a:r>
            <a:r>
              <a:rPr sz="2400" b="0">
                <a:solidFill>
                  <a:srgbClr val="6A3FC0"/>
                </a:solidFill>
                <a:latin typeface="Consolas"/>
              </a:rPr>
              <a:t>?status=todo</a:t>
            </a:r>
            <a:r>
              <a:rPr sz="2400" b="0">
                <a:solidFill>
                  <a:srgbClr val="1C2330"/>
                </a:solidFill>
                <a:latin typeface="Segoe UI"/>
              </a:rPr>
              <a:t> is like </a:t>
            </a:r>
            <a:r>
              <a:rPr sz="2400" b="0">
                <a:solidFill>
                  <a:srgbClr val="6A3FC0"/>
                </a:solidFill>
                <a:latin typeface="Consolas"/>
              </a:rPr>
              <a:t>df[df["status"] == "todo"]</a:t>
            </a:r>
            <a:r>
              <a:rPr sz="2400" b="0">
                <a:solidFill>
                  <a:srgbClr val="1C2330"/>
                </a:solidFill>
                <a:latin typeface="Segoe UI"/>
              </a:rPr>
              <a:t> in pandas.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What your function receives</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The tests call </a:t>
            </a:r>
            <a:r>
              <a:rPr sz="2000" b="0">
                <a:solidFill>
                  <a:srgbClr val="6A3FC0"/>
                </a:solidFill>
                <a:latin typeface="Consolas"/>
              </a:rPr>
              <a:t>filter_tasks(queryset, params)</a:t>
            </a:r>
            <a:r>
              <a:rPr sz="2000" b="0">
                <a:solidFill>
                  <a:srgbClr val="1C2330"/>
                </a:solidFill>
                <a:latin typeface="Segoe UI"/>
              </a:rPr>
              <a:t>. </a:t>
            </a:r>
            <a:r>
              <a:rPr sz="2000" b="0">
                <a:solidFill>
                  <a:srgbClr val="6A3FC0"/>
                </a:solidFill>
                <a:latin typeface="Consolas"/>
              </a:rPr>
              <a:t>queryset</a:t>
            </a:r>
            <a:r>
              <a:rPr sz="2000" b="0">
                <a:solidFill>
                  <a:srgbClr val="1C2330"/>
                </a:solidFill>
                <a:latin typeface="Segoe UI"/>
              </a:rPr>
              <a:t> holds these four tasks:</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800">
                <a:solidFill>
                  <a:srgbClr val="6A9955"/>
                </a:solidFill>
                <a:latin typeface="Consolas"/>
              </a:rPr>
              <a:t># id  title              status       priority  due_date</a:t>
            </a:r>
          </a:p>
          <a:p>
            <a:pPr>
              <a:lnSpc>
                <a:spcPct val="110000"/>
              </a:lnSpc>
            </a:pPr>
            <a:r>
              <a:rPr sz="1800">
                <a:solidFill>
                  <a:srgbClr val="6A9955"/>
                </a:solidFill>
                <a:latin typeface="Consolas"/>
              </a:rPr>
              <a:t>#  1  Deploy API         todo         high      2025-03-01</a:t>
            </a:r>
          </a:p>
          <a:p>
            <a:pPr>
              <a:lnSpc>
                <a:spcPct val="110000"/>
              </a:lnSpc>
            </a:pPr>
            <a:r>
              <a:rPr sz="1800">
                <a:solidFill>
                  <a:srgbClr val="6A9955"/>
                </a:solidFill>
                <a:latin typeface="Consolas"/>
              </a:rPr>
              <a:t>#  2  Write docs         done         low       2025-02-01</a:t>
            </a:r>
          </a:p>
          <a:p>
            <a:pPr>
              <a:lnSpc>
                <a:spcPct val="110000"/>
              </a:lnSpc>
            </a:pPr>
            <a:r>
              <a:rPr sz="1800">
                <a:solidFill>
                  <a:srgbClr val="6A9955"/>
                </a:solidFill>
                <a:latin typeface="Consolas"/>
              </a:rPr>
              <a:t>#  3  Fix deploy script  todo         low       (none)</a:t>
            </a:r>
          </a:p>
          <a:p>
            <a:pPr>
              <a:lnSpc>
                <a:spcPct val="110000"/>
              </a:lnSpc>
            </a:pPr>
            <a:r>
              <a:rPr sz="1800">
                <a:solidFill>
                  <a:srgbClr val="6A9955"/>
                </a:solidFill>
                <a:latin typeface="Consolas"/>
              </a:rPr>
              <a:t>#  4  Answer email       in_progress  medium    2025-04-01</a:t>
            </a:r>
          </a:p>
          <a:p>
            <a:pPr>
              <a:lnSpc>
                <a:spcPct val="110000"/>
              </a:lnSpc>
            </a:pPr>
          </a:p>
          <a:p>
            <a:pPr>
              <a:lnSpc>
                <a:spcPct val="110000"/>
              </a:lnSpc>
            </a:pPr>
            <a:r>
              <a:rPr sz="1800">
                <a:solidFill>
                  <a:srgbClr val="9CDCFE"/>
                </a:solidFill>
                <a:latin typeface="Consolas"/>
              </a:rPr>
              <a:t>params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status</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todo</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a dict, like request.query_params</a:t>
            </a:r>
          </a:p>
          <a:p>
            <a:pPr>
              <a:lnSpc>
                <a:spcPct val="110000"/>
              </a:lnSpc>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What it must return</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A </a:t>
            </a:r>
            <a:r>
              <a:rPr sz="2000" b="1">
                <a:solidFill>
                  <a:srgbClr val="1C2330"/>
                </a:solidFill>
                <a:latin typeface="Segoe UI"/>
              </a:rPr>
              <a:t>queryset</a:t>
            </a:r>
            <a:r>
              <a:rPr sz="2000" b="0">
                <a:solidFill>
                  <a:srgbClr val="1C2330"/>
                </a:solidFill>
                <a:latin typeface="Segoe UI"/>
              </a:rPr>
              <a:t>. The tests compare its titles, in order, for each </a:t>
            </a:r>
            <a:r>
              <a:rPr sz="2000" b="0">
                <a:solidFill>
                  <a:srgbClr val="6A3FC0"/>
                </a:solidFill>
                <a:latin typeface="Consolas"/>
              </a:rPr>
              <a:t>params</a:t>
            </a:r>
            <a:r>
              <a:rPr sz="2000" b="0">
                <a:solidFill>
                  <a:srgbClr val="1C2330"/>
                </a:solidFill>
                <a:latin typeface="Segoe UI"/>
              </a:rPr>
              <a:t>:</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600">
                <a:solidFill>
                  <a:srgbClr val="D4D4D4"/>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all 4, in id order        (test 1)</a:t>
            </a:r>
          </a:p>
          <a:p>
            <a:pPr>
              <a:lnSpc>
                <a:spcPct val="110000"/>
              </a:lnSpc>
            </a:pPr>
            <a:r>
              <a:rPr sz="1600">
                <a:solidFill>
                  <a:srgbClr val="D4D4D4"/>
                </a:solidFill>
                <a:latin typeface="Consolas"/>
              </a:rPr>
              <a:t>{</a:t>
            </a:r>
            <a:r>
              <a:rPr sz="1600">
                <a:solidFill>
                  <a:srgbClr val="CE9178"/>
                </a:solidFill>
                <a:latin typeface="Consolas"/>
              </a:rPr>
              <a:t>"</a:t>
            </a:r>
            <a:r>
              <a:rPr sz="1600">
                <a:solidFill>
                  <a:srgbClr val="CE9178"/>
                </a:solidFill>
                <a:latin typeface="Consolas"/>
              </a:rPr>
              <a:t>status</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todo</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Deploy API, Fix deploy script</a:t>
            </a:r>
          </a:p>
          <a:p>
            <a:pPr>
              <a:lnSpc>
                <a:spcPct val="110000"/>
              </a:lnSpc>
            </a:pPr>
            <a:r>
              <a:rPr sz="1600">
                <a:solidFill>
                  <a:srgbClr val="D4D4D4"/>
                </a:solidFill>
                <a:latin typeface="Consolas"/>
              </a:rPr>
              <a:t>{</a:t>
            </a:r>
            <a:r>
              <a:rPr sz="1600">
                <a:solidFill>
                  <a:srgbClr val="CE9178"/>
                </a:solidFill>
                <a:latin typeface="Consolas"/>
              </a:rPr>
              <a:t>"</a:t>
            </a:r>
            <a:r>
              <a:rPr sz="1600">
                <a:solidFill>
                  <a:srgbClr val="CE9178"/>
                </a:solidFill>
                <a:latin typeface="Consolas"/>
              </a:rPr>
              <a:t>status</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todo</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priority</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low</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Fix deploy script          (test 4)</a:t>
            </a:r>
          </a:p>
          <a:p>
            <a:pPr>
              <a:lnSpc>
                <a:spcPct val="110000"/>
              </a:lnSpc>
            </a:pPr>
            <a:r>
              <a:rPr sz="1600">
                <a:solidFill>
                  <a:srgbClr val="D4D4D4"/>
                </a:solidFill>
                <a:latin typeface="Consolas"/>
              </a:rPr>
              <a:t>{</a:t>
            </a:r>
            <a:r>
              <a:rPr sz="1600">
                <a:solidFill>
                  <a:srgbClr val="CE9178"/>
                </a:solidFill>
                <a:latin typeface="Consolas"/>
              </a:rPr>
              <a:t>"</a:t>
            </a:r>
            <a:r>
              <a:rPr sz="1600">
                <a:solidFill>
                  <a:srgbClr val="CE9178"/>
                </a:solidFill>
                <a:latin typeface="Consolas"/>
              </a:rPr>
              <a:t>search</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DEPLOY</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Deploy API, Fix deploy script</a:t>
            </a:r>
          </a:p>
          <a:p>
            <a:pPr>
              <a:lnSpc>
                <a:spcPct val="110000"/>
              </a:lnSpc>
            </a:pPr>
            <a:r>
              <a:rPr sz="1600">
                <a:solidFill>
                  <a:srgbClr val="D4D4D4"/>
                </a:solidFill>
                <a:latin typeface="Consolas"/>
              </a:rPr>
              <a:t>{</a:t>
            </a:r>
            <a:r>
              <a:rPr sz="1600">
                <a:solidFill>
                  <a:srgbClr val="CE9178"/>
                </a:solidFill>
                <a:latin typeface="Consolas"/>
              </a:rPr>
              <a:t>"</a:t>
            </a:r>
            <a:r>
              <a:rPr sz="1600">
                <a:solidFill>
                  <a:srgbClr val="CE9178"/>
                </a:solidFill>
                <a:latin typeface="Consolas"/>
              </a:rPr>
              <a:t>due_before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2025-03-01</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Deploy API, Write docs     (test 6)</a:t>
            </a:r>
          </a:p>
          <a:p>
            <a:pPr>
              <a:lnSpc>
                <a:spcPct val="110000"/>
              </a:lnSpc>
            </a:pPr>
            <a:r>
              <a:rPr sz="1600">
                <a:solidFill>
                  <a:srgbClr val="D4D4D4"/>
                </a:solidFill>
                <a:latin typeface="Consolas"/>
              </a:rPr>
              <a:t>{</a:t>
            </a:r>
            <a:r>
              <a:rPr sz="1600">
                <a:solidFill>
                  <a:srgbClr val="CE9178"/>
                </a:solidFill>
                <a:latin typeface="Consolas"/>
              </a:rPr>
              <a:t>"</a:t>
            </a:r>
            <a:r>
              <a:rPr sz="1600">
                <a:solidFill>
                  <a:srgbClr val="CE9178"/>
                </a:solidFill>
                <a:latin typeface="Consolas"/>
              </a:rPr>
              <a:t>due_before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next friday</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raises ValueError          (test 7)</a:t>
            </a:r>
          </a:p>
          <a:p>
            <a:pPr>
              <a:lnSpc>
                <a:spcPct val="110000"/>
              </a:lnSpc>
            </a:pPr>
            <a:r>
              <a:rPr sz="1600">
                <a:solidFill>
                  <a:srgbClr val="D4D4D4"/>
                </a:solidFill>
                <a:latin typeface="Consolas"/>
              </a:rPr>
              <a:t>{</a:t>
            </a:r>
            <a:r>
              <a:rPr sz="1600">
                <a:solidFill>
                  <a:srgbClr val="CE9178"/>
                </a:solidFill>
                <a:latin typeface="Consolas"/>
              </a:rPr>
              <a:t>"</a:t>
            </a:r>
            <a:r>
              <a:rPr sz="1600">
                <a:solidFill>
                  <a:srgbClr val="CE9178"/>
                </a:solidFill>
                <a:latin typeface="Consolas"/>
              </a:rPr>
              <a:t>ordering</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-title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Write docs, Fix deploy script, ...</a:t>
            </a:r>
          </a:p>
          <a:p>
            <a:pPr>
              <a:lnSpc>
                <a:spcPct val="110000"/>
              </a:lnSpc>
            </a:pPr>
            <a:r>
              <a:rPr sz="1600">
                <a:solidFill>
                  <a:srgbClr val="D4D4D4"/>
                </a:solidFill>
                <a:latin typeface="Consolas"/>
              </a:rPr>
              <a:t>{</a:t>
            </a:r>
            <a:r>
              <a:rPr sz="1600">
                <a:solidFill>
                  <a:srgbClr val="CE9178"/>
                </a:solidFill>
                <a:latin typeface="Consolas"/>
              </a:rPr>
              <a:t>"</a:t>
            </a:r>
            <a:r>
              <a:rPr sz="1600">
                <a:solidFill>
                  <a:srgbClr val="CE9178"/>
                </a:solidFill>
                <a:latin typeface="Consolas"/>
              </a:rPr>
              <a:t>ordering</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status</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not allowed: id order     (test 9)</a:t>
            </a:r>
          </a:p>
          <a:p>
            <a:pPr>
              <a:lnSpc>
                <a:spcPct val="110000"/>
              </a:lnSpc>
            </a:pPr>
            <a:r>
              <a:rPr sz="1600">
                <a:solidFill>
                  <a:srgbClr val="D4D4D4"/>
                </a:solidFill>
                <a:latin typeface="Consolas"/>
              </a:rPr>
              <a:t>{</a:t>
            </a:r>
            <a:r>
              <a:rPr sz="1600">
                <a:solidFill>
                  <a:srgbClr val="CE9178"/>
                </a:solidFill>
                <a:latin typeface="Consolas"/>
              </a:rPr>
              <a:t>"</a:t>
            </a:r>
            <a:r>
              <a:rPr sz="1600">
                <a:solidFill>
                  <a:srgbClr val="CE9178"/>
                </a:solidFill>
                <a:latin typeface="Consolas"/>
              </a:rPr>
              <a:t>status</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search</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empty = ignored: all 4    (test 10)</a:t>
            </a:r>
          </a:p>
          <a:p>
            <a:pPr>
              <a:lnSpc>
                <a:spcPct val="110000"/>
              </a:lnSpc>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New words</a:t>
            </a:r>
          </a:p>
        </p:txBody>
      </p:sp>
      <p:sp>
        <p:nvSpPr>
          <p:cNvPr id="6" name="TextBox 5"/>
          <p:cNvSpPr txBox="1"/>
          <p:nvPr/>
        </p:nvSpPr>
        <p:spPr>
          <a:xfrm>
            <a:off x="640080" y="1508760"/>
            <a:ext cx="3017520" cy="653142"/>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query parameters</a:t>
            </a:r>
          </a:p>
        </p:txBody>
      </p:sp>
      <p:sp>
        <p:nvSpPr>
          <p:cNvPr id="7" name="TextBox 6"/>
          <p:cNvSpPr txBox="1"/>
          <p:nvPr/>
        </p:nvSpPr>
        <p:spPr>
          <a:xfrm>
            <a:off x="3840480" y="1508760"/>
            <a:ext cx="7711135" cy="653142"/>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The </a:t>
            </a:r>
            <a:r>
              <a:rPr sz="1900" b="0">
                <a:solidFill>
                  <a:srgbClr val="6A3FC0"/>
                </a:solidFill>
                <a:latin typeface="Consolas"/>
              </a:rPr>
              <a:t>name=value</a:t>
            </a:r>
            <a:r>
              <a:rPr sz="1900" b="0">
                <a:solidFill>
                  <a:srgbClr val="1C2330"/>
                </a:solidFill>
                <a:latin typeface="Segoe UI"/>
              </a:rPr>
              <a:t> pairs after </a:t>
            </a:r>
            <a:r>
              <a:rPr sz="1900" b="0">
                <a:solidFill>
                  <a:srgbClr val="6A3FC0"/>
                </a:solidFill>
                <a:latin typeface="Consolas"/>
              </a:rPr>
              <a:t>?</a:t>
            </a:r>
            <a:r>
              <a:rPr sz="1900" b="0">
                <a:solidFill>
                  <a:srgbClr val="1C2330"/>
                </a:solidFill>
                <a:latin typeface="Segoe UI"/>
              </a:rPr>
              <a:t>, joined by </a:t>
            </a:r>
            <a:r>
              <a:rPr sz="1900" b="0">
                <a:solidFill>
                  <a:srgbClr val="6A3FC0"/>
                </a:solidFill>
                <a:latin typeface="Consolas"/>
              </a:rPr>
              <a:t>&amp;</a:t>
            </a:r>
            <a:r>
              <a:rPr sz="1900" b="0">
                <a:solidFill>
                  <a:srgbClr val="1C2330"/>
                </a:solidFill>
                <a:latin typeface="Segoe UI"/>
              </a:rPr>
              <a:t>.</a:t>
            </a:r>
          </a:p>
        </p:txBody>
      </p:sp>
      <p:sp>
        <p:nvSpPr>
          <p:cNvPr id="8" name="TextBox 7"/>
          <p:cNvSpPr txBox="1"/>
          <p:nvPr/>
        </p:nvSpPr>
        <p:spPr>
          <a:xfrm>
            <a:off x="640080" y="2161902"/>
            <a:ext cx="3017520" cy="653142"/>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query_params</a:t>
            </a:r>
          </a:p>
        </p:txBody>
      </p:sp>
      <p:sp>
        <p:nvSpPr>
          <p:cNvPr id="9" name="TextBox 8"/>
          <p:cNvSpPr txBox="1"/>
          <p:nvPr/>
        </p:nvSpPr>
        <p:spPr>
          <a:xfrm>
            <a:off x="3840480" y="2161902"/>
            <a:ext cx="7711135" cy="653142"/>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Where DRF puts them: a dict-like </a:t>
            </a:r>
            <a:r>
              <a:rPr sz="1900" b="0">
                <a:solidFill>
                  <a:srgbClr val="6A3FC0"/>
                </a:solidFill>
                <a:latin typeface="Consolas"/>
              </a:rPr>
              <a:t>request.query_params</a:t>
            </a:r>
            <a:r>
              <a:rPr sz="1900" b="0">
                <a:solidFill>
                  <a:srgbClr val="1C2330"/>
                </a:solidFill>
                <a:latin typeface="Segoe UI"/>
              </a:rPr>
              <a:t>.</a:t>
            </a:r>
          </a:p>
        </p:txBody>
      </p:sp>
      <p:cxnSp>
        <p:nvCxnSpPr>
          <p:cNvPr id="10" name="Connector 9"/>
          <p:cNvCxnSpPr/>
          <p:nvPr/>
        </p:nvCxnSpPr>
        <p:spPr>
          <a:xfrm>
            <a:off x="640080" y="2161902"/>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2815044"/>
            <a:ext cx="3017520" cy="653142"/>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queryset</a:t>
            </a:r>
          </a:p>
        </p:txBody>
      </p:sp>
      <p:sp>
        <p:nvSpPr>
          <p:cNvPr id="12" name="TextBox 11"/>
          <p:cNvSpPr txBox="1"/>
          <p:nvPr/>
        </p:nvSpPr>
        <p:spPr>
          <a:xfrm>
            <a:off x="3840480" y="2815044"/>
            <a:ext cx="7711135" cy="653142"/>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Which rows to fetch, and in what order. Django writes the SQL.</a:t>
            </a:r>
          </a:p>
        </p:txBody>
      </p:sp>
      <p:cxnSp>
        <p:nvCxnSpPr>
          <p:cNvPr id="13" name="Connector 12"/>
          <p:cNvCxnSpPr/>
          <p:nvPr/>
        </p:nvCxnSpPr>
        <p:spPr>
          <a:xfrm>
            <a:off x="640080" y="2815044"/>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3468186"/>
            <a:ext cx="3017520" cy="653142"/>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filter</a:t>
            </a:r>
          </a:p>
        </p:txBody>
      </p:sp>
      <p:sp>
        <p:nvSpPr>
          <p:cNvPr id="15" name="TextBox 14"/>
          <p:cNvSpPr txBox="1"/>
          <p:nvPr/>
        </p:nvSpPr>
        <p:spPr>
          <a:xfrm>
            <a:off x="3840480" y="3468186"/>
            <a:ext cx="7711135" cy="653142"/>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Keep only matching rows. Several filters mean AND.</a:t>
            </a:r>
          </a:p>
        </p:txBody>
      </p:sp>
      <p:cxnSp>
        <p:nvCxnSpPr>
          <p:cNvPr id="16" name="Connector 15"/>
          <p:cNvCxnSpPr/>
          <p:nvPr/>
        </p:nvCxnSpPr>
        <p:spPr>
          <a:xfrm>
            <a:off x="640080" y="3468186"/>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4121328"/>
            <a:ext cx="3017520" cy="653142"/>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lookup</a:t>
            </a:r>
          </a:p>
        </p:txBody>
      </p:sp>
      <p:sp>
        <p:nvSpPr>
          <p:cNvPr id="18" name="TextBox 17"/>
          <p:cNvSpPr txBox="1"/>
          <p:nvPr/>
        </p:nvSpPr>
        <p:spPr>
          <a:xfrm>
            <a:off x="3840480" y="4121328"/>
            <a:ext cx="7711135" cy="653142"/>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A word after </a:t>
            </a:r>
            <a:r>
              <a:rPr sz="1900" b="0">
                <a:solidFill>
                  <a:srgbClr val="6A3FC0"/>
                </a:solidFill>
                <a:latin typeface="Consolas"/>
              </a:rPr>
              <a:t>__</a:t>
            </a:r>
            <a:r>
              <a:rPr sz="1900" b="0">
                <a:solidFill>
                  <a:srgbClr val="1C2330"/>
                </a:solidFill>
                <a:latin typeface="Segoe UI"/>
              </a:rPr>
              <a:t>, like </a:t>
            </a:r>
            <a:r>
              <a:rPr sz="1900" b="0">
                <a:solidFill>
                  <a:srgbClr val="6A3FC0"/>
                </a:solidFill>
                <a:latin typeface="Consolas"/>
              </a:rPr>
              <a:t>title__icontains</a:t>
            </a:r>
            <a:r>
              <a:rPr sz="1900" b="0">
                <a:solidFill>
                  <a:srgbClr val="1C2330"/>
                </a:solidFill>
                <a:latin typeface="Segoe UI"/>
              </a:rPr>
              <a:t>, that changes the comparison.</a:t>
            </a:r>
          </a:p>
        </p:txBody>
      </p:sp>
      <p:cxnSp>
        <p:nvCxnSpPr>
          <p:cNvPr id="19" name="Connector 18"/>
          <p:cNvCxnSpPr/>
          <p:nvPr/>
        </p:nvCxnSpPr>
        <p:spPr>
          <a:xfrm>
            <a:off x="640080" y="4121328"/>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4774470"/>
            <a:ext cx="3017520" cy="653142"/>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ordering</a:t>
            </a:r>
          </a:p>
        </p:txBody>
      </p:sp>
      <p:sp>
        <p:nvSpPr>
          <p:cNvPr id="21" name="TextBox 20"/>
          <p:cNvSpPr txBox="1"/>
          <p:nvPr/>
        </p:nvSpPr>
        <p:spPr>
          <a:xfrm>
            <a:off x="3840480" y="4774470"/>
            <a:ext cx="7711135" cy="653142"/>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The sort: </a:t>
            </a:r>
            <a:r>
              <a:rPr sz="1900" b="0">
                <a:solidFill>
                  <a:srgbClr val="6A3FC0"/>
                </a:solidFill>
                <a:latin typeface="Consolas"/>
              </a:rPr>
              <a:t>"title"</a:t>
            </a:r>
            <a:r>
              <a:rPr sz="1900" b="0">
                <a:solidFill>
                  <a:srgbClr val="1C2330"/>
                </a:solidFill>
                <a:latin typeface="Segoe UI"/>
              </a:rPr>
              <a:t> is A to Z, </a:t>
            </a:r>
            <a:r>
              <a:rPr sz="1900" b="0">
                <a:solidFill>
                  <a:srgbClr val="6A3FC0"/>
                </a:solidFill>
                <a:latin typeface="Consolas"/>
              </a:rPr>
              <a:t>"-title"</a:t>
            </a:r>
            <a:r>
              <a:rPr sz="1900" b="0">
                <a:solidFill>
                  <a:srgbClr val="1C2330"/>
                </a:solidFill>
                <a:latin typeface="Segoe UI"/>
              </a:rPr>
              <a:t> is Z to A.</a:t>
            </a:r>
          </a:p>
        </p:txBody>
      </p:sp>
      <p:cxnSp>
        <p:nvCxnSpPr>
          <p:cNvPr id="22" name="Connector 21"/>
          <p:cNvCxnSpPr/>
          <p:nvPr/>
        </p:nvCxnSpPr>
        <p:spPr>
          <a:xfrm>
            <a:off x="640080" y="477447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5427612"/>
            <a:ext cx="3017520" cy="653142"/>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whitelist</a:t>
            </a:r>
          </a:p>
        </p:txBody>
      </p:sp>
      <p:sp>
        <p:nvSpPr>
          <p:cNvPr id="24" name="TextBox 23"/>
          <p:cNvSpPr txBox="1"/>
          <p:nvPr/>
        </p:nvSpPr>
        <p:spPr>
          <a:xfrm>
            <a:off x="3840480" y="5427612"/>
            <a:ext cx="7711135" cy="653142"/>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A fixed list of allowed values; anything else is ignored.</a:t>
            </a:r>
          </a:p>
        </p:txBody>
      </p:sp>
      <p:cxnSp>
        <p:nvCxnSpPr>
          <p:cNvPr id="25" name="Connector 24"/>
          <p:cNvCxnSpPr/>
          <p:nvPr/>
        </p:nvCxnSpPr>
        <p:spPr>
          <a:xfrm>
            <a:off x="640080" y="5427612"/>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6</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queryset.filter(field=value)</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Gives back a </a:t>
            </a:r>
            <a:r>
              <a:rPr sz="2000" b="1">
                <a:solidFill>
                  <a:srgbClr val="1C2330"/>
                </a:solidFill>
                <a:latin typeface="Segoe UI"/>
              </a:rPr>
              <a:t>new</a:t>
            </a:r>
            <a:r>
              <a:rPr sz="2000" b="0">
                <a:solidFill>
                  <a:srgbClr val="1C2330"/>
                </a:solidFill>
                <a:latin typeface="Segoe UI"/>
              </a:rPr>
              <a:t>, narrower queryset, so store it: </a:t>
            </a:r>
            <a:r>
              <a:rPr sz="2000" b="0">
                <a:solidFill>
                  <a:srgbClr val="6A3FC0"/>
                </a:solidFill>
                <a:latin typeface="Consolas"/>
              </a:rPr>
              <a:t>qs = qs.filter(...)</a:t>
            </a:r>
            <a:r>
              <a:rPr sz="2000" b="0">
                <a:solidFill>
                  <a:srgbClr val="1C2330"/>
                </a:solidFill>
                <a:latin typeface="Segoe UI"/>
              </a:rPr>
              <a:t>, like </a:t>
            </a:r>
            <a:r>
              <a:rPr sz="2000" b="0">
                <a:solidFill>
                  <a:srgbClr val="6A3FC0"/>
                </a:solidFill>
                <a:latin typeface="Consolas"/>
              </a:rPr>
              <a:t>df = df[...]</a:t>
            </a:r>
            <a:r>
              <a:rPr sz="2000" b="0">
                <a:solidFill>
                  <a:srgbClr val="1C2330"/>
                </a:solidFill>
                <a:latin typeface="Segoe UI"/>
              </a:rPr>
              <a:t>.</a:t>
            </a:r>
          </a:p>
        </p:txBody>
      </p:sp>
      <p:sp>
        <p:nvSpPr>
          <p:cNvPr id="7" name="Rounded Rectangle 6"/>
          <p:cNvSpPr/>
          <p:nvPr/>
        </p:nvSpPr>
        <p:spPr>
          <a:xfrm>
            <a:off x="640080" y="2331720"/>
            <a:ext cx="10911535" cy="2569464"/>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203704"/>
          </a:xfrm>
          <a:prstGeom prst="rect">
            <a:avLst/>
          </a:prstGeom>
          <a:noFill/>
        </p:spPr>
        <p:txBody>
          <a:bodyPr wrap="square" anchor="t" lIns="0" rIns="0" tIns="0" bIns="0">
            <a:spAutoFit/>
          </a:bodyPr>
          <a:lstStyle/>
          <a:p>
            <a:pPr>
              <a:lnSpc>
                <a:spcPct val="110000"/>
              </a:lnSpc>
            </a:pPr>
            <a:r>
              <a:rPr sz="1600">
                <a:solidFill>
                  <a:srgbClr val="C586C0"/>
                </a:solidFill>
                <a:latin typeface="Consolas"/>
              </a:rPr>
              <a:t>from</a:t>
            </a:r>
            <a:r>
              <a:rPr sz="1600">
                <a:solidFill>
                  <a:srgbClr val="D4D4D4"/>
                </a:solidFill>
                <a:latin typeface="Consolas"/>
              </a:rPr>
              <a:t> </a:t>
            </a:r>
            <a:r>
              <a:rPr sz="1600">
                <a:solidFill>
                  <a:srgbClr val="9CDCFE"/>
                </a:solidFill>
                <a:latin typeface="Consolas"/>
              </a:rPr>
              <a:t>sandbox</a:t>
            </a:r>
            <a:r>
              <a:rPr sz="1600">
                <a:solidFill>
                  <a:srgbClr val="9CDCFE"/>
                </a:solidFill>
                <a:latin typeface="Consolas"/>
              </a:rPr>
              <a:t>.</a:t>
            </a:r>
            <a:r>
              <a:rPr sz="1600">
                <a:solidFill>
                  <a:srgbClr val="9CDCFE"/>
                </a:solidFill>
                <a:latin typeface="Consolas"/>
              </a:rPr>
              <a:t>models</a:t>
            </a:r>
            <a:r>
              <a:rPr sz="1600">
                <a:solidFill>
                  <a:srgbClr val="D4D4D4"/>
                </a:solidFill>
                <a:latin typeface="Consolas"/>
              </a:rPr>
              <a:t> </a:t>
            </a:r>
            <a:r>
              <a:rPr sz="1600">
                <a:solidFill>
                  <a:srgbClr val="C586C0"/>
                </a:solidFill>
                <a:latin typeface="Consolas"/>
              </a:rPr>
              <a:t>import</a:t>
            </a:r>
            <a:r>
              <a:rPr sz="1600">
                <a:solidFill>
                  <a:srgbClr val="D4D4D4"/>
                </a:solidFill>
                <a:latin typeface="Consolas"/>
              </a:rPr>
              <a:t> </a:t>
            </a:r>
            <a:r>
              <a:rPr sz="1600">
                <a:solidFill>
                  <a:srgbClr val="9CDCFE"/>
                </a:solidFill>
                <a:latin typeface="Consolas"/>
              </a:rPr>
              <a:t>Task</a:t>
            </a:r>
          </a:p>
          <a:p>
            <a:pPr>
              <a:lnSpc>
                <a:spcPct val="110000"/>
              </a:lnSpc>
            </a:pPr>
            <a:r>
              <a:rPr sz="1600">
                <a:solidFill>
                  <a:srgbClr val="9CDCFE"/>
                </a:solidFill>
                <a:latin typeface="Consolas"/>
              </a:rPr>
              <a:t>Task</a:t>
            </a:r>
            <a:r>
              <a:rPr sz="1600">
                <a:solidFill>
                  <a:srgbClr val="D4D4D4"/>
                </a:solidFill>
                <a:latin typeface="Consolas"/>
              </a:rPr>
              <a:t>.</a:t>
            </a:r>
            <a:r>
              <a:rPr sz="1600">
                <a:solidFill>
                  <a:srgbClr val="9CDCFE"/>
                </a:solidFill>
                <a:latin typeface="Consolas"/>
              </a:rPr>
              <a:t>objects</a:t>
            </a:r>
            <a:r>
              <a:rPr sz="1600">
                <a:solidFill>
                  <a:srgbClr val="D4D4D4"/>
                </a:solidFill>
                <a:latin typeface="Consolas"/>
              </a:rPr>
              <a:t>.</a:t>
            </a:r>
            <a:r>
              <a:rPr sz="1600">
                <a:solidFill>
                  <a:srgbClr val="9CDCFE"/>
                </a:solidFill>
                <a:latin typeface="Consolas"/>
              </a:rPr>
              <a:t>create</a:t>
            </a:r>
            <a:r>
              <a:rPr sz="1600">
                <a:solidFill>
                  <a:srgbClr val="D4D4D4"/>
                </a:solidFill>
                <a:latin typeface="Consolas"/>
              </a:rPr>
              <a:t>(</a:t>
            </a:r>
            <a:r>
              <a:rPr sz="1600">
                <a:solidFill>
                  <a:srgbClr val="9CDCFE"/>
                </a:solidFill>
                <a:latin typeface="Consolas"/>
              </a:rPr>
              <a:t>title</a:t>
            </a:r>
            <a:r>
              <a:rPr sz="1600">
                <a:solidFill>
                  <a:srgbClr val="D4D4D4"/>
                </a:solidFill>
                <a:latin typeface="Consolas"/>
              </a:rPr>
              <a:t>=</a:t>
            </a:r>
            <a:r>
              <a:rPr sz="1600">
                <a:solidFill>
                  <a:srgbClr val="CE9178"/>
                </a:solidFill>
                <a:latin typeface="Consolas"/>
              </a:rPr>
              <a:t>"</a:t>
            </a:r>
            <a:r>
              <a:rPr sz="1600">
                <a:solidFill>
                  <a:srgbClr val="CE9178"/>
                </a:solidFill>
                <a:latin typeface="Consolas"/>
              </a:rPr>
              <a:t>Buy milk</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status</a:t>
            </a:r>
            <a:r>
              <a:rPr sz="1600">
                <a:solidFill>
                  <a:srgbClr val="D4D4D4"/>
                </a:solidFill>
                <a:latin typeface="Consolas"/>
              </a:rPr>
              <a:t>=</a:t>
            </a:r>
            <a:r>
              <a:rPr sz="1600">
                <a:solidFill>
                  <a:srgbClr val="CE9178"/>
                </a:solidFill>
                <a:latin typeface="Consolas"/>
              </a:rPr>
              <a:t>"</a:t>
            </a:r>
            <a:r>
              <a:rPr sz="1600">
                <a:solidFill>
                  <a:srgbClr val="CE9178"/>
                </a:solidFill>
                <a:latin typeface="Consolas"/>
              </a:rPr>
              <a:t>done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priority</a:t>
            </a:r>
            <a:r>
              <a:rPr sz="1600">
                <a:solidFill>
                  <a:srgbClr val="D4D4D4"/>
                </a:solidFill>
                <a:latin typeface="Consolas"/>
              </a:rPr>
              <a:t>=</a:t>
            </a:r>
            <a:r>
              <a:rPr sz="1600">
                <a:solidFill>
                  <a:srgbClr val="CE9178"/>
                </a:solidFill>
                <a:latin typeface="Consolas"/>
              </a:rPr>
              <a:t>"</a:t>
            </a:r>
            <a:r>
              <a:rPr sz="1600">
                <a:solidFill>
                  <a:srgbClr val="CE9178"/>
                </a:solidFill>
                <a:latin typeface="Consolas"/>
              </a:rPr>
              <a:t>low</a:t>
            </a:r>
            <a:r>
              <a:rPr sz="1600">
                <a:solidFill>
                  <a:srgbClr val="CE9178"/>
                </a:solidFill>
                <a:latin typeface="Consolas"/>
              </a:rPr>
              <a:t>"</a:t>
            </a:r>
            <a:r>
              <a:rPr sz="1600">
                <a:solidFill>
                  <a:srgbClr val="D4D4D4"/>
                </a:solidFill>
                <a:latin typeface="Consolas"/>
              </a:rPr>
              <a:t>)</a:t>
            </a:r>
          </a:p>
          <a:p>
            <a:pPr>
              <a:lnSpc>
                <a:spcPct val="110000"/>
              </a:lnSpc>
            </a:pPr>
            <a:r>
              <a:rPr sz="1600">
                <a:solidFill>
                  <a:srgbClr val="9CDCFE"/>
                </a:solidFill>
                <a:latin typeface="Consolas"/>
              </a:rPr>
              <a:t>Task</a:t>
            </a:r>
            <a:r>
              <a:rPr sz="1600">
                <a:solidFill>
                  <a:srgbClr val="D4D4D4"/>
                </a:solidFill>
                <a:latin typeface="Consolas"/>
              </a:rPr>
              <a:t>.</a:t>
            </a:r>
            <a:r>
              <a:rPr sz="1600">
                <a:solidFill>
                  <a:srgbClr val="9CDCFE"/>
                </a:solidFill>
                <a:latin typeface="Consolas"/>
              </a:rPr>
              <a:t>objects</a:t>
            </a:r>
            <a:r>
              <a:rPr sz="1600">
                <a:solidFill>
                  <a:srgbClr val="D4D4D4"/>
                </a:solidFill>
                <a:latin typeface="Consolas"/>
              </a:rPr>
              <a:t>.</a:t>
            </a:r>
            <a:r>
              <a:rPr sz="1600">
                <a:solidFill>
                  <a:srgbClr val="9CDCFE"/>
                </a:solidFill>
                <a:latin typeface="Consolas"/>
              </a:rPr>
              <a:t>create</a:t>
            </a:r>
            <a:r>
              <a:rPr sz="1600">
                <a:solidFill>
                  <a:srgbClr val="D4D4D4"/>
                </a:solidFill>
                <a:latin typeface="Consolas"/>
              </a:rPr>
              <a:t>(</a:t>
            </a:r>
            <a:r>
              <a:rPr sz="1600">
                <a:solidFill>
                  <a:srgbClr val="9CDCFE"/>
                </a:solidFill>
                <a:latin typeface="Consolas"/>
              </a:rPr>
              <a:t>title</a:t>
            </a:r>
            <a:r>
              <a:rPr sz="1600">
                <a:solidFill>
                  <a:srgbClr val="D4D4D4"/>
                </a:solidFill>
                <a:latin typeface="Consolas"/>
              </a:rPr>
              <a:t>=</a:t>
            </a:r>
            <a:r>
              <a:rPr sz="1600">
                <a:solidFill>
                  <a:srgbClr val="CE9178"/>
                </a:solidFill>
                <a:latin typeface="Consolas"/>
              </a:rPr>
              <a:t>"</a:t>
            </a:r>
            <a:r>
              <a:rPr sz="1600">
                <a:solidFill>
                  <a:srgbClr val="CE9178"/>
                </a:solidFill>
                <a:latin typeface="Consolas"/>
              </a:rPr>
              <a:t>Book dentist</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status</a:t>
            </a:r>
            <a:r>
              <a:rPr sz="1600">
                <a:solidFill>
                  <a:srgbClr val="D4D4D4"/>
                </a:solidFill>
                <a:latin typeface="Consolas"/>
              </a:rPr>
              <a:t>=</a:t>
            </a:r>
            <a:r>
              <a:rPr sz="1600">
                <a:solidFill>
                  <a:srgbClr val="CE9178"/>
                </a:solidFill>
                <a:latin typeface="Consolas"/>
              </a:rPr>
              <a:t>"</a:t>
            </a:r>
            <a:r>
              <a:rPr sz="1600">
                <a:solidFill>
                  <a:srgbClr val="CE9178"/>
                </a:solidFill>
                <a:latin typeface="Consolas"/>
              </a:rPr>
              <a:t>todo</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priority</a:t>
            </a:r>
            <a:r>
              <a:rPr sz="1600">
                <a:solidFill>
                  <a:srgbClr val="D4D4D4"/>
                </a:solidFill>
                <a:latin typeface="Consolas"/>
              </a:rPr>
              <a:t>=</a:t>
            </a:r>
            <a:r>
              <a:rPr sz="1600">
                <a:solidFill>
                  <a:srgbClr val="CE9178"/>
                </a:solidFill>
                <a:latin typeface="Consolas"/>
              </a:rPr>
              <a:t>"</a:t>
            </a:r>
            <a:r>
              <a:rPr sz="1600">
                <a:solidFill>
                  <a:srgbClr val="CE9178"/>
                </a:solidFill>
                <a:latin typeface="Consolas"/>
              </a:rPr>
              <a:t>high</a:t>
            </a:r>
            <a:r>
              <a:rPr sz="1600">
                <a:solidFill>
                  <a:srgbClr val="CE9178"/>
                </a:solidFill>
                <a:latin typeface="Consolas"/>
              </a:rPr>
              <a:t>"</a:t>
            </a:r>
            <a:r>
              <a:rPr sz="1600">
                <a:solidFill>
                  <a:srgbClr val="D4D4D4"/>
                </a:solidFill>
                <a:latin typeface="Consolas"/>
              </a:rPr>
              <a:t>)</a:t>
            </a:r>
          </a:p>
          <a:p>
            <a:pPr>
              <a:lnSpc>
                <a:spcPct val="110000"/>
              </a:lnSpc>
            </a:pPr>
            <a:r>
              <a:rPr sz="1600">
                <a:solidFill>
                  <a:srgbClr val="9CDCFE"/>
                </a:solidFill>
                <a:latin typeface="Consolas"/>
              </a:rPr>
              <a:t>Task</a:t>
            </a:r>
            <a:r>
              <a:rPr sz="1600">
                <a:solidFill>
                  <a:srgbClr val="D4D4D4"/>
                </a:solidFill>
                <a:latin typeface="Consolas"/>
              </a:rPr>
              <a:t>.</a:t>
            </a:r>
            <a:r>
              <a:rPr sz="1600">
                <a:solidFill>
                  <a:srgbClr val="9CDCFE"/>
                </a:solidFill>
                <a:latin typeface="Consolas"/>
              </a:rPr>
              <a:t>objects</a:t>
            </a:r>
            <a:r>
              <a:rPr sz="1600">
                <a:solidFill>
                  <a:srgbClr val="D4D4D4"/>
                </a:solidFill>
                <a:latin typeface="Consolas"/>
              </a:rPr>
              <a:t>.</a:t>
            </a:r>
            <a:r>
              <a:rPr sz="1600">
                <a:solidFill>
                  <a:srgbClr val="9CDCFE"/>
                </a:solidFill>
                <a:latin typeface="Consolas"/>
              </a:rPr>
              <a:t>create</a:t>
            </a:r>
            <a:r>
              <a:rPr sz="1600">
                <a:solidFill>
                  <a:srgbClr val="D4D4D4"/>
                </a:solidFill>
                <a:latin typeface="Consolas"/>
              </a:rPr>
              <a:t>(</a:t>
            </a:r>
            <a:r>
              <a:rPr sz="1600">
                <a:solidFill>
                  <a:srgbClr val="9CDCFE"/>
                </a:solidFill>
                <a:latin typeface="Consolas"/>
              </a:rPr>
              <a:t>title</a:t>
            </a:r>
            <a:r>
              <a:rPr sz="1600">
                <a:solidFill>
                  <a:srgbClr val="D4D4D4"/>
                </a:solidFill>
                <a:latin typeface="Consolas"/>
              </a:rPr>
              <a:t>=</a:t>
            </a:r>
            <a:r>
              <a:rPr sz="1600">
                <a:solidFill>
                  <a:srgbClr val="CE9178"/>
                </a:solidFill>
                <a:latin typeface="Consolas"/>
              </a:rPr>
              <a:t>"</a:t>
            </a:r>
            <a:r>
              <a:rPr sz="1600">
                <a:solidFill>
                  <a:srgbClr val="CE9178"/>
                </a:solidFill>
                <a:latin typeface="Consolas"/>
              </a:rPr>
              <a:t>Call Milo</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status</a:t>
            </a:r>
            <a:r>
              <a:rPr sz="1600">
                <a:solidFill>
                  <a:srgbClr val="D4D4D4"/>
                </a:solidFill>
                <a:latin typeface="Consolas"/>
              </a:rPr>
              <a:t>=</a:t>
            </a:r>
            <a:r>
              <a:rPr sz="1600">
                <a:solidFill>
                  <a:srgbClr val="CE9178"/>
                </a:solidFill>
                <a:latin typeface="Consolas"/>
              </a:rPr>
              <a:t>"</a:t>
            </a:r>
            <a:r>
              <a:rPr sz="1600">
                <a:solidFill>
                  <a:srgbClr val="CE9178"/>
                </a:solidFill>
                <a:latin typeface="Consolas"/>
              </a:rPr>
              <a:t>todo</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priority</a:t>
            </a:r>
            <a:r>
              <a:rPr sz="1600">
                <a:solidFill>
                  <a:srgbClr val="D4D4D4"/>
                </a:solidFill>
                <a:latin typeface="Consolas"/>
              </a:rPr>
              <a:t>=</a:t>
            </a:r>
            <a:r>
              <a:rPr sz="1600">
                <a:solidFill>
                  <a:srgbClr val="CE9178"/>
                </a:solidFill>
                <a:latin typeface="Consolas"/>
              </a:rPr>
              <a:t>"</a:t>
            </a:r>
            <a:r>
              <a:rPr sz="1600">
                <a:solidFill>
                  <a:srgbClr val="CE9178"/>
                </a:solidFill>
                <a:latin typeface="Consolas"/>
              </a:rPr>
              <a:t>low</a:t>
            </a:r>
            <a:r>
              <a:rPr sz="1600">
                <a:solidFill>
                  <a:srgbClr val="CE9178"/>
                </a:solidFill>
                <a:latin typeface="Consolas"/>
              </a:rPr>
              <a:t>"</a:t>
            </a:r>
            <a:r>
              <a:rPr sz="1600">
                <a:solidFill>
                  <a:srgbClr val="D4D4D4"/>
                </a:solidFill>
                <a:latin typeface="Consolas"/>
              </a:rPr>
              <a:t>)</a:t>
            </a:r>
          </a:p>
          <a:p>
            <a:pPr>
              <a:lnSpc>
                <a:spcPct val="110000"/>
              </a:lnSpc>
            </a:pPr>
            <a:r>
              <a:rPr sz="1600">
                <a:solidFill>
                  <a:srgbClr val="9CDCFE"/>
                </a:solidFill>
                <a:latin typeface="Consolas"/>
              </a:rPr>
              <a:t>qs</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Task</a:t>
            </a:r>
            <a:r>
              <a:rPr sz="1600">
                <a:solidFill>
                  <a:srgbClr val="D4D4D4"/>
                </a:solidFill>
                <a:latin typeface="Consolas"/>
              </a:rPr>
              <a:t>.</a:t>
            </a:r>
            <a:r>
              <a:rPr sz="1600">
                <a:solidFill>
                  <a:srgbClr val="9CDCFE"/>
                </a:solidFill>
                <a:latin typeface="Consolas"/>
              </a:rPr>
              <a:t>objects</a:t>
            </a:r>
            <a:r>
              <a:rPr sz="1600">
                <a:solidFill>
                  <a:srgbClr val="D4D4D4"/>
                </a:solidFill>
                <a:latin typeface="Consolas"/>
              </a:rPr>
              <a:t>.</a:t>
            </a:r>
            <a:r>
              <a:rPr sz="1600">
                <a:solidFill>
                  <a:srgbClr val="9CDCFE"/>
                </a:solidFill>
                <a:latin typeface="Consolas"/>
              </a:rPr>
              <a:t>all</a:t>
            </a:r>
            <a:r>
              <a:rPr sz="1600">
                <a:solidFill>
                  <a:srgbClr val="D4D4D4"/>
                </a:solidFill>
                <a:latin typeface="Consolas"/>
              </a:rPr>
              <a:t>(</a:t>
            </a:r>
            <a:r>
              <a:rPr sz="1600">
                <a:solidFill>
                  <a:srgbClr val="D4D4D4"/>
                </a:solidFill>
                <a:latin typeface="Consolas"/>
              </a:rPr>
              <a:t>)</a:t>
            </a:r>
          </a:p>
          <a:p>
            <a:pPr>
              <a:lnSpc>
                <a:spcPct val="110000"/>
              </a:lnSpc>
            </a:pPr>
            <a:r>
              <a:rPr sz="1600">
                <a:solidFill>
                  <a:srgbClr val="9CDCFE"/>
                </a:solidFill>
                <a:latin typeface="Consolas"/>
              </a:rPr>
              <a:t>qs</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qs</a:t>
            </a:r>
            <a:r>
              <a:rPr sz="1600">
                <a:solidFill>
                  <a:srgbClr val="D4D4D4"/>
                </a:solidFill>
                <a:latin typeface="Consolas"/>
              </a:rPr>
              <a:t>.</a:t>
            </a:r>
            <a:r>
              <a:rPr sz="1600">
                <a:solidFill>
                  <a:srgbClr val="9CDCFE"/>
                </a:solidFill>
                <a:latin typeface="Consolas"/>
              </a:rPr>
              <a:t>filter</a:t>
            </a:r>
            <a:r>
              <a:rPr sz="1600">
                <a:solidFill>
                  <a:srgbClr val="D4D4D4"/>
                </a:solidFill>
                <a:latin typeface="Consolas"/>
              </a:rPr>
              <a:t>(</a:t>
            </a:r>
            <a:r>
              <a:rPr sz="1600">
                <a:solidFill>
                  <a:srgbClr val="9CDCFE"/>
                </a:solidFill>
                <a:latin typeface="Consolas"/>
              </a:rPr>
              <a:t>status</a:t>
            </a:r>
            <a:r>
              <a:rPr sz="1600">
                <a:solidFill>
                  <a:srgbClr val="D4D4D4"/>
                </a:solidFill>
                <a:latin typeface="Consolas"/>
              </a:rPr>
              <a:t>=</a:t>
            </a:r>
            <a:r>
              <a:rPr sz="1600">
                <a:solidFill>
                  <a:srgbClr val="CE9178"/>
                </a:solidFill>
                <a:latin typeface="Consolas"/>
              </a:rPr>
              <a:t>"</a:t>
            </a:r>
            <a:r>
              <a:rPr sz="1600">
                <a:solidFill>
                  <a:srgbClr val="CE9178"/>
                </a:solidFill>
                <a:latin typeface="Consolas"/>
              </a:rPr>
              <a:t>todo</a:t>
            </a:r>
            <a:r>
              <a:rPr sz="1600">
                <a:solidFill>
                  <a:srgbClr val="CE9178"/>
                </a:solidFill>
                <a:latin typeface="Consolas"/>
              </a:rPr>
              <a:t>"</a:t>
            </a:r>
            <a:r>
              <a:rPr sz="1600">
                <a:solidFill>
                  <a:srgbClr val="D4D4D4"/>
                </a:solidFill>
                <a:latin typeface="Consolas"/>
              </a:rPr>
              <a:t>)</a:t>
            </a:r>
          </a:p>
          <a:p>
            <a:pPr>
              <a:lnSpc>
                <a:spcPct val="110000"/>
              </a:lnSpc>
            </a:pPr>
            <a:r>
              <a:rPr sz="1600">
                <a:solidFill>
                  <a:srgbClr val="4EC9B0"/>
                </a:solidFill>
                <a:latin typeface="Consolas"/>
              </a:rPr>
              <a:t>print</a:t>
            </a:r>
            <a:r>
              <a:rPr sz="1600">
                <a:solidFill>
                  <a:srgbClr val="D4D4D4"/>
                </a:solidFill>
                <a:latin typeface="Consolas"/>
              </a:rPr>
              <a:t>(</a:t>
            </a:r>
            <a:r>
              <a:rPr sz="1600">
                <a:solidFill>
                  <a:srgbClr val="9CDCFE"/>
                </a:solidFill>
                <a:latin typeface="Consolas"/>
              </a:rPr>
              <a:t>qs</a:t>
            </a:r>
            <a:r>
              <a:rPr sz="1600">
                <a:solidFill>
                  <a:srgbClr val="D4D4D4"/>
                </a:solidFill>
                <a:latin typeface="Consolas"/>
              </a:rPr>
              <a:t>)</a:t>
            </a:r>
          </a:p>
          <a:p>
            <a:pPr>
              <a:lnSpc>
                <a:spcPct val="110000"/>
              </a:lnSpc>
            </a:pPr>
            <a:r>
              <a:rPr sz="1600">
                <a:solidFill>
                  <a:srgbClr val="9CDCFE"/>
                </a:solidFill>
                <a:latin typeface="Consolas"/>
              </a:rPr>
              <a:t>qs</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qs</a:t>
            </a:r>
            <a:r>
              <a:rPr sz="1600">
                <a:solidFill>
                  <a:srgbClr val="D4D4D4"/>
                </a:solidFill>
                <a:latin typeface="Consolas"/>
              </a:rPr>
              <a:t>.</a:t>
            </a:r>
            <a:r>
              <a:rPr sz="1600">
                <a:solidFill>
                  <a:srgbClr val="9CDCFE"/>
                </a:solidFill>
                <a:latin typeface="Consolas"/>
              </a:rPr>
              <a:t>filter</a:t>
            </a:r>
            <a:r>
              <a:rPr sz="1600">
                <a:solidFill>
                  <a:srgbClr val="D4D4D4"/>
                </a:solidFill>
                <a:latin typeface="Consolas"/>
              </a:rPr>
              <a:t>(</a:t>
            </a:r>
            <a:r>
              <a:rPr sz="1600">
                <a:solidFill>
                  <a:srgbClr val="9CDCFE"/>
                </a:solidFill>
                <a:latin typeface="Consolas"/>
              </a:rPr>
              <a:t>priority</a:t>
            </a:r>
            <a:r>
              <a:rPr sz="1600">
                <a:solidFill>
                  <a:srgbClr val="D4D4D4"/>
                </a:solidFill>
                <a:latin typeface="Consolas"/>
              </a:rPr>
              <a:t>=</a:t>
            </a:r>
            <a:r>
              <a:rPr sz="1600">
                <a:solidFill>
                  <a:srgbClr val="CE9178"/>
                </a:solidFill>
                <a:latin typeface="Consolas"/>
              </a:rPr>
              <a:t>"</a:t>
            </a:r>
            <a:r>
              <a:rPr sz="1600">
                <a:solidFill>
                  <a:srgbClr val="CE9178"/>
                </a:solidFill>
                <a:latin typeface="Consolas"/>
              </a:rPr>
              <a:t>high</a:t>
            </a:r>
            <a:r>
              <a:rPr sz="1600">
                <a:solidFill>
                  <a:srgbClr val="CE9178"/>
                </a:solidFill>
                <a:latin typeface="Consolas"/>
              </a:rPr>
              <a:t>"</a:t>
            </a:r>
            <a:r>
              <a:rPr sz="1600">
                <a:solidFill>
                  <a:srgbClr val="D4D4D4"/>
                </a:solidFill>
                <a:latin typeface="Consolas"/>
              </a:rPr>
              <a:t>)</a:t>
            </a:r>
          </a:p>
          <a:p>
            <a:pPr>
              <a:lnSpc>
                <a:spcPct val="110000"/>
              </a:lnSpc>
            </a:pPr>
            <a:r>
              <a:rPr sz="1600">
                <a:solidFill>
                  <a:srgbClr val="4EC9B0"/>
                </a:solidFill>
                <a:latin typeface="Consolas"/>
              </a:rPr>
              <a:t>print</a:t>
            </a:r>
            <a:r>
              <a:rPr sz="1600">
                <a:solidFill>
                  <a:srgbClr val="D4D4D4"/>
                </a:solidFill>
                <a:latin typeface="Consolas"/>
              </a:rPr>
              <a:t>(</a:t>
            </a:r>
            <a:r>
              <a:rPr sz="1600">
                <a:solidFill>
                  <a:srgbClr val="9CDCFE"/>
                </a:solidFill>
                <a:latin typeface="Consolas"/>
              </a:rPr>
              <a:t>qs</a:t>
            </a:r>
            <a:r>
              <a:rPr sz="1600">
                <a:solidFill>
                  <a:srgbClr val="D4D4D4"/>
                </a:solidFill>
                <a:latin typeface="Consolas"/>
              </a:rPr>
              <a:t>)</a:t>
            </a:r>
          </a:p>
          <a:p>
            <a:pPr>
              <a:lnSpc>
                <a:spcPct val="110000"/>
              </a:lnSpc>
            </a:pPr>
          </a:p>
        </p:txBody>
      </p:sp>
      <p:sp>
        <p:nvSpPr>
          <p:cNvPr id="9" name="Rounded Rectangle 8"/>
          <p:cNvSpPr/>
          <p:nvPr/>
        </p:nvSpPr>
        <p:spPr>
          <a:xfrm>
            <a:off x="640080" y="5084064"/>
            <a:ext cx="10911535" cy="1088136"/>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362895" cy="722376"/>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&lt;</a:t>
            </a:r>
            <a:r>
              <a:rPr sz="1800">
                <a:solidFill>
                  <a:srgbClr val="D4D4D4"/>
                </a:solidFill>
                <a:latin typeface="Consolas"/>
              </a:rPr>
              <a:t>QuerySet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Book</a:t>
            </a:r>
            <a:r>
              <a:rPr sz="1800">
                <a:solidFill>
                  <a:srgbClr val="D4D4D4"/>
                </a:solidFill>
                <a:latin typeface="Consolas"/>
              </a:rPr>
              <a:t> </a:t>
            </a:r>
            <a:r>
              <a:rPr sz="1800">
                <a:solidFill>
                  <a:srgbClr val="D4D4D4"/>
                </a:solidFill>
                <a:latin typeface="Consolas"/>
              </a:rPr>
              <a:t>dentist</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Call</a:t>
            </a:r>
            <a:r>
              <a:rPr sz="1800">
                <a:solidFill>
                  <a:srgbClr val="D4D4D4"/>
                </a:solidFill>
                <a:latin typeface="Consolas"/>
              </a:rPr>
              <a:t> </a:t>
            </a:r>
            <a:r>
              <a:rPr sz="1800">
                <a:solidFill>
                  <a:srgbClr val="D4D4D4"/>
                </a:solidFill>
                <a:latin typeface="Consolas"/>
              </a:rPr>
              <a:t>Milo</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&gt;</a:t>
            </a:r>
          </a:p>
          <a:p>
            <a:pPr>
              <a:lnSpc>
                <a:spcPct val="110000"/>
              </a:lnSpc>
            </a:pPr>
            <a:r>
              <a:rPr sz="1800">
                <a:solidFill>
                  <a:srgbClr val="D4D4D4"/>
                </a:solidFill>
                <a:latin typeface="Consolas"/>
              </a:rPr>
              <a:t>&lt;</a:t>
            </a:r>
            <a:r>
              <a:rPr sz="1800">
                <a:solidFill>
                  <a:srgbClr val="D4D4D4"/>
                </a:solidFill>
                <a:latin typeface="Consolas"/>
              </a:rPr>
              <a:t>QuerySet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Book</a:t>
            </a:r>
            <a:r>
              <a:rPr sz="1800">
                <a:solidFill>
                  <a:srgbClr val="D4D4D4"/>
                </a:solidFill>
                <a:latin typeface="Consolas"/>
              </a:rPr>
              <a:t> </a:t>
            </a:r>
            <a:r>
              <a:rPr sz="1800">
                <a:solidFill>
                  <a:srgbClr val="D4D4D4"/>
                </a:solidFill>
                <a:latin typeface="Consolas"/>
              </a:rPr>
              <a:t>dentist</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&gt;</a:t>
            </a:r>
          </a:p>
          <a:p>
            <a:pPr>
              <a:lnSpc>
                <a:spcPct val="110000"/>
              </a:lnSpc>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7</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Tools: lookups and order_by</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A lookup goes after the field with </a:t>
            </a:r>
            <a:r>
              <a:rPr sz="2000" b="1">
                <a:solidFill>
                  <a:srgbClr val="1C2330"/>
                </a:solidFill>
                <a:latin typeface="Segoe UI"/>
              </a:rPr>
              <a:t>two</a:t>
            </a:r>
            <a:r>
              <a:rPr sz="2000" b="0">
                <a:solidFill>
                  <a:srgbClr val="1C2330"/>
                </a:solidFill>
                <a:latin typeface="Segoe UI"/>
              </a:rPr>
              <a:t> underscores. </a:t>
            </a:r>
            <a:r>
              <a:rPr sz="2000" b="0">
                <a:solidFill>
                  <a:srgbClr val="6A3FC0"/>
                </a:solidFill>
                <a:latin typeface="Consolas"/>
              </a:rPr>
              <a:t>-</a:t>
            </a:r>
            <a:r>
              <a:rPr sz="2000" b="0">
                <a:solidFill>
                  <a:srgbClr val="1C2330"/>
                </a:solidFill>
                <a:latin typeface="Segoe UI"/>
              </a:rPr>
              <a:t> in </a:t>
            </a:r>
            <a:r>
              <a:rPr sz="2000" b="0">
                <a:solidFill>
                  <a:srgbClr val="6A3FC0"/>
                </a:solidFill>
                <a:latin typeface="Consolas"/>
              </a:rPr>
              <a:t>order_by</a:t>
            </a:r>
            <a:r>
              <a:rPr sz="2000" b="0">
                <a:solidFill>
                  <a:srgbClr val="1C2330"/>
                </a:solidFill>
                <a:latin typeface="Segoe UI"/>
              </a:rPr>
              <a:t> sorts backwards.</a:t>
            </a:r>
          </a:p>
        </p:txBody>
      </p:sp>
      <p:sp>
        <p:nvSpPr>
          <p:cNvPr id="7" name="Rounded Rectangle 6"/>
          <p:cNvSpPr/>
          <p:nvPr/>
        </p:nvSpPr>
        <p:spPr>
          <a:xfrm>
            <a:off x="640080" y="2331720"/>
            <a:ext cx="10911535" cy="2276856"/>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1911096"/>
          </a:xfrm>
          <a:prstGeom prst="rect">
            <a:avLst/>
          </a:prstGeom>
          <a:noFill/>
        </p:spPr>
        <p:txBody>
          <a:bodyPr wrap="square" anchor="t" lIns="0" rIns="0" tIns="0" bIns="0">
            <a:spAutoFit/>
          </a:bodyPr>
          <a:lstStyle/>
          <a:p>
            <a:pPr>
              <a:lnSpc>
                <a:spcPct val="110000"/>
              </a:lnSpc>
            </a:pP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create</a:t>
            </a:r>
            <a:r>
              <a:rPr sz="1800">
                <a:solidFill>
                  <a:srgbClr val="D4D4D4"/>
                </a:solidFill>
                <a:latin typeface="Consolas"/>
              </a:rPr>
              <a:t>(</a:t>
            </a:r>
            <a:r>
              <a:rPr sz="1800">
                <a:solidFill>
                  <a:srgbClr val="9CDCFE"/>
                </a:solidFill>
                <a:latin typeface="Consolas"/>
              </a:rPr>
              <a:t>title</a:t>
            </a:r>
            <a:r>
              <a:rPr sz="1800">
                <a:solidFill>
                  <a:srgbClr val="D4D4D4"/>
                </a:solidFill>
                <a:latin typeface="Consolas"/>
              </a:rPr>
              <a:t>=</a:t>
            </a:r>
            <a:r>
              <a:rPr sz="1800">
                <a:solidFill>
                  <a:srgbClr val="CE9178"/>
                </a:solidFill>
                <a:latin typeface="Consolas"/>
              </a:rPr>
              <a:t>"</a:t>
            </a:r>
            <a:r>
              <a:rPr sz="1800">
                <a:solidFill>
                  <a:srgbClr val="CE9178"/>
                </a:solidFill>
                <a:latin typeface="Consolas"/>
              </a:rPr>
              <a:t>Buy milk</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due_date</a:t>
            </a:r>
            <a:r>
              <a:rPr sz="1800">
                <a:solidFill>
                  <a:srgbClr val="D4D4D4"/>
                </a:solidFill>
                <a:latin typeface="Consolas"/>
              </a:rPr>
              <a:t>=</a:t>
            </a:r>
            <a:r>
              <a:rPr sz="1800">
                <a:solidFill>
                  <a:srgbClr val="9CDCFE"/>
                </a:solidFill>
                <a:latin typeface="Consolas"/>
              </a:rPr>
              <a:t>date</a:t>
            </a:r>
            <a:r>
              <a:rPr sz="1800">
                <a:solidFill>
                  <a:srgbClr val="D4D4D4"/>
                </a:solidFill>
                <a:latin typeface="Consolas"/>
              </a:rPr>
              <a:t>(</a:t>
            </a:r>
            <a:r>
              <a:rPr sz="1800">
                <a:solidFill>
                  <a:srgbClr val="B5CEA8"/>
                </a:solidFill>
                <a:latin typeface="Consolas"/>
              </a:rPr>
              <a:t>2024</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5</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10</a:t>
            </a:r>
            <a:r>
              <a:rPr sz="1800">
                <a:solidFill>
                  <a:srgbClr val="D4D4D4"/>
                </a:solidFill>
                <a:latin typeface="Consolas"/>
              </a:rPr>
              <a:t>)</a:t>
            </a:r>
            <a:r>
              <a:rPr sz="1800">
                <a:solidFill>
                  <a:srgbClr val="D4D4D4"/>
                </a:solidFill>
                <a:latin typeface="Consolas"/>
              </a:rPr>
              <a:t>)</a:t>
            </a:r>
          </a:p>
          <a:p>
            <a:pPr>
              <a:lnSpc>
                <a:spcPct val="110000"/>
              </a:lnSpc>
            </a:pP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create</a:t>
            </a:r>
            <a:r>
              <a:rPr sz="1800">
                <a:solidFill>
                  <a:srgbClr val="D4D4D4"/>
                </a:solidFill>
                <a:latin typeface="Consolas"/>
              </a:rPr>
              <a:t>(</a:t>
            </a:r>
            <a:r>
              <a:rPr sz="1800">
                <a:solidFill>
                  <a:srgbClr val="9CDCFE"/>
                </a:solidFill>
                <a:latin typeface="Consolas"/>
              </a:rPr>
              <a:t>title</a:t>
            </a:r>
            <a:r>
              <a:rPr sz="1800">
                <a:solidFill>
                  <a:srgbClr val="D4D4D4"/>
                </a:solidFill>
                <a:latin typeface="Consolas"/>
              </a:rPr>
              <a:t>=</a:t>
            </a:r>
            <a:r>
              <a:rPr sz="1800">
                <a:solidFill>
                  <a:srgbClr val="CE9178"/>
                </a:solidFill>
                <a:latin typeface="Consolas"/>
              </a:rPr>
              <a:t>"</a:t>
            </a:r>
            <a:r>
              <a:rPr sz="1800">
                <a:solidFill>
                  <a:srgbClr val="CE9178"/>
                </a:solidFill>
                <a:latin typeface="Consolas"/>
              </a:rPr>
              <a:t>Book dentist</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due_date</a:t>
            </a:r>
            <a:r>
              <a:rPr sz="1800">
                <a:solidFill>
                  <a:srgbClr val="D4D4D4"/>
                </a:solidFill>
                <a:latin typeface="Consolas"/>
              </a:rPr>
              <a:t>=</a:t>
            </a:r>
            <a:r>
              <a:rPr sz="1800">
                <a:solidFill>
                  <a:srgbClr val="9CDCFE"/>
                </a:solidFill>
                <a:latin typeface="Consolas"/>
              </a:rPr>
              <a:t>date</a:t>
            </a:r>
            <a:r>
              <a:rPr sz="1800">
                <a:solidFill>
                  <a:srgbClr val="D4D4D4"/>
                </a:solidFill>
                <a:latin typeface="Consolas"/>
              </a:rPr>
              <a:t>(</a:t>
            </a:r>
            <a:r>
              <a:rPr sz="1800">
                <a:solidFill>
                  <a:srgbClr val="B5CEA8"/>
                </a:solidFill>
                <a:latin typeface="Consolas"/>
              </a:rPr>
              <a:t>2024</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6</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1</a:t>
            </a:r>
            <a:r>
              <a:rPr sz="1800">
                <a:solidFill>
                  <a:srgbClr val="D4D4D4"/>
                </a:solidFill>
                <a:latin typeface="Consolas"/>
              </a:rPr>
              <a:t>)</a:t>
            </a:r>
            <a:r>
              <a:rPr sz="1800">
                <a:solidFill>
                  <a:srgbClr val="D4D4D4"/>
                </a:solidFill>
                <a:latin typeface="Consolas"/>
              </a:rPr>
              <a:t>)</a:t>
            </a:r>
          </a:p>
          <a:p>
            <a:pPr>
              <a:lnSpc>
                <a:spcPct val="110000"/>
              </a:lnSpc>
            </a:pP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create</a:t>
            </a:r>
            <a:r>
              <a:rPr sz="1800">
                <a:solidFill>
                  <a:srgbClr val="D4D4D4"/>
                </a:solidFill>
                <a:latin typeface="Consolas"/>
              </a:rPr>
              <a:t>(</a:t>
            </a:r>
            <a:r>
              <a:rPr sz="1800">
                <a:solidFill>
                  <a:srgbClr val="9CDCFE"/>
                </a:solidFill>
                <a:latin typeface="Consolas"/>
              </a:rPr>
              <a:t>title</a:t>
            </a:r>
            <a:r>
              <a:rPr sz="1800">
                <a:solidFill>
                  <a:srgbClr val="D4D4D4"/>
                </a:solidFill>
                <a:latin typeface="Consolas"/>
              </a:rPr>
              <a:t>=</a:t>
            </a:r>
            <a:r>
              <a:rPr sz="1800">
                <a:solidFill>
                  <a:srgbClr val="CE9178"/>
                </a:solidFill>
                <a:latin typeface="Consolas"/>
              </a:rPr>
              <a:t>"</a:t>
            </a:r>
            <a:r>
              <a:rPr sz="1800">
                <a:solidFill>
                  <a:srgbClr val="CE9178"/>
                </a:solidFill>
                <a:latin typeface="Consolas"/>
              </a:rPr>
              <a:t>Call Milo</a:t>
            </a:r>
            <a:r>
              <a:rPr sz="1800">
                <a:solidFill>
                  <a:srgbClr val="CE9178"/>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filter</a:t>
            </a:r>
            <a:r>
              <a:rPr sz="1800">
                <a:solidFill>
                  <a:srgbClr val="D4D4D4"/>
                </a:solidFill>
                <a:latin typeface="Consolas"/>
              </a:rPr>
              <a:t>(</a:t>
            </a:r>
            <a:r>
              <a:rPr sz="1800">
                <a:solidFill>
                  <a:srgbClr val="9CDCFE"/>
                </a:solidFill>
                <a:latin typeface="Consolas"/>
              </a:rPr>
              <a:t>title__icontains</a:t>
            </a:r>
            <a:r>
              <a:rPr sz="1800">
                <a:solidFill>
                  <a:srgbClr val="D4D4D4"/>
                </a:solidFill>
                <a:latin typeface="Consolas"/>
              </a:rPr>
              <a:t>=</a:t>
            </a:r>
            <a:r>
              <a:rPr sz="1800">
                <a:solidFill>
                  <a:srgbClr val="CE9178"/>
                </a:solidFill>
                <a:latin typeface="Consolas"/>
              </a:rPr>
              <a:t>"</a:t>
            </a:r>
            <a:r>
              <a:rPr sz="1800">
                <a:solidFill>
                  <a:srgbClr val="CE9178"/>
                </a:solidFill>
                <a:latin typeface="Consolas"/>
              </a:rPr>
              <a:t>MIL</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filter</a:t>
            </a:r>
            <a:r>
              <a:rPr sz="1800">
                <a:solidFill>
                  <a:srgbClr val="D4D4D4"/>
                </a:solidFill>
                <a:latin typeface="Consolas"/>
              </a:rPr>
              <a:t>(</a:t>
            </a:r>
            <a:r>
              <a:rPr sz="1800">
                <a:solidFill>
                  <a:srgbClr val="9CDCFE"/>
                </a:solidFill>
                <a:latin typeface="Consolas"/>
              </a:rPr>
              <a:t>due_date__lte</a:t>
            </a:r>
            <a:r>
              <a:rPr sz="1800">
                <a:solidFill>
                  <a:srgbClr val="D4D4D4"/>
                </a:solidFill>
                <a:latin typeface="Consolas"/>
              </a:rPr>
              <a:t>=</a:t>
            </a:r>
            <a:r>
              <a:rPr sz="1800">
                <a:solidFill>
                  <a:srgbClr val="9CDCFE"/>
                </a:solidFill>
                <a:latin typeface="Consolas"/>
              </a:rPr>
              <a:t>date</a:t>
            </a:r>
            <a:r>
              <a:rPr sz="1800">
                <a:solidFill>
                  <a:srgbClr val="D4D4D4"/>
                </a:solidFill>
                <a:latin typeface="Consolas"/>
              </a:rPr>
              <a:t>(</a:t>
            </a:r>
            <a:r>
              <a:rPr sz="1800">
                <a:solidFill>
                  <a:srgbClr val="B5CEA8"/>
                </a:solidFill>
                <a:latin typeface="Consolas"/>
              </a:rPr>
              <a:t>2024</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5</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31</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Task</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order_by</a:t>
            </a:r>
            <a:r>
              <a:rPr sz="1800">
                <a:solidFill>
                  <a:srgbClr val="D4D4D4"/>
                </a:solidFill>
                <a:latin typeface="Consolas"/>
              </a:rPr>
              <a:t>(</a:t>
            </a:r>
            <a:r>
              <a:rPr sz="1800">
                <a:solidFill>
                  <a:srgbClr val="CE9178"/>
                </a:solidFill>
                <a:latin typeface="Consolas"/>
              </a:rPr>
              <a:t>"</a:t>
            </a:r>
            <a:r>
              <a:rPr sz="1800">
                <a:solidFill>
                  <a:srgbClr val="CE9178"/>
                </a:solidFill>
                <a:latin typeface="Consolas"/>
              </a:rPr>
              <a:t>-title</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4791456"/>
            <a:ext cx="10911535" cy="1380744"/>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992624"/>
            <a:ext cx="10362895" cy="1014984"/>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&lt;</a:t>
            </a:r>
            <a:r>
              <a:rPr sz="1800">
                <a:solidFill>
                  <a:srgbClr val="D4D4D4"/>
                </a:solidFill>
                <a:latin typeface="Consolas"/>
              </a:rPr>
              <a:t>QuerySet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Buy</a:t>
            </a:r>
            <a:r>
              <a:rPr sz="1800">
                <a:solidFill>
                  <a:srgbClr val="D4D4D4"/>
                </a:solidFill>
                <a:latin typeface="Consolas"/>
              </a:rPr>
              <a:t> </a:t>
            </a:r>
            <a:r>
              <a:rPr sz="1800">
                <a:solidFill>
                  <a:srgbClr val="D4D4D4"/>
                </a:solidFill>
                <a:latin typeface="Consolas"/>
              </a:rPr>
              <a:t>milk</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Call</a:t>
            </a:r>
            <a:r>
              <a:rPr sz="1800">
                <a:solidFill>
                  <a:srgbClr val="D4D4D4"/>
                </a:solidFill>
                <a:latin typeface="Consolas"/>
              </a:rPr>
              <a:t> </a:t>
            </a:r>
            <a:r>
              <a:rPr sz="1800">
                <a:solidFill>
                  <a:srgbClr val="D4D4D4"/>
                </a:solidFill>
                <a:latin typeface="Consolas"/>
              </a:rPr>
              <a:t>Milo</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&gt;</a:t>
            </a:r>
          </a:p>
          <a:p>
            <a:pPr>
              <a:lnSpc>
                <a:spcPct val="110000"/>
              </a:lnSpc>
            </a:pPr>
            <a:r>
              <a:rPr sz="1800">
                <a:solidFill>
                  <a:srgbClr val="D4D4D4"/>
                </a:solidFill>
                <a:latin typeface="Consolas"/>
              </a:rPr>
              <a:t>&lt;</a:t>
            </a:r>
            <a:r>
              <a:rPr sz="1800">
                <a:solidFill>
                  <a:srgbClr val="D4D4D4"/>
                </a:solidFill>
                <a:latin typeface="Consolas"/>
              </a:rPr>
              <a:t>QuerySet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Buy</a:t>
            </a:r>
            <a:r>
              <a:rPr sz="1800">
                <a:solidFill>
                  <a:srgbClr val="D4D4D4"/>
                </a:solidFill>
                <a:latin typeface="Consolas"/>
              </a:rPr>
              <a:t> </a:t>
            </a:r>
            <a:r>
              <a:rPr sz="1800">
                <a:solidFill>
                  <a:srgbClr val="D4D4D4"/>
                </a:solidFill>
                <a:latin typeface="Consolas"/>
              </a:rPr>
              <a:t>milk</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&gt;</a:t>
            </a:r>
          </a:p>
          <a:p>
            <a:pPr>
              <a:lnSpc>
                <a:spcPct val="110000"/>
              </a:lnSpc>
            </a:pPr>
            <a:r>
              <a:rPr sz="1800">
                <a:solidFill>
                  <a:srgbClr val="D4D4D4"/>
                </a:solidFill>
                <a:latin typeface="Consolas"/>
              </a:rPr>
              <a:t>&lt;</a:t>
            </a:r>
            <a:r>
              <a:rPr sz="1800">
                <a:solidFill>
                  <a:srgbClr val="D4D4D4"/>
                </a:solidFill>
                <a:latin typeface="Consolas"/>
              </a:rPr>
              <a:t>QuerySet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Call</a:t>
            </a:r>
            <a:r>
              <a:rPr sz="1800">
                <a:solidFill>
                  <a:srgbClr val="D4D4D4"/>
                </a:solidFill>
                <a:latin typeface="Consolas"/>
              </a:rPr>
              <a:t> </a:t>
            </a:r>
            <a:r>
              <a:rPr sz="1800">
                <a:solidFill>
                  <a:srgbClr val="D4D4D4"/>
                </a:solidFill>
                <a:latin typeface="Consolas"/>
              </a:rPr>
              <a:t>Milo</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Buy</a:t>
            </a:r>
            <a:r>
              <a:rPr sz="1800">
                <a:solidFill>
                  <a:srgbClr val="D4D4D4"/>
                </a:solidFill>
                <a:latin typeface="Consolas"/>
              </a:rPr>
              <a:t> </a:t>
            </a:r>
            <a:r>
              <a:rPr sz="1800">
                <a:solidFill>
                  <a:srgbClr val="D4D4D4"/>
                </a:solidFill>
                <a:latin typeface="Consolas"/>
              </a:rPr>
              <a:t>milk</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&lt;</a:t>
            </a:r>
            <a:r>
              <a:rPr sz="1800">
                <a:solidFill>
                  <a:srgbClr val="D4D4D4"/>
                </a:solidFill>
                <a:latin typeface="Consolas"/>
              </a:rPr>
              <a:t>Task</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Book</a:t>
            </a:r>
            <a:r>
              <a:rPr sz="1800">
                <a:solidFill>
                  <a:srgbClr val="D4D4D4"/>
                </a:solidFill>
                <a:latin typeface="Consolas"/>
              </a:rPr>
              <a:t> </a:t>
            </a:r>
            <a:r>
              <a:rPr sz="1800">
                <a:solidFill>
                  <a:srgbClr val="D4D4D4"/>
                </a:solidFill>
                <a:latin typeface="Consolas"/>
              </a:rPr>
              <a:t>dentist</a:t>
            </a:r>
            <a:r>
              <a:rPr sz="1800">
                <a:solidFill>
                  <a:srgbClr val="D4D4D4"/>
                </a:solidFill>
                <a:latin typeface="Consolas"/>
              </a:rPr>
              <a:t>&gt;</a:t>
            </a:r>
            <a:r>
              <a:rPr sz="1800">
                <a:solidFill>
                  <a:srgbClr val="D4D4D4"/>
                </a:solidFill>
                <a:latin typeface="Consolas"/>
              </a:rPr>
              <a:t>]</a:t>
            </a:r>
            <a:r>
              <a:rPr sz="1800">
                <a:solidFill>
                  <a:srgbClr val="D4D4D4"/>
                </a:solidFill>
                <a:latin typeface="Consolas"/>
              </a:rPr>
              <a:t>&gt;</a:t>
            </a:r>
          </a:p>
          <a:p>
            <a:pPr>
              <a:lnSpc>
                <a:spcPct val="110000"/>
              </a:lnSpc>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8</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params.get("name"), no KeyError</a:t>
            </a:r>
          </a:p>
        </p:txBody>
      </p:sp>
      <p:sp>
        <p:nvSpPr>
          <p:cNvPr id="6" name="Rounded Rectangle 5"/>
          <p:cNvSpPr/>
          <p:nvPr/>
        </p:nvSpPr>
        <p:spPr>
          <a:xfrm>
            <a:off x="640080" y="1463040"/>
            <a:ext cx="10911535" cy="2852928"/>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10362895" cy="2487168"/>
          </a:xfrm>
          <a:prstGeom prst="rect">
            <a:avLst/>
          </a:prstGeom>
          <a:noFill/>
        </p:spPr>
        <p:txBody>
          <a:bodyPr wrap="square" anchor="t" lIns="0" rIns="0" tIns="0" bIns="0">
            <a:spAutoFit/>
          </a:bodyPr>
          <a:lstStyle/>
          <a:p>
            <a:pPr>
              <a:lnSpc>
                <a:spcPct val="110000"/>
              </a:lnSpc>
            </a:pPr>
            <a:r>
              <a:rPr sz="1800">
                <a:solidFill>
                  <a:srgbClr val="9CDCFE"/>
                </a:solidFill>
                <a:latin typeface="Consolas"/>
              </a:rPr>
              <a:t>params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CE9178"/>
                </a:solidFill>
                <a:latin typeface="Consolas"/>
              </a:rPr>
              <a:t>"</a:t>
            </a:r>
            <a:r>
              <a:rPr sz="1800">
                <a:solidFill>
                  <a:srgbClr val="CE9178"/>
                </a:solidFill>
                <a:latin typeface="Consolas"/>
              </a:rPr>
              <a:t>colour</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red</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size</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params</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colour</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params</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size</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params</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shape</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C586C0"/>
                </a:solidFill>
                <a:latin typeface="Consolas"/>
              </a:rPr>
              <a:t>if</a:t>
            </a:r>
            <a:r>
              <a:rPr sz="1800">
                <a:solidFill>
                  <a:srgbClr val="D4D4D4"/>
                </a:solidFill>
                <a:latin typeface="Consolas"/>
              </a:rPr>
              <a:t> </a:t>
            </a:r>
            <a:r>
              <a:rPr sz="1800">
                <a:solidFill>
                  <a:srgbClr val="9CDCFE"/>
                </a:solidFill>
                <a:latin typeface="Consolas"/>
              </a:rPr>
              <a:t>params</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size</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4EC9B0"/>
                </a:solidFill>
                <a:latin typeface="Consolas"/>
              </a:rPr>
              <a:t>print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size was given</a:t>
            </a:r>
            <a:r>
              <a:rPr sz="1800">
                <a:solidFill>
                  <a:srgbClr val="CE9178"/>
                </a:solidFill>
                <a:latin typeface="Consolas"/>
              </a:rPr>
              <a:t>"</a:t>
            </a:r>
            <a:r>
              <a:rPr sz="1800">
                <a:solidFill>
                  <a:srgbClr val="D4D4D4"/>
                </a:solidFill>
                <a:latin typeface="Consolas"/>
              </a:rPr>
              <a:t>)</a:t>
            </a:r>
          </a:p>
          <a:p>
            <a:pPr>
              <a:lnSpc>
                <a:spcPct val="110000"/>
              </a:lnSpc>
            </a:pPr>
            <a:r>
              <a:rPr sz="1800">
                <a:solidFill>
                  <a:srgbClr val="C586C0"/>
                </a:solidFill>
                <a:latin typeface="Consolas"/>
              </a:rPr>
              <a:t>else</a:t>
            </a:r>
            <a:r>
              <a:rPr sz="1800">
                <a:solidFill>
                  <a:srgbClr val="D4D4D4"/>
                </a:solidFill>
                <a:latin typeface="Consolas"/>
              </a:rPr>
              <a:t>:</a:t>
            </a:r>
          </a:p>
          <a:p>
            <a:pPr>
              <a:lnSpc>
                <a:spcPct val="110000"/>
              </a:lnSpc>
            </a:pPr>
            <a:r>
              <a:rPr sz="1800">
                <a:solidFill>
                  <a:srgbClr val="D4D4D4"/>
                </a:solidFill>
                <a:latin typeface="Consolas"/>
              </a:rPr>
              <a:t>    </a:t>
            </a:r>
            <a:r>
              <a:rPr sz="1800">
                <a:solidFill>
                  <a:srgbClr val="4EC9B0"/>
                </a:solidFill>
                <a:latin typeface="Consolas"/>
              </a:rPr>
              <a:t>print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no size, skip it</a:t>
            </a:r>
            <a:r>
              <a:rPr sz="1800">
                <a:solidFill>
                  <a:srgbClr val="CE9178"/>
                </a:solidFill>
                <a:latin typeface="Consolas"/>
              </a:rPr>
              <a:t>"</a:t>
            </a:r>
            <a:r>
              <a:rPr sz="1800">
                <a:solidFill>
                  <a:srgbClr val="D4D4D4"/>
                </a:solidFill>
                <a:latin typeface="Consolas"/>
              </a:rPr>
              <a:t>)</a:t>
            </a:r>
          </a:p>
          <a:p>
            <a:pPr>
              <a:lnSpc>
                <a:spcPct val="110000"/>
              </a:lnSpc>
            </a:pPr>
          </a:p>
        </p:txBody>
      </p:sp>
      <p:sp>
        <p:nvSpPr>
          <p:cNvPr id="8" name="Rounded Rectangle 7"/>
          <p:cNvSpPr/>
          <p:nvPr/>
        </p:nvSpPr>
        <p:spPr>
          <a:xfrm>
            <a:off x="640080" y="4498848"/>
            <a:ext cx="10911535" cy="1673352"/>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00016"/>
            <a:ext cx="10362895" cy="1307592"/>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red</a:t>
            </a:r>
          </a:p>
          <a:p>
            <a:pPr>
              <a:lnSpc>
                <a:spcPct val="110000"/>
              </a:lnSpc>
            </a:pPr>
          </a:p>
          <a:p>
            <a:pPr>
              <a:lnSpc>
                <a:spcPct val="110000"/>
              </a:lnSpc>
            </a:pPr>
            <a:r>
              <a:rPr sz="1800">
                <a:solidFill>
                  <a:srgbClr val="D4D4D4"/>
                </a:solidFill>
                <a:latin typeface="Consolas"/>
              </a:rPr>
              <a:t>None</a:t>
            </a:r>
          </a:p>
          <a:p>
            <a:pPr>
              <a:lnSpc>
                <a:spcPct val="110000"/>
              </a:lnSpc>
            </a:pPr>
            <a:r>
              <a:rPr sz="1800">
                <a:solidFill>
                  <a:srgbClr val="D4D4D4"/>
                </a:solidFill>
                <a:latin typeface="Consolas"/>
              </a:rPr>
              <a:t>no</a:t>
            </a:r>
            <a:r>
              <a:rPr sz="1800">
                <a:solidFill>
                  <a:srgbClr val="D4D4D4"/>
                </a:solidFill>
                <a:latin typeface="Consolas"/>
              </a:rPr>
              <a:t> </a:t>
            </a:r>
            <a:r>
              <a:rPr sz="1800">
                <a:solidFill>
                  <a:srgbClr val="D4D4D4"/>
                </a:solidFill>
                <a:latin typeface="Consolas"/>
              </a:rPr>
              <a:t>size</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skip</a:t>
            </a:r>
            <a:r>
              <a:rPr sz="1800">
                <a:solidFill>
                  <a:srgbClr val="D4D4D4"/>
                </a:solidFill>
                <a:latin typeface="Consolas"/>
              </a:rPr>
              <a:t> </a:t>
            </a:r>
            <a:r>
              <a:rPr sz="1800">
                <a:solidFill>
                  <a:srgbClr val="D4D4D4"/>
                </a:solidFill>
                <a:latin typeface="Consolas"/>
              </a:rPr>
              <a:t>it</a:t>
            </a:r>
          </a:p>
          <a:p>
            <a:pPr>
              <a:lnSpc>
                <a:spcPct val="110000"/>
              </a:lnSpc>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9</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Tools: date.fromisoformat and in</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6A3FC0"/>
                </a:solidFill>
                <a:latin typeface="Consolas"/>
              </a:rPr>
              <a:t>date.fromisoformat</a:t>
            </a:r>
            <a:r>
              <a:rPr sz="2000" b="0">
                <a:solidFill>
                  <a:srgbClr val="1C2330"/>
                </a:solidFill>
                <a:latin typeface="Segoe UI"/>
              </a:rPr>
              <a:t> is called on </a:t>
            </a:r>
            <a:r>
              <a:rPr sz="2000" b="0">
                <a:solidFill>
                  <a:srgbClr val="6A3FC0"/>
                </a:solidFill>
                <a:latin typeface="Consolas"/>
              </a:rPr>
              <a:t>date</a:t>
            </a:r>
            <a:r>
              <a:rPr sz="2000" b="0">
                <a:solidFill>
                  <a:srgbClr val="1C2330"/>
                </a:solidFill>
                <a:latin typeface="Segoe UI"/>
              </a:rPr>
              <a:t> itself; bad text raises </a:t>
            </a:r>
            <a:r>
              <a:rPr sz="2000" b="0">
                <a:solidFill>
                  <a:srgbClr val="6A3FC0"/>
                </a:solidFill>
                <a:latin typeface="Consolas"/>
              </a:rPr>
              <a:t>ValueError</a:t>
            </a:r>
            <a:r>
              <a:rPr sz="2000" b="0">
                <a:solidFill>
                  <a:srgbClr val="1C2330"/>
                </a:solidFill>
                <a:latin typeface="Segoe UI"/>
              </a:rPr>
              <a:t>.</a:t>
            </a:r>
          </a:p>
        </p:txBody>
      </p:sp>
      <p:sp>
        <p:nvSpPr>
          <p:cNvPr id="7" name="Rounded Rectangle 6"/>
          <p:cNvSpPr/>
          <p:nvPr/>
        </p:nvSpPr>
        <p:spPr>
          <a:xfrm>
            <a:off x="640080" y="2331720"/>
            <a:ext cx="10911535" cy="2276856"/>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1911096"/>
          </a:xfrm>
          <a:prstGeom prst="rect">
            <a:avLst/>
          </a:prstGeom>
          <a:noFill/>
        </p:spPr>
        <p:txBody>
          <a:bodyPr wrap="square" anchor="t" lIns="0" rIns="0" tIns="0" bIns="0">
            <a:spAutoFit/>
          </a:bodyPr>
          <a:lstStyle/>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date</a:t>
            </a:r>
            <a:r>
              <a:rPr sz="1800">
                <a:solidFill>
                  <a:srgbClr val="D4D4D4"/>
                </a:solidFill>
                <a:latin typeface="Consolas"/>
              </a:rPr>
              <a:t>.</a:t>
            </a:r>
            <a:r>
              <a:rPr sz="1800">
                <a:solidFill>
                  <a:srgbClr val="9CDCFE"/>
                </a:solidFill>
                <a:latin typeface="Consolas"/>
              </a:rPr>
              <a:t>fromisoformat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2024-12-25</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p>
          <a:p>
            <a:pPr>
              <a:lnSpc>
                <a:spcPct val="110000"/>
              </a:lnSpc>
            </a:pPr>
            <a:r>
              <a:rPr sz="1800">
                <a:solidFill>
                  <a:srgbClr val="9CDCFE"/>
                </a:solidFill>
                <a:latin typeface="Consolas"/>
              </a:rPr>
              <a:t>SIZES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small</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large</a:t>
            </a:r>
            <a:r>
              <a:rPr sz="1800">
                <a:solidFill>
                  <a:srgbClr val="CE9178"/>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large</a:t>
            </a:r>
            <a:r>
              <a:rPr sz="1800">
                <a:solidFill>
                  <a:srgbClr val="CE9178"/>
                </a:solidFill>
                <a:latin typeface="Consolas"/>
              </a:rPr>
              <a:t>"</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9CDCFE"/>
                </a:solidFill>
                <a:latin typeface="Consolas"/>
              </a:rPr>
              <a:t>SIZES</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huge</a:t>
            </a:r>
            <a:r>
              <a:rPr sz="1800">
                <a:solidFill>
                  <a:srgbClr val="CE9178"/>
                </a:solidFill>
                <a:latin typeface="Consolas"/>
              </a:rPr>
              <a:t>"</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9CDCFE"/>
                </a:solidFill>
                <a:latin typeface="Consolas"/>
              </a:rPr>
              <a:t>SIZES</a:t>
            </a:r>
            <a:r>
              <a:rPr sz="1800">
                <a:solidFill>
                  <a:srgbClr val="D4D4D4"/>
                </a:solidFill>
                <a:latin typeface="Consolas"/>
              </a:rPr>
              <a:t>,</a:t>
            </a:r>
            <a:r>
              <a:rPr sz="1800">
                <a:solidFill>
                  <a:srgbClr val="D4D4D4"/>
                </a:solidFill>
                <a:latin typeface="Consolas"/>
              </a:rPr>
              <a:t> </a:t>
            </a:r>
            <a:r>
              <a:rPr sz="1800">
                <a:solidFill>
                  <a:srgbClr val="C586C0"/>
                </a:solidFill>
                <a:latin typeface="Consolas"/>
              </a:rPr>
              <a:t>None</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9CDCFE"/>
                </a:solidFill>
                <a:latin typeface="Consolas"/>
              </a:rPr>
              <a:t>SIZES</a:t>
            </a:r>
            <a:r>
              <a:rPr sz="1800">
                <a:solidFill>
                  <a:srgbClr val="D4D4D4"/>
                </a:solidFill>
                <a:latin typeface="Consolas"/>
              </a:rPr>
              <a:t>)</a:t>
            </a:r>
          </a:p>
          <a:p>
            <a:pPr>
              <a:lnSpc>
                <a:spcPct val="110000"/>
              </a:lnSpc>
            </a:pP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date</a:t>
            </a:r>
            <a:r>
              <a:rPr sz="1800">
                <a:solidFill>
                  <a:srgbClr val="D4D4D4"/>
                </a:solidFill>
                <a:latin typeface="Consolas"/>
              </a:rPr>
              <a:t>.</a:t>
            </a:r>
            <a:r>
              <a:rPr sz="1800">
                <a:solidFill>
                  <a:srgbClr val="9CDCFE"/>
                </a:solidFill>
                <a:latin typeface="Consolas"/>
              </a:rPr>
              <a:t>fromisoformat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tomorrow</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4791456"/>
            <a:ext cx="10911535" cy="1380744"/>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992624"/>
            <a:ext cx="10362895" cy="1014984"/>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2024</a:t>
            </a:r>
            <a:r>
              <a:rPr sz="1800">
                <a:solidFill>
                  <a:srgbClr val="D4D4D4"/>
                </a:solidFill>
                <a:latin typeface="Consolas"/>
              </a:rPr>
              <a:t>-</a:t>
            </a:r>
            <a:r>
              <a:rPr sz="1800">
                <a:solidFill>
                  <a:srgbClr val="D4D4D4"/>
                </a:solidFill>
                <a:latin typeface="Consolas"/>
              </a:rPr>
              <a:t>12</a:t>
            </a:r>
            <a:r>
              <a:rPr sz="1800">
                <a:solidFill>
                  <a:srgbClr val="D4D4D4"/>
                </a:solidFill>
                <a:latin typeface="Consolas"/>
              </a:rPr>
              <a:t>-</a:t>
            </a:r>
            <a:r>
              <a:rPr sz="1800">
                <a:solidFill>
                  <a:srgbClr val="D4D4D4"/>
                </a:solidFill>
                <a:latin typeface="Consolas"/>
              </a:rPr>
              <a:t>25</a:t>
            </a:r>
          </a:p>
          <a:p>
            <a:pPr>
              <a:lnSpc>
                <a:spcPct val="110000"/>
              </a:lnSpc>
            </a:pPr>
            <a:r>
              <a:rPr sz="1800">
                <a:solidFill>
                  <a:srgbClr val="D4D4D4"/>
                </a:solidFill>
                <a:latin typeface="Consolas"/>
              </a:rPr>
              <a:t>True</a:t>
            </a:r>
            <a:r>
              <a:rPr sz="1800">
                <a:solidFill>
                  <a:srgbClr val="D4D4D4"/>
                </a:solidFill>
                <a:latin typeface="Consolas"/>
              </a:rPr>
              <a:t> </a:t>
            </a:r>
            <a:r>
              <a:rPr sz="1800">
                <a:solidFill>
                  <a:srgbClr val="D4D4D4"/>
                </a:solidFill>
                <a:latin typeface="Consolas"/>
              </a:rPr>
              <a:t>False</a:t>
            </a:r>
            <a:r>
              <a:rPr sz="1800">
                <a:solidFill>
                  <a:srgbClr val="D4D4D4"/>
                </a:solidFill>
                <a:latin typeface="Consolas"/>
              </a:rPr>
              <a:t> </a:t>
            </a:r>
            <a:r>
              <a:rPr sz="1800">
                <a:solidFill>
                  <a:srgbClr val="D4D4D4"/>
                </a:solidFill>
                <a:latin typeface="Consolas"/>
              </a:rPr>
              <a:t>False</a:t>
            </a:r>
          </a:p>
          <a:p>
            <a:pPr>
              <a:lnSpc>
                <a:spcPct val="110000"/>
              </a:lnSpc>
            </a:pPr>
            <a:r>
              <a:rPr sz="1800">
                <a:solidFill>
                  <a:srgbClr val="D4D4D4"/>
                </a:solidFill>
                <a:latin typeface="Consolas"/>
              </a:rPr>
              <a:t>ValueError</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Invalid</a:t>
            </a:r>
            <a:r>
              <a:rPr sz="1800">
                <a:solidFill>
                  <a:srgbClr val="D4D4D4"/>
                </a:solidFill>
                <a:latin typeface="Consolas"/>
              </a:rPr>
              <a:t> </a:t>
            </a:r>
            <a:r>
              <a:rPr sz="1800">
                <a:solidFill>
                  <a:srgbClr val="D4D4D4"/>
                </a:solidFill>
                <a:latin typeface="Consolas"/>
              </a:rPr>
              <a:t>isoformat</a:t>
            </a:r>
            <a:r>
              <a:rPr sz="1800">
                <a:solidFill>
                  <a:srgbClr val="D4D4D4"/>
                </a:solidFill>
                <a:latin typeface="Consolas"/>
              </a:rPr>
              <a:t> </a:t>
            </a:r>
            <a:r>
              <a:rPr sz="1800">
                <a:solidFill>
                  <a:srgbClr val="D4D4D4"/>
                </a:solidFill>
                <a:latin typeface="Consolas"/>
              </a:rPr>
              <a:t>string</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tomorrow</a:t>
            </a:r>
            <a:r>
              <a:rPr sz="1800">
                <a:solidFill>
                  <a:srgbClr val="D4D4D4"/>
                </a:solidFill>
                <a:latin typeface="Consolas"/>
              </a:rPr>
              <a:t>'</a:t>
            </a:r>
          </a:p>
          <a:p>
            <a:pPr>
              <a:lnSpc>
                <a:spcPct val="110000"/>
              </a:lnSpc>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10</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Exact match vs lookup</a:t>
            </a:r>
          </a:p>
        </p:txBody>
      </p:sp>
      <p:sp>
        <p:nvSpPr>
          <p:cNvPr id="6" name="Rounded Rectangle 5"/>
          <p:cNvSpPr/>
          <p:nvPr/>
        </p:nvSpPr>
        <p:spPr>
          <a:xfrm>
            <a:off x="640080" y="1508760"/>
            <a:ext cx="5272887" cy="438912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32807" cy="4023360"/>
          </a:xfrm>
          <a:prstGeom prst="rect">
            <a:avLst/>
          </a:prstGeom>
          <a:noFill/>
        </p:spPr>
        <p:txBody>
          <a:bodyPr wrap="square" anchor="t" lIns="0" rIns="0" tIns="0" bIns="0">
            <a:spAutoFit/>
          </a:bodyPr>
          <a:lstStyle/>
          <a:p>
            <a:pPr>
              <a:spcAft>
                <a:spcPts val="1400"/>
              </a:spcAft>
            </a:pPr>
            <a:r>
              <a:rPr sz="2400" b="1">
                <a:solidFill>
                  <a:srgbClr val="8A4FE0"/>
                </a:solidFill>
                <a:latin typeface="Segoe UI"/>
              </a:rPr>
              <a:t>field=value</a:t>
            </a:r>
          </a:p>
          <a:p>
            <a:pPr>
              <a:spcAft>
                <a:spcPts val="1000"/>
              </a:spcAft>
            </a:pPr>
            <a:r>
              <a:rPr sz="1900" b="0">
                <a:solidFill>
                  <a:srgbClr val="1C2330"/>
                </a:solidFill>
                <a:latin typeface="Segoe UI"/>
              </a:rPr>
              <a:t>•  </a:t>
            </a:r>
            <a:r>
              <a:rPr sz="1900" b="0">
                <a:solidFill>
                  <a:srgbClr val="6A3FC0"/>
                </a:solidFill>
                <a:latin typeface="Consolas"/>
              </a:rPr>
              <a:t>status="todo"</a:t>
            </a:r>
          </a:p>
          <a:p>
            <a:pPr>
              <a:spcAft>
                <a:spcPts val="1000"/>
              </a:spcAft>
            </a:pPr>
            <a:r>
              <a:rPr sz="1900" b="0">
                <a:solidFill>
                  <a:srgbClr val="1C2330"/>
                </a:solidFill>
                <a:latin typeface="Segoe UI"/>
              </a:rPr>
              <a:t>•  The value must match </a:t>
            </a:r>
            <a:r>
              <a:rPr sz="1900" b="1">
                <a:solidFill>
                  <a:srgbClr val="1C2330"/>
                </a:solidFill>
                <a:latin typeface="Segoe UI"/>
              </a:rPr>
              <a:t>exactly</a:t>
            </a:r>
          </a:p>
          <a:p>
            <a:pPr>
              <a:spcAft>
                <a:spcPts val="1000"/>
              </a:spcAft>
            </a:pPr>
            <a:r>
              <a:rPr sz="1900" b="0">
                <a:solidFill>
                  <a:srgbClr val="1C2330"/>
                </a:solidFill>
                <a:latin typeface="Segoe UI"/>
              </a:rPr>
              <a:t>•  </a:t>
            </a:r>
            <a:r>
              <a:rPr sz="1900" b="0">
                <a:solidFill>
                  <a:srgbClr val="6A3FC0"/>
                </a:solidFill>
                <a:latin typeface="Consolas"/>
              </a:rPr>
              <a:t>"Todo"</a:t>
            </a:r>
            <a:r>
              <a:rPr sz="1900" b="0">
                <a:solidFill>
                  <a:srgbClr val="1C2330"/>
                </a:solidFill>
                <a:latin typeface="Segoe UI"/>
              </a:rPr>
              <a:t> would not match </a:t>
            </a:r>
            <a:r>
              <a:rPr sz="1900" b="0">
                <a:solidFill>
                  <a:srgbClr val="6A3FC0"/>
                </a:solidFill>
                <a:latin typeface="Consolas"/>
              </a:rPr>
              <a:t>"todo"</a:t>
            </a:r>
          </a:p>
          <a:p>
            <a:pPr>
              <a:spcAft>
                <a:spcPts val="1000"/>
              </a:spcAft>
            </a:pPr>
            <a:r>
              <a:rPr sz="1900" b="0">
                <a:solidFill>
                  <a:srgbClr val="1C2330"/>
                </a:solidFill>
                <a:latin typeface="Segoe UI"/>
              </a:rPr>
              <a:t>•  Use for: </a:t>
            </a:r>
            <a:r>
              <a:rPr sz="1900" b="0">
                <a:solidFill>
                  <a:srgbClr val="6A3FC0"/>
                </a:solidFill>
                <a:latin typeface="Consolas"/>
              </a:rPr>
              <a:t>status</a:t>
            </a:r>
            <a:r>
              <a:rPr sz="1900" b="0">
                <a:solidFill>
                  <a:srgbClr val="1C2330"/>
                </a:solidFill>
                <a:latin typeface="Segoe UI"/>
              </a:rPr>
              <a:t>, </a:t>
            </a:r>
            <a:r>
              <a:rPr sz="1900" b="0">
                <a:solidFill>
                  <a:srgbClr val="6A3FC0"/>
                </a:solidFill>
                <a:latin typeface="Consolas"/>
              </a:rPr>
              <a:t>priority</a:t>
            </a:r>
          </a:p>
        </p:txBody>
      </p:sp>
      <p:sp>
        <p:nvSpPr>
          <p:cNvPr id="8" name="Rounded Rectangle 7"/>
          <p:cNvSpPr/>
          <p:nvPr/>
        </p:nvSpPr>
        <p:spPr>
          <a:xfrm>
            <a:off x="6278727" y="1508760"/>
            <a:ext cx="5272887" cy="4389120"/>
          </a:xfrm>
          <a:prstGeom prst="roundRect">
            <a:avLst>
              <a:gd name="adj" fmla="val 6000"/>
            </a:avLst>
          </a:prstGeom>
          <a:solidFill>
            <a:srgbClr val="E5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98767" y="1737360"/>
            <a:ext cx="4632807" cy="4023360"/>
          </a:xfrm>
          <a:prstGeom prst="rect">
            <a:avLst/>
          </a:prstGeom>
          <a:noFill/>
        </p:spPr>
        <p:txBody>
          <a:bodyPr wrap="square" anchor="t" lIns="0" rIns="0" tIns="0" bIns="0">
            <a:spAutoFit/>
          </a:bodyPr>
          <a:lstStyle/>
          <a:p>
            <a:pPr>
              <a:spcAft>
                <a:spcPts val="1400"/>
              </a:spcAft>
            </a:pPr>
            <a:r>
              <a:rPr sz="2400" b="1">
                <a:solidFill>
                  <a:srgbClr val="2F6FDF"/>
                </a:solidFill>
                <a:latin typeface="Segoe UI"/>
              </a:rPr>
              <a:t>field__lookup=value</a:t>
            </a:r>
          </a:p>
          <a:p>
            <a:pPr>
              <a:spcAft>
                <a:spcPts val="1000"/>
              </a:spcAft>
            </a:pPr>
            <a:r>
              <a:rPr sz="1900" b="0">
                <a:solidFill>
                  <a:srgbClr val="1C2330"/>
                </a:solidFill>
                <a:latin typeface="Segoe UI"/>
              </a:rPr>
              <a:t>•  </a:t>
            </a:r>
            <a:r>
              <a:rPr sz="1900" b="0">
                <a:solidFill>
                  <a:srgbClr val="6A3FC0"/>
                </a:solidFill>
                <a:latin typeface="Consolas"/>
              </a:rPr>
              <a:t>title__icontains="deploy"</a:t>
            </a:r>
          </a:p>
          <a:p>
            <a:pPr>
              <a:spcAft>
                <a:spcPts val="1000"/>
              </a:spcAft>
            </a:pPr>
            <a:r>
              <a:rPr sz="1900" b="0">
                <a:solidFill>
                  <a:srgbClr val="1C2330"/>
                </a:solidFill>
                <a:latin typeface="Segoe UI"/>
              </a:rPr>
              <a:t>•  Changes </a:t>
            </a:r>
            <a:r>
              <a:rPr sz="1900" b="1">
                <a:solidFill>
                  <a:srgbClr val="1C2330"/>
                </a:solidFill>
                <a:latin typeface="Segoe UI"/>
              </a:rPr>
              <a:t>how</a:t>
            </a:r>
            <a:r>
              <a:rPr sz="1900" b="0">
                <a:solidFill>
                  <a:srgbClr val="1C2330"/>
                </a:solidFill>
                <a:latin typeface="Segoe UI"/>
              </a:rPr>
              <a:t> it compares</a:t>
            </a:r>
          </a:p>
          <a:p>
            <a:pPr>
              <a:spcAft>
                <a:spcPts val="1000"/>
              </a:spcAft>
            </a:pPr>
            <a:r>
              <a:rPr sz="1900" b="0">
                <a:solidFill>
                  <a:srgbClr val="1C2330"/>
                </a:solidFill>
                <a:latin typeface="Segoe UI"/>
              </a:rPr>
              <a:t>•  </a:t>
            </a:r>
            <a:r>
              <a:rPr sz="1900" b="1">
                <a:solidFill>
                  <a:srgbClr val="1C2330"/>
                </a:solidFill>
                <a:latin typeface="Segoe UI"/>
              </a:rPr>
              <a:t>Two</a:t>
            </a:r>
            <a:r>
              <a:rPr sz="1900" b="0">
                <a:solidFill>
                  <a:srgbClr val="1C2330"/>
                </a:solidFill>
                <a:latin typeface="Segoe UI"/>
              </a:rPr>
              <a:t> underscores: one gives </a:t>
            </a:r>
            <a:r>
              <a:rPr sz="1900" b="0">
                <a:solidFill>
                  <a:srgbClr val="6A3FC0"/>
                </a:solidFill>
                <a:latin typeface="Consolas"/>
              </a:rPr>
              <a:t>FieldError</a:t>
            </a:r>
          </a:p>
          <a:p>
            <a:pPr>
              <a:spcAft>
                <a:spcPts val="1000"/>
              </a:spcAft>
            </a:pPr>
            <a:r>
              <a:rPr sz="1900" b="0">
                <a:solidFill>
                  <a:srgbClr val="1C2330"/>
                </a:solidFill>
                <a:latin typeface="Segoe UI"/>
              </a:rPr>
              <a:t>•  Use for: </a:t>
            </a:r>
            <a:r>
              <a:rPr sz="1900" b="0">
                <a:solidFill>
                  <a:srgbClr val="6A3FC0"/>
                </a:solidFill>
                <a:latin typeface="Consolas"/>
              </a:rPr>
              <a:t>search</a:t>
            </a:r>
            <a:r>
              <a:rPr sz="1900" b="0">
                <a:solidFill>
                  <a:srgbClr val="1C2330"/>
                </a:solidFill>
                <a:latin typeface="Segoe UI"/>
              </a:rPr>
              <a:t>, </a:t>
            </a:r>
            <a:r>
              <a:rPr sz="1900" b="0">
                <a:solidFill>
                  <a:srgbClr val="6A3FC0"/>
                </a:solidFill>
                <a:latin typeface="Consolas"/>
              </a:rPr>
              <a:t>due_before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11</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Pattern: one if per parameter</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The same shape on a plain list: each </a:t>
            </a:r>
            <a:r>
              <a:rPr sz="2000" b="0">
                <a:solidFill>
                  <a:srgbClr val="6A3FC0"/>
                </a:solidFill>
                <a:latin typeface="Consolas"/>
              </a:rPr>
              <a:t>if</a:t>
            </a:r>
            <a:r>
              <a:rPr sz="2000" b="0">
                <a:solidFill>
                  <a:srgbClr val="1C2330"/>
                </a:solidFill>
                <a:latin typeface="Segoe UI"/>
              </a:rPr>
              <a:t> narrows the result and stores it back.</a:t>
            </a:r>
          </a:p>
        </p:txBody>
      </p:sp>
      <p:sp>
        <p:nvSpPr>
          <p:cNvPr id="7" name="Rounded Rectangle 6"/>
          <p:cNvSpPr/>
          <p:nvPr/>
        </p:nvSpPr>
        <p:spPr>
          <a:xfrm>
            <a:off x="640080" y="2331720"/>
            <a:ext cx="10911535" cy="2862072"/>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496312"/>
          </a:xfrm>
          <a:prstGeom prst="rect">
            <a:avLst/>
          </a:prstGeom>
          <a:noFill/>
        </p:spPr>
        <p:txBody>
          <a:bodyPr wrap="square" anchor="t" lIns="0" rIns="0" tIns="0" bIns="0">
            <a:spAutoFit/>
          </a:bodyPr>
          <a:lstStyle/>
          <a:p>
            <a:pPr>
              <a:lnSpc>
                <a:spcPct val="110000"/>
              </a:lnSpc>
            </a:pPr>
            <a:r>
              <a:rPr sz="1800">
                <a:solidFill>
                  <a:srgbClr val="9CDCFE"/>
                </a:solidFill>
                <a:latin typeface="Consolas"/>
              </a:rPr>
              <a:t>fruits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CE9178"/>
                </a:solidFill>
                <a:latin typeface="Consolas"/>
              </a:rPr>
              <a:t>"</a:t>
            </a:r>
            <a:r>
              <a:rPr sz="1800">
                <a:solidFill>
                  <a:srgbClr val="CE9178"/>
                </a:solidFill>
                <a:latin typeface="Consolas"/>
              </a:rPr>
              <a:t>apple</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banana</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cherry</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avocado</a:t>
            </a:r>
            <a:r>
              <a:rPr sz="1800">
                <a:solidFill>
                  <a:srgbClr val="CE9178"/>
                </a:solidFill>
                <a:latin typeface="Consolas"/>
              </a:rPr>
              <a:t>"</a:t>
            </a:r>
            <a:r>
              <a:rPr sz="1800">
                <a:solidFill>
                  <a:srgbClr val="D4D4D4"/>
                </a:solidFill>
                <a:latin typeface="Consolas"/>
              </a:rPr>
              <a:t>]</a:t>
            </a:r>
          </a:p>
          <a:p>
            <a:pPr>
              <a:lnSpc>
                <a:spcPct val="110000"/>
              </a:lnSpc>
            </a:pPr>
            <a:r>
              <a:rPr sz="1800">
                <a:solidFill>
                  <a:srgbClr val="9CDCFE"/>
                </a:solidFill>
                <a:latin typeface="Consolas"/>
              </a:rPr>
              <a:t>params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starts_with</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a</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max_length</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a:t>
            </a:r>
            <a:r>
              <a:rPr sz="1800">
                <a:solidFill>
                  <a:srgbClr val="D4D4D4"/>
                </a:solidFill>
                <a:latin typeface="Consolas"/>
              </a:rPr>
              <a:t>}</a:t>
            </a:r>
          </a:p>
          <a:p>
            <a:pPr>
              <a:lnSpc>
                <a:spcPct val="110000"/>
              </a:lnSpc>
            </a:pPr>
            <a:r>
              <a:rPr sz="1800">
                <a:solidFill>
                  <a:srgbClr val="C586C0"/>
                </a:solidFill>
                <a:latin typeface="Consolas"/>
              </a:rPr>
              <a:t>if</a:t>
            </a:r>
            <a:r>
              <a:rPr sz="1800">
                <a:solidFill>
                  <a:srgbClr val="D4D4D4"/>
                </a:solidFill>
                <a:latin typeface="Consolas"/>
              </a:rPr>
              <a:t> </a:t>
            </a:r>
            <a:r>
              <a:rPr sz="1800">
                <a:solidFill>
                  <a:srgbClr val="9CDCFE"/>
                </a:solidFill>
                <a:latin typeface="Consolas"/>
              </a:rPr>
              <a:t>params</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starts_with</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9CDCFE"/>
                </a:solidFill>
                <a:latin typeface="Consolas"/>
              </a:rPr>
              <a:t>fruits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9CDCFE"/>
                </a:solidFill>
                <a:latin typeface="Consolas"/>
              </a:rPr>
              <a:t>f</a:t>
            </a:r>
            <a:r>
              <a:rPr sz="1800">
                <a:solidFill>
                  <a:srgbClr val="D4D4D4"/>
                </a:solidFill>
                <a:latin typeface="Consolas"/>
              </a:rPr>
              <a:t> </a:t>
            </a:r>
            <a:r>
              <a:rPr sz="1800">
                <a:solidFill>
                  <a:srgbClr val="C586C0"/>
                </a:solidFill>
                <a:latin typeface="Consolas"/>
              </a:rPr>
              <a:t>for</a:t>
            </a:r>
            <a:r>
              <a:rPr sz="1800">
                <a:solidFill>
                  <a:srgbClr val="D4D4D4"/>
                </a:solidFill>
                <a:latin typeface="Consolas"/>
              </a:rPr>
              <a:t> </a:t>
            </a:r>
            <a:r>
              <a:rPr sz="1800">
                <a:solidFill>
                  <a:srgbClr val="9CDCFE"/>
                </a:solidFill>
                <a:latin typeface="Consolas"/>
              </a:rPr>
              <a:t>f</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9CDCFE"/>
                </a:solidFill>
                <a:latin typeface="Consolas"/>
              </a:rPr>
              <a:t>fruits</a:t>
            </a:r>
            <a:r>
              <a:rPr sz="1800">
                <a:solidFill>
                  <a:srgbClr val="D4D4D4"/>
                </a:solidFill>
                <a:latin typeface="Consolas"/>
              </a:rPr>
              <a:t> </a:t>
            </a:r>
            <a:r>
              <a:rPr sz="1800">
                <a:solidFill>
                  <a:srgbClr val="C586C0"/>
                </a:solidFill>
                <a:latin typeface="Consolas"/>
              </a:rPr>
              <a:t>if</a:t>
            </a:r>
            <a:r>
              <a:rPr sz="1800">
                <a:solidFill>
                  <a:srgbClr val="D4D4D4"/>
                </a:solidFill>
                <a:latin typeface="Consolas"/>
              </a:rPr>
              <a:t> </a:t>
            </a:r>
            <a:r>
              <a:rPr sz="1800">
                <a:solidFill>
                  <a:srgbClr val="9CDCFE"/>
                </a:solidFill>
                <a:latin typeface="Consolas"/>
              </a:rPr>
              <a:t>f</a:t>
            </a:r>
            <a:r>
              <a:rPr sz="1800">
                <a:solidFill>
                  <a:srgbClr val="D4D4D4"/>
                </a:solidFill>
                <a:latin typeface="Consolas"/>
              </a:rPr>
              <a:t>.</a:t>
            </a:r>
            <a:r>
              <a:rPr sz="1800">
                <a:solidFill>
                  <a:srgbClr val="9CDCFE"/>
                </a:solidFill>
                <a:latin typeface="Consolas"/>
              </a:rPr>
              <a:t>startswith</a:t>
            </a:r>
            <a:r>
              <a:rPr sz="1800">
                <a:solidFill>
                  <a:srgbClr val="D4D4D4"/>
                </a:solidFill>
                <a:latin typeface="Consolas"/>
              </a:rPr>
              <a:t>(</a:t>
            </a:r>
            <a:r>
              <a:rPr sz="1800">
                <a:solidFill>
                  <a:srgbClr val="9CDCFE"/>
                </a:solidFill>
                <a:latin typeface="Consolas"/>
              </a:rPr>
              <a:t>params</a:t>
            </a:r>
            <a:r>
              <a:rPr sz="1800">
                <a:solidFill>
                  <a:srgbClr val="D4D4D4"/>
                </a:solidFill>
                <a:latin typeface="Consolas"/>
              </a:rPr>
              <a:t>[</a:t>
            </a:r>
            <a:r>
              <a:rPr sz="1800">
                <a:solidFill>
                  <a:srgbClr val="CE9178"/>
                </a:solidFill>
                <a:latin typeface="Consolas"/>
              </a:rPr>
              <a:t>"</a:t>
            </a:r>
            <a:r>
              <a:rPr sz="1800">
                <a:solidFill>
                  <a:srgbClr val="CE9178"/>
                </a:solidFill>
                <a:latin typeface="Consolas"/>
              </a:rPr>
              <a:t>starts_with</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C586C0"/>
                </a:solidFill>
                <a:latin typeface="Consolas"/>
              </a:rPr>
              <a:t>if</a:t>
            </a:r>
            <a:r>
              <a:rPr sz="1800">
                <a:solidFill>
                  <a:srgbClr val="D4D4D4"/>
                </a:solidFill>
                <a:latin typeface="Consolas"/>
              </a:rPr>
              <a:t> </a:t>
            </a:r>
            <a:r>
              <a:rPr sz="1800">
                <a:solidFill>
                  <a:srgbClr val="9CDCFE"/>
                </a:solidFill>
                <a:latin typeface="Consolas"/>
              </a:rPr>
              <a:t>params</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max_length</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9CDCFE"/>
                </a:solidFill>
                <a:latin typeface="Consolas"/>
              </a:rPr>
              <a:t>fruits</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9CDCFE"/>
                </a:solidFill>
                <a:latin typeface="Consolas"/>
              </a:rPr>
              <a:t>f</a:t>
            </a:r>
            <a:r>
              <a:rPr sz="1800">
                <a:solidFill>
                  <a:srgbClr val="D4D4D4"/>
                </a:solidFill>
                <a:latin typeface="Consolas"/>
              </a:rPr>
              <a:t> </a:t>
            </a:r>
            <a:r>
              <a:rPr sz="1800">
                <a:solidFill>
                  <a:srgbClr val="C586C0"/>
                </a:solidFill>
                <a:latin typeface="Consolas"/>
              </a:rPr>
              <a:t>for</a:t>
            </a:r>
            <a:r>
              <a:rPr sz="1800">
                <a:solidFill>
                  <a:srgbClr val="D4D4D4"/>
                </a:solidFill>
                <a:latin typeface="Consolas"/>
              </a:rPr>
              <a:t> </a:t>
            </a:r>
            <a:r>
              <a:rPr sz="1800">
                <a:solidFill>
                  <a:srgbClr val="9CDCFE"/>
                </a:solidFill>
                <a:latin typeface="Consolas"/>
              </a:rPr>
              <a:t>f</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9CDCFE"/>
                </a:solidFill>
                <a:latin typeface="Consolas"/>
              </a:rPr>
              <a:t>fruits</a:t>
            </a:r>
            <a:r>
              <a:rPr sz="1800">
                <a:solidFill>
                  <a:srgbClr val="D4D4D4"/>
                </a:solidFill>
                <a:latin typeface="Consolas"/>
              </a:rPr>
              <a:t> </a:t>
            </a:r>
            <a:r>
              <a:rPr sz="1800">
                <a:solidFill>
                  <a:srgbClr val="C586C0"/>
                </a:solidFill>
                <a:latin typeface="Consolas"/>
              </a:rPr>
              <a:t>if</a:t>
            </a:r>
            <a:r>
              <a:rPr sz="1800">
                <a:solidFill>
                  <a:srgbClr val="D4D4D4"/>
                </a:solidFill>
                <a:latin typeface="Consolas"/>
              </a:rPr>
              <a:t> </a:t>
            </a:r>
            <a:r>
              <a:rPr sz="1800">
                <a:solidFill>
                  <a:srgbClr val="4EC9B0"/>
                </a:solidFill>
                <a:latin typeface="Consolas"/>
              </a:rPr>
              <a:t>len</a:t>
            </a:r>
            <a:r>
              <a:rPr sz="1800">
                <a:solidFill>
                  <a:srgbClr val="D4D4D4"/>
                </a:solidFill>
                <a:latin typeface="Consolas"/>
              </a:rPr>
              <a:t>(</a:t>
            </a:r>
            <a:r>
              <a:rPr sz="1800">
                <a:solidFill>
                  <a:srgbClr val="9CDCFE"/>
                </a:solidFill>
                <a:latin typeface="Consolas"/>
              </a:rPr>
              <a:t>f</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&lt;</a:t>
            </a:r>
            <a:r>
              <a:rPr sz="1800">
                <a:solidFill>
                  <a:srgbClr val="D4D4D4"/>
                </a:solidFill>
                <a:latin typeface="Consolas"/>
              </a:rPr>
              <a:t>=</a:t>
            </a:r>
            <a:r>
              <a:rPr sz="1800">
                <a:solidFill>
                  <a:srgbClr val="D4D4D4"/>
                </a:solidFill>
                <a:latin typeface="Consolas"/>
              </a:rPr>
              <a:t> </a:t>
            </a:r>
            <a:r>
              <a:rPr sz="1800">
                <a:solidFill>
                  <a:srgbClr val="4EC9B0"/>
                </a:solidFill>
                <a:latin typeface="Consolas"/>
              </a:rPr>
              <a:t>int</a:t>
            </a:r>
            <a:r>
              <a:rPr sz="1800">
                <a:solidFill>
                  <a:srgbClr val="D4D4D4"/>
                </a:solidFill>
                <a:latin typeface="Consolas"/>
              </a:rPr>
              <a:t>(</a:t>
            </a:r>
            <a:r>
              <a:rPr sz="1800">
                <a:solidFill>
                  <a:srgbClr val="9CDCFE"/>
                </a:solidFill>
                <a:latin typeface="Consolas"/>
              </a:rPr>
              <a:t>params</a:t>
            </a:r>
            <a:r>
              <a:rPr sz="1800">
                <a:solidFill>
                  <a:srgbClr val="D4D4D4"/>
                </a:solidFill>
                <a:latin typeface="Consolas"/>
              </a:rPr>
              <a:t>[</a:t>
            </a:r>
            <a:r>
              <a:rPr sz="1800">
                <a:solidFill>
                  <a:srgbClr val="CE9178"/>
                </a:solidFill>
                <a:latin typeface="Consolas"/>
              </a:rPr>
              <a:t>"</a:t>
            </a:r>
            <a:r>
              <a:rPr sz="1800">
                <a:solidFill>
                  <a:srgbClr val="CE9178"/>
                </a:solidFill>
                <a:latin typeface="Consolas"/>
              </a:rPr>
              <a:t>max_length</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9CDCFE"/>
                </a:solidFill>
                <a:latin typeface="Consolas"/>
              </a:rPr>
              <a:t>fruits</a:t>
            </a:r>
            <a:r>
              <a:rPr sz="1800">
                <a:solidFill>
                  <a:srgbClr val="D4D4D4"/>
                </a:solidFill>
                <a:latin typeface="Consolas"/>
              </a:rPr>
              <a:t>)</a:t>
            </a:r>
          </a:p>
          <a:p>
            <a:pPr>
              <a:lnSpc>
                <a:spcPct val="110000"/>
              </a:lnSpc>
            </a:pPr>
          </a:p>
        </p:txBody>
      </p:sp>
      <p:sp>
        <p:nvSpPr>
          <p:cNvPr id="9" name="Rounded Rectangle 8"/>
          <p:cNvSpPr/>
          <p:nvPr/>
        </p:nvSpPr>
        <p:spPr>
          <a:xfrm>
            <a:off x="640080" y="5376672"/>
            <a:ext cx="10911535" cy="795528"/>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77840"/>
            <a:ext cx="10362895" cy="429768"/>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a:t>
            </a:r>
            <a:r>
              <a:rPr sz="1800">
                <a:solidFill>
                  <a:srgbClr val="D4D4D4"/>
                </a:solidFill>
                <a:latin typeface="Consolas"/>
              </a:rPr>
              <a:t>'</a:t>
            </a:r>
            <a:r>
              <a:rPr sz="1800">
                <a:solidFill>
                  <a:srgbClr val="D4D4D4"/>
                </a:solidFill>
                <a:latin typeface="Consolas"/>
              </a:rPr>
              <a:t>apple</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avocado</a:t>
            </a:r>
            <a:r>
              <a:rPr sz="1800">
                <a:solidFill>
                  <a:srgbClr val="D4D4D4"/>
                </a:solidFill>
                <a:latin typeface="Consolas"/>
              </a:rPr>
              <a:t>'</a:t>
            </a:r>
            <a:r>
              <a:rPr sz="1800">
                <a:solidFill>
                  <a:srgbClr val="D4D4D4"/>
                </a:solidFill>
                <a:latin typeface="Consolas"/>
              </a:rPr>
              <a:t>]</a:t>
            </a:r>
          </a:p>
          <a:p>
            <a:pPr>
              <a:lnSpc>
                <a:spcPct val="110000"/>
              </a:lnSpc>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Your task, step by step</a:t>
            </a:r>
          </a:p>
        </p:txBody>
      </p:sp>
      <p:sp>
        <p:nvSpPr>
          <p:cNvPr id="6" name="Oval 5"/>
          <p:cNvSpPr/>
          <p:nvPr/>
        </p:nvSpPr>
        <p:spPr>
          <a:xfrm>
            <a:off x="640080" y="166497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7" name="TextBox 6"/>
          <p:cNvSpPr txBox="1"/>
          <p:nvPr/>
        </p:nvSpPr>
        <p:spPr>
          <a:xfrm>
            <a:off x="1325880" y="150876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If </a:t>
            </a:r>
            <a:r>
              <a:rPr sz="1900" b="0">
                <a:solidFill>
                  <a:srgbClr val="6A3FC0"/>
                </a:solidFill>
                <a:latin typeface="Consolas"/>
              </a:rPr>
              <a:t>status</a:t>
            </a:r>
            <a:r>
              <a:rPr sz="1900" b="0">
                <a:solidFill>
                  <a:srgbClr val="1C2330"/>
                </a:solidFill>
                <a:latin typeface="Segoe UI"/>
              </a:rPr>
              <a:t> has a value: </a:t>
            </a:r>
            <a:r>
              <a:rPr sz="1900" b="0">
                <a:solidFill>
                  <a:srgbClr val="6A3FC0"/>
                </a:solidFill>
                <a:latin typeface="Consolas"/>
              </a:rPr>
              <a:t>queryset = queryset.filter(status=...)</a:t>
            </a:r>
          </a:p>
        </p:txBody>
      </p:sp>
      <p:sp>
        <p:nvSpPr>
          <p:cNvPr id="8" name="TextBox 7"/>
          <p:cNvSpPr txBox="1"/>
          <p:nvPr/>
        </p:nvSpPr>
        <p:spPr>
          <a:xfrm>
            <a:off x="9722815" y="150876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2</a:t>
            </a:r>
          </a:p>
        </p:txBody>
      </p:sp>
      <p:sp>
        <p:nvSpPr>
          <p:cNvPr id="9" name="Oval 8"/>
          <p:cNvSpPr/>
          <p:nvPr/>
        </p:nvSpPr>
        <p:spPr>
          <a:xfrm>
            <a:off x="640080" y="243459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10" name="TextBox 9"/>
          <p:cNvSpPr txBox="1"/>
          <p:nvPr/>
        </p:nvSpPr>
        <p:spPr>
          <a:xfrm>
            <a:off x="1325880" y="227838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The same for </a:t>
            </a:r>
            <a:r>
              <a:rPr sz="1900" b="0">
                <a:solidFill>
                  <a:srgbClr val="6A3FC0"/>
                </a:solidFill>
                <a:latin typeface="Consolas"/>
              </a:rPr>
              <a:t>priority</a:t>
            </a:r>
            <a:r>
              <a:rPr sz="1900" b="0">
                <a:solidFill>
                  <a:srgbClr val="1C2330"/>
                </a:solidFill>
                <a:latin typeface="Segoe UI"/>
              </a:rPr>
              <a:t>; together they mean AND</a:t>
            </a:r>
          </a:p>
        </p:txBody>
      </p:sp>
      <p:sp>
        <p:nvSpPr>
          <p:cNvPr id="11" name="TextBox 10"/>
          <p:cNvSpPr txBox="1"/>
          <p:nvPr/>
        </p:nvSpPr>
        <p:spPr>
          <a:xfrm>
            <a:off x="9722815" y="227838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tests 3-4</a:t>
            </a:r>
          </a:p>
        </p:txBody>
      </p:sp>
      <p:sp>
        <p:nvSpPr>
          <p:cNvPr id="12" name="Oval 11"/>
          <p:cNvSpPr/>
          <p:nvPr/>
        </p:nvSpPr>
        <p:spPr>
          <a:xfrm>
            <a:off x="640080" y="320421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3" name="TextBox 12"/>
          <p:cNvSpPr txBox="1"/>
          <p:nvPr/>
        </p:nvSpPr>
        <p:spPr>
          <a:xfrm>
            <a:off x="1325880" y="304800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If </a:t>
            </a:r>
            <a:r>
              <a:rPr sz="1900" b="0">
                <a:solidFill>
                  <a:srgbClr val="6A3FC0"/>
                </a:solidFill>
                <a:latin typeface="Consolas"/>
              </a:rPr>
              <a:t>search</a:t>
            </a:r>
            <a:r>
              <a:rPr sz="1900" b="0">
                <a:solidFill>
                  <a:srgbClr val="1C2330"/>
                </a:solidFill>
                <a:latin typeface="Segoe UI"/>
              </a:rPr>
              <a:t> has a value, filter with </a:t>
            </a:r>
            <a:r>
              <a:rPr sz="1900" b="0">
                <a:solidFill>
                  <a:srgbClr val="6A3FC0"/>
                </a:solidFill>
                <a:latin typeface="Consolas"/>
              </a:rPr>
              <a:t>title__icontains=</a:t>
            </a:r>
          </a:p>
        </p:txBody>
      </p:sp>
      <p:sp>
        <p:nvSpPr>
          <p:cNvPr id="14" name="TextBox 13"/>
          <p:cNvSpPr txBox="1"/>
          <p:nvPr/>
        </p:nvSpPr>
        <p:spPr>
          <a:xfrm>
            <a:off x="9722815" y="304800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5</a:t>
            </a:r>
          </a:p>
        </p:txBody>
      </p:sp>
      <p:sp>
        <p:nvSpPr>
          <p:cNvPr id="15" name="Oval 14"/>
          <p:cNvSpPr/>
          <p:nvPr/>
        </p:nvSpPr>
        <p:spPr>
          <a:xfrm>
            <a:off x="640080" y="397383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16" name="TextBox 15"/>
          <p:cNvSpPr txBox="1"/>
          <p:nvPr/>
        </p:nvSpPr>
        <p:spPr>
          <a:xfrm>
            <a:off x="1325880" y="3817620"/>
            <a:ext cx="8259775" cy="769620"/>
          </a:xfrm>
          <a:prstGeom prst="rect">
            <a:avLst/>
          </a:prstGeom>
          <a:noFill/>
        </p:spPr>
        <p:txBody>
          <a:bodyPr wrap="square" anchor="ctr" lIns="0" rIns="0" tIns="0" bIns="0">
            <a:spAutoFit/>
          </a:bodyPr>
          <a:lstStyle/>
          <a:p>
            <a:pPr>
              <a:spcAft>
                <a:spcPts val="600"/>
              </a:spcAft>
            </a:pPr>
            <a:r>
              <a:rPr sz="1900" b="0">
                <a:solidFill>
                  <a:srgbClr val="6A3FC0"/>
                </a:solidFill>
                <a:latin typeface="Consolas"/>
              </a:rPr>
              <a:t>due_before</a:t>
            </a:r>
            <a:r>
              <a:rPr sz="1900" b="0">
                <a:solidFill>
                  <a:srgbClr val="1C2330"/>
                </a:solidFill>
                <a:latin typeface="Segoe UI"/>
              </a:rPr>
              <a:t>: </a:t>
            </a:r>
            <a:r>
              <a:rPr sz="1900" b="0">
                <a:solidFill>
                  <a:srgbClr val="6A3FC0"/>
                </a:solidFill>
                <a:latin typeface="Consolas"/>
              </a:rPr>
              <a:t>date.fromisoformat(...)</a:t>
            </a:r>
            <a:r>
              <a:rPr sz="1900" b="0">
                <a:solidFill>
                  <a:srgbClr val="1C2330"/>
                </a:solidFill>
                <a:latin typeface="Segoe UI"/>
              </a:rPr>
              <a:t>, then </a:t>
            </a:r>
            <a:r>
              <a:rPr sz="1900" b="0">
                <a:solidFill>
                  <a:srgbClr val="6A3FC0"/>
                </a:solidFill>
                <a:latin typeface="Consolas"/>
              </a:rPr>
              <a:t>due_date__lte=</a:t>
            </a:r>
          </a:p>
        </p:txBody>
      </p:sp>
      <p:sp>
        <p:nvSpPr>
          <p:cNvPr id="17" name="TextBox 16"/>
          <p:cNvSpPr txBox="1"/>
          <p:nvPr/>
        </p:nvSpPr>
        <p:spPr>
          <a:xfrm>
            <a:off x="9722815" y="381762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tests 6-7</a:t>
            </a:r>
          </a:p>
        </p:txBody>
      </p:sp>
      <p:sp>
        <p:nvSpPr>
          <p:cNvPr id="18" name="Oval 17"/>
          <p:cNvSpPr/>
          <p:nvPr/>
        </p:nvSpPr>
        <p:spPr>
          <a:xfrm>
            <a:off x="640080" y="474345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19" name="TextBox 18"/>
          <p:cNvSpPr txBox="1"/>
          <p:nvPr/>
        </p:nvSpPr>
        <p:spPr>
          <a:xfrm>
            <a:off x="1325880" y="458724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If </a:t>
            </a:r>
            <a:r>
              <a:rPr sz="1900" b="0">
                <a:solidFill>
                  <a:srgbClr val="6A3FC0"/>
                </a:solidFill>
                <a:latin typeface="Consolas"/>
              </a:rPr>
              <a:t>ordering</a:t>
            </a:r>
            <a:r>
              <a:rPr sz="1900" b="0">
                <a:solidFill>
                  <a:srgbClr val="1C2330"/>
                </a:solidFill>
                <a:latin typeface="Segoe UI"/>
              </a:rPr>
              <a:t> is in </a:t>
            </a:r>
            <a:r>
              <a:rPr sz="1900" b="0">
                <a:solidFill>
                  <a:srgbClr val="6A3FC0"/>
                </a:solidFill>
                <a:latin typeface="Consolas"/>
              </a:rPr>
              <a:t>ALLOWED_ORDERING</a:t>
            </a:r>
            <a:r>
              <a:rPr sz="1900" b="0">
                <a:solidFill>
                  <a:srgbClr val="1C2330"/>
                </a:solidFill>
                <a:latin typeface="Segoe UI"/>
              </a:rPr>
              <a:t>, sort by it; else by </a:t>
            </a:r>
            <a:r>
              <a:rPr sz="1900" b="0">
                <a:solidFill>
                  <a:srgbClr val="6A3FC0"/>
                </a:solidFill>
                <a:latin typeface="Consolas"/>
              </a:rPr>
              <a:t>"id"</a:t>
            </a:r>
          </a:p>
        </p:txBody>
      </p:sp>
      <p:sp>
        <p:nvSpPr>
          <p:cNvPr id="20" name="TextBox 19"/>
          <p:cNvSpPr txBox="1"/>
          <p:nvPr/>
        </p:nvSpPr>
        <p:spPr>
          <a:xfrm>
            <a:off x="9722815" y="458724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tests 8-9</a:t>
            </a:r>
          </a:p>
        </p:txBody>
      </p:sp>
      <p:sp>
        <p:nvSpPr>
          <p:cNvPr id="21" name="Oval 20"/>
          <p:cNvSpPr/>
          <p:nvPr/>
        </p:nvSpPr>
        <p:spPr>
          <a:xfrm>
            <a:off x="640080" y="551307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6</a:t>
            </a:r>
          </a:p>
        </p:txBody>
      </p:sp>
      <p:sp>
        <p:nvSpPr>
          <p:cNvPr id="22" name="TextBox 21"/>
          <p:cNvSpPr txBox="1"/>
          <p:nvPr/>
        </p:nvSpPr>
        <p:spPr>
          <a:xfrm>
            <a:off x="1325880" y="5356860"/>
            <a:ext cx="8259775" cy="76962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Return the sorted queryset</a:t>
            </a:r>
          </a:p>
        </p:txBody>
      </p:sp>
      <p:sp>
        <p:nvSpPr>
          <p:cNvPr id="23" name="TextBox 22"/>
          <p:cNvSpPr txBox="1"/>
          <p:nvPr/>
        </p:nvSpPr>
        <p:spPr>
          <a:xfrm>
            <a:off x="9722815" y="5356860"/>
            <a:ext cx="1828800" cy="76962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tests 1-10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Common mistakes</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600"/>
              </a:spcAft>
            </a:pPr>
            <a:r>
              <a:rPr sz="2400" b="0">
                <a:solidFill>
                  <a:srgbClr val="1C2330"/>
                </a:solidFill>
                <a:latin typeface="Segoe UI"/>
              </a:rPr>
              <a:t>•  </a:t>
            </a:r>
            <a:r>
              <a:rPr sz="2400" b="0">
                <a:solidFill>
                  <a:srgbClr val="6A3FC0"/>
                </a:solidFill>
                <a:latin typeface="Consolas"/>
              </a:rPr>
              <a:t>queryset.filter(...)</a:t>
            </a:r>
            <a:r>
              <a:rPr sz="2400" b="0">
                <a:solidFill>
                  <a:srgbClr val="1C2330"/>
                </a:solidFill>
                <a:latin typeface="Segoe UI"/>
              </a:rPr>
              <a:t> alone does nothing: store it, </a:t>
            </a:r>
            <a:r>
              <a:rPr sz="2400" b="0">
                <a:solidFill>
                  <a:srgbClr val="6A3FC0"/>
                </a:solidFill>
                <a:latin typeface="Consolas"/>
              </a:rPr>
              <a:t>queryset = ...</a:t>
            </a:r>
          </a:p>
          <a:p>
            <a:pPr>
              <a:spcAft>
                <a:spcPts val="1600"/>
              </a:spcAft>
            </a:pPr>
            <a:r>
              <a:rPr sz="2400" b="0">
                <a:solidFill>
                  <a:srgbClr val="1C2330"/>
                </a:solidFill>
                <a:latin typeface="Segoe UI"/>
              </a:rPr>
              <a:t>•  </a:t>
            </a:r>
            <a:r>
              <a:rPr sz="2400" b="0">
                <a:solidFill>
                  <a:srgbClr val="6A3FC0"/>
                </a:solidFill>
                <a:latin typeface="Consolas"/>
              </a:rPr>
              <a:t>params["status"]</a:t>
            </a:r>
            <a:r>
              <a:rPr sz="2400" b="0">
                <a:solidFill>
                  <a:srgbClr val="1C2330"/>
                </a:solidFill>
                <a:latin typeface="Segoe UI"/>
              </a:rPr>
              <a:t> raises </a:t>
            </a:r>
            <a:r>
              <a:rPr sz="2400" b="0">
                <a:solidFill>
                  <a:srgbClr val="6A3FC0"/>
                </a:solidFill>
                <a:latin typeface="Consolas"/>
              </a:rPr>
              <a:t>KeyError</a:t>
            </a:r>
            <a:r>
              <a:rPr sz="2400" b="0">
                <a:solidFill>
                  <a:srgbClr val="1C2330"/>
                </a:solidFill>
                <a:latin typeface="Segoe UI"/>
              </a:rPr>
              <a:t> when missing: use </a:t>
            </a:r>
            <a:r>
              <a:rPr sz="2400" b="0">
                <a:solidFill>
                  <a:srgbClr val="6A3FC0"/>
                </a:solidFill>
                <a:latin typeface="Consolas"/>
              </a:rPr>
              <a:t>.get</a:t>
            </a:r>
          </a:p>
          <a:p>
            <a:pPr>
              <a:spcAft>
                <a:spcPts val="1600"/>
              </a:spcAft>
            </a:pPr>
            <a:r>
              <a:rPr sz="2400" b="0">
                <a:solidFill>
                  <a:srgbClr val="1C2330"/>
                </a:solidFill>
                <a:latin typeface="Segoe UI"/>
              </a:rPr>
              <a:t>•  </a:t>
            </a:r>
            <a:r>
              <a:rPr sz="2400" b="0">
                <a:solidFill>
                  <a:srgbClr val="6A3FC0"/>
                </a:solidFill>
                <a:latin typeface="Consolas"/>
              </a:rPr>
              <a:t>title_icontains</a:t>
            </a:r>
            <a:r>
              <a:rPr sz="2400" b="0">
                <a:solidFill>
                  <a:srgbClr val="1C2330"/>
                </a:solidFill>
                <a:latin typeface="Segoe UI"/>
              </a:rPr>
              <a:t> with one underscore gives </a:t>
            </a:r>
            <a:r>
              <a:rPr sz="2400" b="0">
                <a:solidFill>
                  <a:srgbClr val="6A3FC0"/>
                </a:solidFill>
                <a:latin typeface="Consolas"/>
              </a:rPr>
              <a:t>FieldError</a:t>
            </a:r>
          </a:p>
          <a:p>
            <a:pPr>
              <a:spcAft>
                <a:spcPts val="1600"/>
              </a:spcAft>
            </a:pPr>
            <a:r>
              <a:rPr sz="2400" b="0">
                <a:solidFill>
                  <a:srgbClr val="1C2330"/>
                </a:solidFill>
                <a:latin typeface="Segoe UI"/>
              </a:rPr>
              <a:t>•  Any ordering straight into </a:t>
            </a:r>
            <a:r>
              <a:rPr sz="2400" b="0">
                <a:solidFill>
                  <a:srgbClr val="6A3FC0"/>
                </a:solidFill>
                <a:latin typeface="Consolas"/>
              </a:rPr>
              <a:t>order_by</a:t>
            </a:r>
            <a:r>
              <a:rPr sz="2400" b="0">
                <a:solidFill>
                  <a:srgbClr val="1C2330"/>
                </a:solidFill>
                <a:latin typeface="Segoe UI"/>
              </a:rPr>
              <a:t> crashes on unknown fields</a:t>
            </a:r>
          </a:p>
          <a:p>
            <a:pPr>
              <a:spcAft>
                <a:spcPts val="1600"/>
              </a:spcAft>
            </a:pPr>
            <a:r>
              <a:rPr sz="2400" b="0">
                <a:solidFill>
                  <a:srgbClr val="1C2330"/>
                </a:solidFill>
                <a:latin typeface="Segoe UI"/>
              </a:rPr>
              <a:t>•  </a:t>
            </a:r>
            <a:r>
              <a:rPr sz="2400" b="0">
                <a:solidFill>
                  <a:srgbClr val="6A3FC0"/>
                </a:solidFill>
                <a:latin typeface="Consolas"/>
              </a:rPr>
              <a:t>order_by</a:t>
            </a:r>
            <a:r>
              <a:rPr sz="2400" b="0">
                <a:solidFill>
                  <a:srgbClr val="1C2330"/>
                </a:solidFill>
                <a:latin typeface="Segoe UI"/>
              </a:rPr>
              <a:t> also returns a new queryset: return its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Where you'll use this</a:t>
            </a:r>
          </a:p>
        </p:txBody>
      </p:sp>
      <p:sp>
        <p:nvSpPr>
          <p:cNvPr id="6" name="Rounded Rectangle 5"/>
          <p:cNvSpPr/>
          <p:nvPr/>
        </p:nvSpPr>
        <p:spPr>
          <a:xfrm>
            <a:off x="640080" y="1508760"/>
            <a:ext cx="10911535" cy="15544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10180015" cy="1280160"/>
          </a:xfrm>
          <a:prstGeom prst="rect">
            <a:avLst/>
          </a:prstGeom>
          <a:noFill/>
        </p:spPr>
        <p:txBody>
          <a:bodyPr wrap="square" anchor="ctr" lIns="0" rIns="0" tIns="0" bIns="0">
            <a:spAutoFit/>
          </a:bodyPr>
          <a:lstStyle/>
          <a:p>
            <a:pPr>
              <a:spcAft>
                <a:spcPts val="600"/>
              </a:spcAft>
            </a:pPr>
            <a:r>
              <a:rPr sz="2100" b="0">
                <a:solidFill>
                  <a:srgbClr val="1C2330"/>
                </a:solidFill>
                <a:latin typeface="Segoe UI"/>
              </a:rPr>
              <a:t>A task board has a filter panel: status, priority, a search box and "sort by due date". Each click changes the query string, and your code turns it into one queryset.</a:t>
            </a:r>
          </a:p>
        </p:txBody>
      </p:sp>
      <p:sp>
        <p:nvSpPr>
          <p:cNvPr id="8" name="TextBox 7"/>
          <p:cNvSpPr txBox="1"/>
          <p:nvPr/>
        </p:nvSpPr>
        <p:spPr>
          <a:xfrm>
            <a:off x="640080" y="3337560"/>
            <a:ext cx="10911535" cy="2743200"/>
          </a:xfrm>
          <a:prstGeom prst="rect">
            <a:avLst/>
          </a:prstGeom>
          <a:noFill/>
        </p:spPr>
        <p:txBody>
          <a:bodyPr wrap="square" anchor="t" lIns="0" rIns="0" tIns="0" bIns="0">
            <a:spAutoFit/>
          </a:bodyPr>
          <a:lstStyle/>
          <a:p>
            <a:pPr>
              <a:spcAft>
                <a:spcPts val="1200"/>
              </a:spcAft>
            </a:pPr>
            <a:r>
              <a:rPr sz="2000" b="0">
                <a:solidFill>
                  <a:srgbClr val="1C2330"/>
                </a:solidFill>
                <a:latin typeface="Segoe UI"/>
              </a:rPr>
              <a:t>•  A whitelist blocks </a:t>
            </a:r>
            <a:r>
              <a:rPr sz="2000" b="0">
                <a:solidFill>
                  <a:srgbClr val="6A3FC0"/>
                </a:solidFill>
                <a:latin typeface="Consolas"/>
              </a:rPr>
              <a:t>?ordering=owner__password</a:t>
            </a:r>
            <a:r>
              <a:rPr sz="2000" b="0">
                <a:solidFill>
                  <a:srgbClr val="1C2330"/>
                </a:solidFill>
                <a:latin typeface="Segoe UI"/>
              </a:rPr>
              <a:t>, which could leak secrets</a:t>
            </a:r>
          </a:p>
          <a:p>
            <a:pPr>
              <a:spcAft>
                <a:spcPts val="1200"/>
              </a:spcAft>
            </a:pPr>
            <a:r>
              <a:rPr sz="2000" b="0">
                <a:solidFill>
                  <a:srgbClr val="1C2330"/>
                </a:solidFill>
                <a:latin typeface="Segoe UI"/>
              </a:rPr>
              <a:t>•  Unknown fields would crash with a </a:t>
            </a:r>
            <a:r>
              <a:rPr sz="2000" b="0">
                <a:solidFill>
                  <a:srgbClr val="6A3FC0"/>
                </a:solidFill>
                <a:latin typeface="Consolas"/>
              </a:rPr>
              <a:t>500</a:t>
            </a:r>
            <a:r>
              <a:rPr sz="2000" b="0">
                <a:solidFill>
                  <a:srgbClr val="1C2330"/>
                </a:solidFill>
                <a:latin typeface="Segoe UI"/>
              </a:rPr>
              <a:t> and reveal your field names</a:t>
            </a:r>
          </a:p>
          <a:p>
            <a:pPr>
              <a:spcAft>
                <a:spcPts val="1200"/>
              </a:spcAft>
            </a:pPr>
            <a:r>
              <a:rPr sz="2000" b="0">
                <a:solidFill>
                  <a:srgbClr val="1C2330"/>
                </a:solidFill>
                <a:latin typeface="Segoe UI"/>
              </a:rPr>
              <a:t>•  </a:t>
            </a:r>
            <a:r>
              <a:rPr sz="2000" b="0">
                <a:solidFill>
                  <a:srgbClr val="6A3FC0"/>
                </a:solidFill>
                <a:latin typeface="Consolas"/>
              </a:rPr>
              <a:t>django-filter</a:t>
            </a:r>
            <a:r>
              <a:rPr sz="2000" b="0">
                <a:solidFill>
                  <a:srgbClr val="1C2330"/>
                </a:solidFill>
                <a:latin typeface="Segoe UI"/>
              </a:rPr>
              <a:t>, </a:t>
            </a:r>
            <a:r>
              <a:rPr sz="2000" b="0">
                <a:solidFill>
                  <a:srgbClr val="6A3FC0"/>
                </a:solidFill>
                <a:latin typeface="Consolas"/>
              </a:rPr>
              <a:t>SearchFilter</a:t>
            </a:r>
            <a:r>
              <a:rPr sz="2000" b="0">
                <a:solidFill>
                  <a:srgbClr val="1C2330"/>
                </a:solidFill>
                <a:latin typeface="Segoe UI"/>
              </a:rPr>
              <a:t> and </a:t>
            </a:r>
            <a:r>
              <a:rPr sz="2000" b="0">
                <a:solidFill>
                  <a:srgbClr val="6A3FC0"/>
                </a:solidFill>
                <a:latin typeface="Consolas"/>
              </a:rPr>
              <a:t>OrderingFilter</a:t>
            </a:r>
            <a:r>
              <a:rPr sz="2000" b="0">
                <a:solidFill>
                  <a:srgbClr val="1C2330"/>
                </a:solidFill>
                <a:latin typeface="Segoe UI"/>
              </a:rPr>
              <a:t> do this for you in real projects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Check yourself</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800"/>
              </a:spcAft>
            </a:pPr>
            <a:r>
              <a:rPr sz="2300" b="0">
                <a:solidFill>
                  <a:srgbClr val="1C2330"/>
                </a:solidFill>
                <a:latin typeface="Segoe UI"/>
              </a:rPr>
              <a:t>1.  Why store the result: </a:t>
            </a:r>
            <a:r>
              <a:rPr sz="2300" b="0">
                <a:solidFill>
                  <a:srgbClr val="6A3FC0"/>
                </a:solidFill>
                <a:latin typeface="Consolas"/>
              </a:rPr>
              <a:t>queryset = queryset.filter(...)</a:t>
            </a:r>
            <a:r>
              <a:rPr sz="2300" b="0">
                <a:solidFill>
                  <a:srgbClr val="1C2330"/>
                </a:solidFill>
                <a:latin typeface="Segoe UI"/>
              </a:rPr>
              <a:t>?</a:t>
            </a:r>
          </a:p>
          <a:p>
            <a:pPr>
              <a:spcAft>
                <a:spcPts val="1800"/>
              </a:spcAft>
            </a:pPr>
            <a:r>
              <a:rPr sz="2300" b="0">
                <a:solidFill>
                  <a:srgbClr val="1C2330"/>
                </a:solidFill>
                <a:latin typeface="Segoe UI"/>
              </a:rPr>
              <a:t>2.  Which lookup finds "Deploy" when the user searches "DEPLOY"?</a:t>
            </a:r>
          </a:p>
          <a:p>
            <a:pPr>
              <a:spcAft>
                <a:spcPts val="1800"/>
              </a:spcAft>
            </a:pPr>
            <a:r>
              <a:rPr sz="2300" b="0">
                <a:solidFill>
                  <a:srgbClr val="1C2330"/>
                </a:solidFill>
                <a:latin typeface="Segoe UI"/>
              </a:rPr>
              <a:t>3.  Why does test 6 leave out a task with no due date?</a:t>
            </a:r>
          </a:p>
          <a:p>
            <a:pPr>
              <a:spcAft>
                <a:spcPts val="1800"/>
              </a:spcAft>
            </a:pPr>
            <a:r>
              <a:rPr sz="2300" b="0">
                <a:solidFill>
                  <a:srgbClr val="1C2330"/>
                </a:solidFill>
                <a:latin typeface="Segoe UI"/>
              </a:rPr>
              <a:t>4.  Why check </a:t>
            </a:r>
            <a:r>
              <a:rPr sz="2300" b="0">
                <a:solidFill>
                  <a:srgbClr val="6A3FC0"/>
                </a:solidFill>
                <a:latin typeface="Consolas"/>
              </a:rPr>
              <a:t>?ordering=</a:t>
            </a:r>
            <a:r>
              <a:rPr sz="2300" b="0">
                <a:solidFill>
                  <a:srgbClr val="1C2330"/>
                </a:solidFill>
                <a:latin typeface="Segoe UI"/>
              </a:rPr>
              <a:t> against a whitelist?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09  ·  Filter, search &amp; order</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16</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Keep learning</a:t>
            </a:r>
          </a:p>
        </p:txBody>
      </p:sp>
      <p:sp>
        <p:nvSpPr>
          <p:cNvPr id="6" name="TextBox 5"/>
          <p:cNvSpPr txBox="1"/>
          <p:nvPr/>
        </p:nvSpPr>
        <p:spPr>
          <a:xfrm>
            <a:off x="640080" y="1463040"/>
            <a:ext cx="10911535" cy="4663440"/>
          </a:xfrm>
          <a:prstGeom prst="rect">
            <a:avLst/>
          </a:prstGeom>
          <a:noFill/>
        </p:spPr>
        <p:txBody>
          <a:bodyPr wrap="square" anchor="t" lIns="0" rIns="0" tIns="0" bIns="0">
            <a:spAutoFit/>
          </a:bodyPr>
          <a:lstStyle/>
          <a:p>
            <a:pPr>
              <a:spcAft>
                <a:spcPts val="200"/>
              </a:spcAft>
            </a:pPr>
            <a:r>
              <a:rPr sz="2000" b="1">
                <a:solidFill>
                  <a:srgbClr val="2F6FDF"/>
                </a:solidFill>
                <a:latin typeface="Segoe UI"/>
                <a:hlinkClick r:id="rId2"/>
              </a:rPr>
              <a:t>Django ORM and QuerySets</a:t>
            </a:r>
          </a:p>
          <a:p>
            <a:pPr>
              <a:spcAft>
                <a:spcPts val="1200"/>
              </a:spcAft>
            </a:pPr>
            <a:r>
              <a:rPr sz="1500" b="0">
                <a:solidFill>
                  <a:srgbClr val="5D6778"/>
                </a:solidFill>
                <a:latin typeface="Segoe UI"/>
              </a:rPr>
              <a:t>Django Girls Tutorial · tutorial · beginner. Start here: try filter(), __contains lookups and order_by() in the shell, much like filtering a pandas DataFrame.</a:t>
            </a:r>
          </a:p>
          <a:p>
            <a:pPr>
              <a:spcAft>
                <a:spcPts val="200"/>
              </a:spcAft>
            </a:pPr>
            <a:r>
              <a:rPr sz="2000" b="1">
                <a:solidFill>
                  <a:srgbClr val="2F6FDF"/>
                </a:solidFill>
                <a:latin typeface="Segoe UI"/>
                <a:hlinkClick r:id="rId3"/>
              </a:rPr>
              <a:t>Making queries</a:t>
            </a:r>
          </a:p>
          <a:p>
            <a:pPr>
              <a:spcAft>
                <a:spcPts val="1200"/>
              </a:spcAft>
            </a:pPr>
            <a:r>
              <a:rPr sz="1500" b="0">
                <a:solidFill>
                  <a:srgbClr val="5D6778"/>
                </a:solidFill>
                <a:latin typeface="Segoe UI"/>
              </a:rPr>
              <a:t>Django docs · docs · beginner. Explains that querysets are lazy and can be chained, which is why you can add one filter at a time.</a:t>
            </a:r>
          </a:p>
          <a:p>
            <a:pPr>
              <a:spcAft>
                <a:spcPts val="200"/>
              </a:spcAft>
            </a:pPr>
            <a:r>
              <a:rPr sz="2000" b="1">
                <a:solidFill>
                  <a:srgbClr val="2F6FDF"/>
                </a:solidFill>
                <a:latin typeface="Segoe UI"/>
                <a:hlinkClick r:id="rId4"/>
              </a:rPr>
              <a:t>QuerySet API reference: field lookups</a:t>
            </a:r>
          </a:p>
          <a:p>
            <a:pPr>
              <a:spcAft>
                <a:spcPts val="1200"/>
              </a:spcAft>
            </a:pPr>
            <a:r>
              <a:rPr sz="1500" b="0">
                <a:solidFill>
                  <a:srgbClr val="5D6778"/>
                </a:solidFill>
                <a:latin typeface="Segoe UI"/>
              </a:rPr>
              <a:t>Django docs · docs · intermediate. Reference for icontains, lte and every other lookup, plus order_by with a minus sign for descending order.</a:t>
            </a:r>
          </a:p>
          <a:p>
            <a:pPr>
              <a:spcAft>
                <a:spcPts val="200"/>
              </a:spcAft>
            </a:pPr>
            <a:r>
              <a:rPr sz="2000" b="1">
                <a:solidFill>
                  <a:srgbClr val="2F6FDF"/>
                </a:solidFill>
                <a:latin typeface="Segoe UI"/>
                <a:hlinkClick r:id="rId5"/>
              </a:rPr>
              <a:t>datetime: date.fromisoformat</a:t>
            </a:r>
          </a:p>
          <a:p>
            <a:pPr>
              <a:spcAft>
                <a:spcPts val="1200"/>
              </a:spcAft>
            </a:pPr>
            <a:r>
              <a:rPr sz="1500" b="0">
                <a:solidFill>
                  <a:srgbClr val="5D6778"/>
                </a:solidFill>
                <a:latin typeface="Segoe UI"/>
              </a:rPr>
              <a:t>Python docs · docs · intermediate. How to turn a '2025-01-31' string from the URL into a real date, and the ValueError you get on bad input.</a:t>
            </a:r>
          </a:p>
          <a:p>
            <a:pPr>
              <a:spcAft>
                <a:spcPts val="200"/>
              </a:spcAft>
            </a:pPr>
            <a:r>
              <a:rPr sz="2000" b="1">
                <a:solidFill>
                  <a:srgbClr val="2F6FDF"/>
                </a:solidFill>
                <a:latin typeface="Segoe UI"/>
                <a:hlinkClick r:id="rId6"/>
              </a:rPr>
              <a:t>Filtering</a:t>
            </a:r>
          </a:p>
          <a:p>
            <a:pPr>
              <a:spcAft>
                <a:spcPts val="1200"/>
              </a:spcAft>
            </a:pPr>
            <a:r>
              <a:rPr sz="1500" b="0">
                <a:solidFill>
                  <a:srgbClr val="5D6778"/>
                </a:solidFill>
                <a:latin typeface="Segoe UI"/>
              </a:rPr>
              <a:t>Django REST framework · docs · intermediate. How DRF offers the same search and ordering features built in, once you understand the manual version.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