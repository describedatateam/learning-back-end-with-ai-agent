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15. By the end you should be able to tell the story of each of the four attacks and name the one-line fix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as data cleaning: a value a user typed is data to check, never an instruction to follow. Each of your four functions is one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relative path like /dashboard/ has no host, so it always stays on your site. SQL is the language databases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Phishers love these. The victim did everything right: she checked the link started with the real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differences are tiny, but attackers can send millions of requests and average the timings.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without an attacker, gluing breaks: a title like Ada's task contains a quote and crashes the query. That's test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blocked: javascript:alert(1), empty and None addresses, and backendlab.test.evil.example, which only starts like ours. Test 5 checks that you really call hmac.compare_digest.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gives True or False, not an address. Your function must return url or "/". Don't write your own check: url.startswith("/") lets //evil.example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empty or None first: None.encode() crashes. .encode() turns text into bytes, which also handles accented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met partition in exercise 1. It crashes on None, which is why (value or "") is useful. text[0] is the first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'%s' with quotes, or "..." % title, both glue the value in again. The ORM (Task.objects.filter(title=...)) always does it the safe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codecamp.org/news/what-is-sql-injection-how-to-prevent-it/" TargetMode="External"/><Relationship Id="rId3" Type="http://schemas.openxmlformats.org/officeDocument/2006/relationships/hyperlink" Target="https://docs.djangoproject.com/en/5.2/topics/security/" TargetMode="External"/><Relationship Id="rId4" Type="http://schemas.openxmlformats.org/officeDocument/2006/relationships/hyperlink" Target="https://cheatsheetseries.owasp.org/cheatsheets/Unvalidated_Redirects_and_Forwards_Cheat_Sheet.html" TargetMode="External"/><Relationship Id="rId5" Type="http://schemas.openxmlformats.org/officeDocument/2006/relationships/hyperlink" Target="https://docs.python.org/3/library/hmac.html#hmac.compare_digest" TargetMode="External"/><Relationship Id="rId6" Type="http://schemas.openxmlformats.org/officeDocument/2006/relationships/hyperlink" Target="https://docs.djangoproject.com/en/5.2/topics/db/sql/#passing-parameters-into-raw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3  ·  EXERCISE 15  · 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Security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Fix four small mistakes that attackers love: redirects, secret checks, logs and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A backend is open to the whole internet, so some requests come from </a:t>
            </a:r>
            <a:r>
              <a:rPr sz="2400" b="1">
                <a:solidFill>
                  <a:srgbClr val="1C2330"/>
                </a:solidFill>
                <a:latin typeface="Segoe UI"/>
              </a:rPr>
              <a:t>attackers</a:t>
            </a:r>
            <a:r>
              <a:rPr sz="2400" b="0">
                <a:solidFill>
                  <a:srgbClr val="1C2330"/>
                </a:solidFill>
                <a:latin typeface="Segoe UI"/>
              </a:rPr>
              <a:t>. Most attacks use small, ordinary mistakes, not clever magic.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Think of the locks on a house: none is complicated, but every door needs one. The rule behind all four: </a:t>
            </a:r>
            <a:r>
              <a:rPr sz="2400" b="1">
                <a:solidFill>
                  <a:srgbClr val="1C2330"/>
                </a:solidFill>
                <a:latin typeface="Segoe UI"/>
              </a:rPr>
              <a:t>never trust what comes in from outside</a:t>
            </a:r>
            <a:r>
              <a:rPr sz="24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redirect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response that says "go to this other address instead".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Consolas"/>
              </a:rPr>
              <a:t>?next=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Where to send the user after login: </a:t>
            </a:r>
            <a:r>
              <a:rPr sz="1900" b="0">
                <a:solidFill>
                  <a:srgbClr val="6A3FC0"/>
                </a:solidFill>
                <a:latin typeface="Consolas"/>
              </a:rPr>
              <a:t>/login?next=/tasks/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website part of an address,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backendlab.test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long secret password that a program sends to prove who it 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personal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Anything that identifies a real person, like an email.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parameterised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SQL with a </a:t>
            </a:r>
            <a:r>
              <a:rPr sz="1900" b="0">
                <a:solidFill>
                  <a:srgbClr val="6A3FC0"/>
                </a:solidFill>
                <a:latin typeface="Consolas"/>
              </a:rPr>
              <a:t>%s</a:t>
            </a:r>
            <a:r>
              <a:rPr sz="1900" b="0">
                <a:solidFill>
                  <a:srgbClr val="1C2330"/>
                </a:solidFill>
                <a:latin typeface="Segoe UI"/>
              </a:rPr>
              <a:t> placeholder; the value is passed </a:t>
            </a:r>
            <a:r>
              <a:rPr sz="1900" b="1">
                <a:solidFill>
                  <a:srgbClr val="1C2330"/>
                </a:solidFill>
                <a:latin typeface="Segoe UI"/>
              </a:rPr>
              <a:t>separately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Attack 1: the open redirect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An attacker emails Ada a link: </a:t>
            </a:r>
            <a:r>
              <a:rPr sz="2100" b="0">
                <a:solidFill>
                  <a:srgbClr val="6A3FC0"/>
                </a:solidFill>
                <a:latin typeface="Consolas"/>
              </a:rPr>
              <a:t>backendlab.test/login?next=https://backendlab-login.evil.example</a:t>
            </a:r>
            <a:r>
              <a:rPr sz="2100" b="0">
                <a:solidFill>
                  <a:srgbClr val="1C2330"/>
                </a:solidFill>
                <a:latin typeface="Segoe UI"/>
              </a:rPr>
              <a:t>. It starts with your real site, so she logs in. Your site then sends her to the attacker's copy, which asks for her password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The link looked safe because it started with your address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000" b="1">
                <a:solidFill>
                  <a:srgbClr val="1C2330"/>
                </a:solidFill>
                <a:latin typeface="Segoe UI"/>
              </a:rPr>
              <a:t>Fix:</a:t>
            </a:r>
            <a:r>
              <a:rPr sz="2000" b="0">
                <a:solidFill>
                  <a:srgbClr val="1C2330"/>
                </a:solidFill>
                <a:latin typeface="Segoe UI"/>
              </a:rPr>
              <a:t> only redirect to your own site; anything else goes to </a:t>
            </a:r>
            <a:r>
              <a:rPr sz="2000" b="0">
                <a:solidFill>
                  <a:srgbClr val="6A3FC0"/>
                </a:solidFill>
                <a:latin typeface="Consolas"/>
              </a:rPr>
              <a:t>/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Your function: </a:t>
            </a:r>
            <a:r>
              <a:rPr sz="2000" b="0">
                <a:solidFill>
                  <a:srgbClr val="6A3FC0"/>
                </a:solidFill>
                <a:latin typeface="Consolas"/>
              </a:rPr>
              <a:t>safe_next_url(url, allowed_hosts)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Attack 2: the timing attack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guard checks a password one letter at a time and says "wrong!" at the first mismatch. A wrong first letter gets a quick answer; a right one, a slightly slower one. By timing answers, an attacker guesses the secret </a:t>
            </a:r>
            <a:r>
              <a:rPr sz="2100" b="1">
                <a:solidFill>
                  <a:srgbClr val="1C2330"/>
                </a:solidFill>
                <a:latin typeface="Segoe UI"/>
              </a:rPr>
              <a:t>one letter at a time</a:t>
            </a:r>
            <a:r>
              <a:rPr sz="21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Python's </a:t>
            </a:r>
            <a:r>
              <a:rPr sz="2000" b="0">
                <a:solidFill>
                  <a:srgbClr val="6A3FC0"/>
                </a:solidFill>
                <a:latin typeface="Consolas"/>
              </a:rPr>
              <a:t>==</a:t>
            </a:r>
            <a:r>
              <a:rPr sz="2000" b="0">
                <a:solidFill>
                  <a:srgbClr val="1C2330"/>
                </a:solidFill>
                <a:latin typeface="Segoe UI"/>
              </a:rPr>
              <a:t> on strings can behave like that guard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000" b="1">
                <a:solidFill>
                  <a:srgbClr val="1C2330"/>
                </a:solidFill>
                <a:latin typeface="Segoe UI"/>
              </a:rPr>
              <a:t>Fix:</a:t>
            </a:r>
            <a:r>
              <a:rPr sz="2000" b="0">
                <a:solidFill>
                  <a:srgbClr val="1C2330"/>
                </a:solidFill>
                <a:latin typeface="Segoe UI"/>
              </a:rPr>
              <a:t> </a:t>
            </a:r>
            <a:r>
              <a:rPr sz="2000" b="0">
                <a:solidFill>
                  <a:srgbClr val="6A3FC0"/>
                </a:solidFill>
                <a:latin typeface="Consolas"/>
              </a:rPr>
              <a:t>hmac.compare_digest</a:t>
            </a:r>
            <a:r>
              <a:rPr sz="2000" b="0">
                <a:solidFill>
                  <a:srgbClr val="1C2330"/>
                </a:solidFill>
                <a:latin typeface="Segoe UI"/>
              </a:rPr>
              <a:t> always takes the same time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Your function: </a:t>
            </a:r>
            <a:r>
              <a:rPr sz="2000" b="0">
                <a:solidFill>
                  <a:srgbClr val="6A3FC0"/>
                </a:solidFill>
                <a:latin typeface="Consolas"/>
              </a:rPr>
              <a:t>api_key_matches(provided, expected)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Attack 3: personal data in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Your app logs "Password reset for ada.lovelace@example.com". Logs get copied into tools, emailed around and kept for months. One day a log file leaks, and thousands of emails are public.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In many countries that is also against the law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000" b="1">
                <a:solidFill>
                  <a:srgbClr val="1C2330"/>
                </a:solidFill>
                <a:latin typeface="Segoe UI"/>
              </a:rPr>
              <a:t>Fix:</a:t>
            </a:r>
            <a:r>
              <a:rPr sz="2000" b="0">
                <a:solidFill>
                  <a:srgbClr val="1C2330"/>
                </a:solidFill>
                <a:latin typeface="Segoe UI"/>
              </a:rPr>
              <a:t> mask it first: </a:t>
            </a:r>
            <a:r>
              <a:rPr sz="2000" b="0">
                <a:solidFill>
                  <a:srgbClr val="6A3FC0"/>
                </a:solidFill>
                <a:latin typeface="Consolas"/>
              </a:rPr>
              <a:t>a***@example.com</a:t>
            </a:r>
            <a:r>
              <a:rPr sz="2000" b="0">
                <a:solidFill>
                  <a:srgbClr val="1C2330"/>
                </a:solidFill>
                <a:latin typeface="Segoe UI"/>
              </a:rPr>
              <a:t> is still useful for debugging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Your function: </a:t>
            </a:r>
            <a:r>
              <a:rPr sz="2000" b="0">
                <a:solidFill>
                  <a:srgbClr val="6A3FC0"/>
                </a:solidFill>
                <a:latin typeface="Consolas"/>
              </a:rPr>
              <a:t>mask_email(email)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Attack 4: SQL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 search box glues the typed title into SQL. Someone types </a:t>
            </a:r>
            <a:r>
              <a:rPr sz="2100" b="0">
                <a:solidFill>
                  <a:srgbClr val="6A3FC0"/>
                </a:solidFill>
                <a:latin typeface="Consolas"/>
              </a:rPr>
              <a:t>x' OR '1'='1</a:t>
            </a:r>
            <a:r>
              <a:rPr sz="2100" b="0">
                <a:solidFill>
                  <a:srgbClr val="1C2330"/>
                </a:solidFill>
                <a:latin typeface="Segoe UI"/>
              </a:rPr>
              <a:t>. The quote ends the title early, and the rest becomes </a:t>
            </a:r>
            <a:r>
              <a:rPr sz="2100" b="1">
                <a:solidFill>
                  <a:srgbClr val="1C2330"/>
                </a:solidFill>
                <a:latin typeface="Segoe UI"/>
              </a:rPr>
              <a:t>part of the command</a:t>
            </a:r>
            <a:r>
              <a:rPr sz="2100" b="0">
                <a:solidFill>
                  <a:srgbClr val="1C2330"/>
                </a:solidFill>
                <a:latin typeface="Segoe UI"/>
              </a:rPr>
              <a:t>: "title is x, OR 1 equals 1". Every task of every user comes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With other text, an attacker could even delete tables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000" b="1">
                <a:solidFill>
                  <a:srgbClr val="1C2330"/>
                </a:solidFill>
                <a:latin typeface="Segoe UI"/>
              </a:rPr>
              <a:t>Fix:</a:t>
            </a:r>
            <a:r>
              <a:rPr sz="2000" b="0">
                <a:solidFill>
                  <a:srgbClr val="1C2330"/>
                </a:solidFill>
                <a:latin typeface="Segoe UI"/>
              </a:rPr>
              <a:t> pass the value separately, so it's treated as plain data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Your function: </a:t>
            </a:r>
            <a:r>
              <a:rPr sz="2000" b="0">
                <a:solidFill>
                  <a:srgbClr val="6A3FC0"/>
                </a:solidFill>
                <a:latin typeface="Consolas"/>
              </a:rPr>
              <a:t>find_tasks_by_title(title)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your code receives and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tests call your four functions with these values. </a:t>
            </a:r>
            <a:r>
              <a:rPr sz="2000" b="0">
                <a:solidFill>
                  <a:srgbClr val="6A3FC0"/>
                </a:solidFill>
                <a:latin typeface="Consolas"/>
              </a:rPr>
              <a:t>HOSTS</a:t>
            </a:r>
            <a:r>
              <a:rPr sz="2000" b="0">
                <a:solidFill>
                  <a:srgbClr val="1C2330"/>
                </a:solidFill>
                <a:latin typeface="Segoe UI"/>
              </a:rPr>
              <a:t> is </a:t>
            </a:r>
            <a:r>
              <a:rPr sz="2000" b="0">
                <a:solidFill>
                  <a:srgbClr val="6A3FC0"/>
                </a:solidFill>
                <a:latin typeface="Consolas"/>
              </a:rPr>
              <a:t>["backendlab.test"]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safe_next_url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/dashboard/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HOSTS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"/dashboard/"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safe_next_url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https://evil.example/login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HOSTS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# "/"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safe_next_url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//evil.example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HOSTS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"/"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api_key_matches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sk_live_abc123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sk_live_abc123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# True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api_key_matches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False: empty never matches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mask_email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ada.lovelace@example.com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"a***@example.com"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mask_email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not-an-email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"***"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find_tasks_by_title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Deploy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[1], the Deploy task's id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find_tasks_by_title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'</a:t>
            </a:r>
            <a:r>
              <a:rPr sz="1600">
                <a:solidFill>
                  <a:srgbClr val="CE9178"/>
                </a:solidFill>
                <a:latin typeface="Consolas"/>
              </a:rPr>
              <a:t> OR </a:t>
            </a:r>
            <a:r>
              <a:rPr sz="1600">
                <a:solidFill>
                  <a:srgbClr val="CE9178"/>
                </a:solidFill>
                <a:latin typeface="Consolas"/>
              </a:rPr>
              <a:t>'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CE9178"/>
                </a:solidFill>
                <a:latin typeface="Consolas"/>
              </a:rPr>
              <a:t>'</a:t>
            </a:r>
            <a:r>
              <a:rPr sz="1600">
                <a:solidFill>
                  <a:srgbClr val="CE9178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'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[] (nothing has that title)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url_has_allowed_host_and_scheme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Django's own "safe to redirect to?" </a:t>
            </a:r>
            <a:r>
              <a:rPr sz="2000" b="1">
                <a:solidFill>
                  <a:srgbClr val="1C2330"/>
                </a:solidFill>
                <a:latin typeface="Segoe UI"/>
              </a:rPr>
              <a:t>function</a:t>
            </a:r>
            <a:r>
              <a:rPr sz="2000" b="0">
                <a:solidFill>
                  <a:srgbClr val="1C2330"/>
                </a:solidFill>
                <a:latin typeface="Segoe UI"/>
              </a:rPr>
              <a:t>: address first, then the allowed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198424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from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django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utils</a:t>
            </a:r>
            <a:r>
              <a:rPr sz="1800">
                <a:solidFill>
                  <a:srgbClr val="9CDCFE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http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url_has_allowed_host_and_scheme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urls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/cart/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https://shop.test/cart/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https://evil.example/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//evil.example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for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in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urls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url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url_has_allowed_host_and_scheme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url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allowed_hosts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shop.test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cart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https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shop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test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cart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https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evil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example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/</a:t>
            </a:r>
            <a:r>
              <a:rPr sz="1800">
                <a:solidFill>
                  <a:srgbClr val="D4D4D4"/>
                </a:solidFill>
                <a:latin typeface="Consolas"/>
              </a:rPr>
              <a:t>evil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D4D4D4"/>
                </a:solidFill>
                <a:latin typeface="Consolas"/>
              </a:rPr>
              <a:t>example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not value and hmac.compare_digest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not</a:t>
            </a:r>
            <a:r>
              <a:rPr sz="2000" b="0">
                <a:solidFill>
                  <a:srgbClr val="1C2330"/>
                </a:solidFill>
                <a:latin typeface="Segoe UI"/>
              </a:rPr>
              <a:t> catches empty and </a:t>
            </a:r>
            <a:r>
              <a:rPr sz="2000" b="0">
                <a:solidFill>
                  <a:srgbClr val="6A3FC0"/>
                </a:solidFill>
                <a:latin typeface="Consolas"/>
              </a:rPr>
              <a:t>None</a:t>
            </a:r>
            <a:r>
              <a:rPr sz="2000" b="0">
                <a:solidFill>
                  <a:srgbClr val="1C2330"/>
                </a:solidFill>
                <a:latin typeface="Segoe UI"/>
              </a:rPr>
              <a:t> at once; </a:t>
            </a:r>
            <a:r>
              <a:rPr sz="2000" b="0">
                <a:solidFill>
                  <a:srgbClr val="6A3FC0"/>
                </a:solidFill>
                <a:latin typeface="Consolas"/>
              </a:rPr>
              <a:t>compare_digest</a:t>
            </a:r>
            <a:r>
              <a:rPr sz="2000" b="0">
                <a:solidFill>
                  <a:srgbClr val="1C2330"/>
                </a:solidFill>
                <a:latin typeface="Segoe UI"/>
              </a:rPr>
              <a:t> compares </a:t>
            </a:r>
            <a:r>
              <a:rPr sz="2000" b="1">
                <a:solidFill>
                  <a:srgbClr val="1C2330"/>
                </a:solidFill>
                <a:latin typeface="Segoe UI"/>
              </a:rPr>
              <a:t>bytes</a:t>
            </a:r>
            <a:r>
              <a:rPr sz="2000" b="0">
                <a:solidFill>
                  <a:srgbClr val="1C2330"/>
                </a:solidFill>
                <a:latin typeface="Segoe UI"/>
              </a:rPr>
              <a:t> in constant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27685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911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import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hmac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not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abc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hmac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compare_digest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encode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encode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hmac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compare_digest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encode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encode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partition("@") and text[0]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partition</a:t>
            </a:r>
            <a:r>
              <a:rPr sz="2000" b="0">
                <a:solidFill>
                  <a:srgbClr val="1C2330"/>
                </a:solidFill>
                <a:latin typeface="Segoe UI"/>
              </a:rPr>
              <a:t> always gives 3 pieces; a missing </a:t>
            </a:r>
            <a:r>
              <a:rPr sz="2000" b="0">
                <a:solidFill>
                  <a:srgbClr val="6A3FC0"/>
                </a:solidFill>
                <a:latin typeface="Consolas"/>
              </a:rPr>
              <a:t>@</a:t>
            </a:r>
            <a:r>
              <a:rPr sz="2000" b="0">
                <a:solidFill>
                  <a:srgbClr val="1C2330"/>
                </a:solidFill>
                <a:latin typeface="Segoe UI"/>
              </a:rPr>
              <a:t> leaves the last two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1984248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tea@shop.test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partition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@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no-at-sign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partition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@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@shop.test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partition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@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repr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586C0"/>
                </a:solidFill>
                <a:latin typeface="Consolas"/>
              </a:rPr>
              <a:t>None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586C0"/>
                </a:solidFill>
                <a:latin typeface="Consolas"/>
              </a:rPr>
              <a:t>or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handy trick: None or "" gives ""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4498848"/>
            <a:ext cx="10911535" cy="1673352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0016"/>
            <a:ext cx="10362895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tea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@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shop.test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no-at-sign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@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shop.test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Gluing SQL vs a parameterised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f"... title = '{title}'"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The value is glued </a:t>
            </a:r>
            <a:r>
              <a:rPr sz="1900" b="1">
                <a:solidFill>
                  <a:srgbClr val="1C2330"/>
                </a:solidFill>
                <a:latin typeface="Segoe UI"/>
              </a:rPr>
              <a:t>into the SQL text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 quote in it ends the string early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x' OR '1'='1</a:t>
            </a:r>
            <a:r>
              <a:rPr sz="1900" b="0">
                <a:solidFill>
                  <a:srgbClr val="1C2330"/>
                </a:solidFill>
                <a:latin typeface="Segoe UI"/>
              </a:rPr>
              <a:t> becomes part of the command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Ada's task</a:t>
            </a:r>
            <a:r>
              <a:rPr sz="1900" b="0">
                <a:solidFill>
                  <a:srgbClr val="1C2330"/>
                </a:solidFill>
                <a:latin typeface="Segoe UI"/>
              </a:rPr>
              <a:t> crashes the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cursor.execute(sql, [values])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Write a bare </a:t>
            </a:r>
            <a:r>
              <a:rPr sz="1900" b="0">
                <a:solidFill>
                  <a:srgbClr val="6A3FC0"/>
                </a:solidFill>
                <a:latin typeface="Consolas"/>
              </a:rPr>
              <a:t>%s</a:t>
            </a:r>
            <a:r>
              <a:rPr sz="1900" b="0">
                <a:solidFill>
                  <a:srgbClr val="1C2330"/>
                </a:solidFill>
                <a:latin typeface="Segoe UI"/>
              </a:rPr>
              <a:t> in the SQL, </a:t>
            </a:r>
            <a:r>
              <a:rPr sz="1900" b="1">
                <a:solidFill>
                  <a:srgbClr val="1C2330"/>
                </a:solidFill>
                <a:latin typeface="Segoe UI"/>
              </a:rPr>
              <a:t>no quotes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Pass the values in a </a:t>
            </a:r>
            <a:r>
              <a:rPr sz="1900" b="1">
                <a:solidFill>
                  <a:srgbClr val="1C2330"/>
                </a:solidFill>
                <a:latin typeface="Segoe UI"/>
              </a:rPr>
              <a:t>separate list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"... WHERE id = %s", [pen.id]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Quotes in the value are just letters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649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safe_next_url</a:t>
            </a:r>
            <a:r>
              <a:rPr sz="1900" b="0">
                <a:solidFill>
                  <a:srgbClr val="1C2330"/>
                </a:solidFill>
                <a:latin typeface="Segoe UI"/>
              </a:rPr>
              <a:t>: not empty and safe?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url</a:t>
            </a:r>
            <a:r>
              <a:rPr sz="1900" b="0">
                <a:solidFill>
                  <a:srgbClr val="1C2330"/>
                </a:solidFill>
                <a:latin typeface="Segoe UI"/>
              </a:rPr>
              <a:t>; otherwise </a:t>
            </a:r>
            <a:r>
              <a:rPr sz="1900" b="0">
                <a:solidFill>
                  <a:srgbClr val="6A3FC0"/>
                </a:solidFill>
                <a:latin typeface="Consolas"/>
              </a:rPr>
              <a:t>"/"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1-2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3459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7838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api_key_matches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if not provided or not expected:</a:t>
            </a:r>
            <a:r>
              <a:rPr sz="1900" b="0">
                <a:solidFill>
                  <a:srgbClr val="1C2330"/>
                </a:solidFill>
                <a:latin typeface="Segoe UI"/>
              </a:rPr>
              <a:t> return </a:t>
            </a:r>
            <a:r>
              <a:rPr sz="1900" b="0">
                <a:solidFill>
                  <a:srgbClr val="6A3FC0"/>
                </a:solidFill>
                <a:latin typeface="Consolas"/>
              </a:rP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27838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4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0421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4800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Then </a:t>
            </a:r>
            <a:r>
              <a:rPr sz="1900" b="0">
                <a:solidFill>
                  <a:srgbClr val="6A3FC0"/>
                </a:solidFill>
                <a:latin typeface="Consolas"/>
              </a:rPr>
              <a:t>hmac.compare_digest(...)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on both keys, </a:t>
            </a:r>
            <a:r>
              <a:rPr sz="1900" b="0">
                <a:solidFill>
                  <a:srgbClr val="6A3FC0"/>
                </a:solidFill>
                <a:latin typeface="Consolas"/>
              </a:rPr>
              <a:t>.encode()</a:t>
            </a:r>
            <a:r>
              <a:rPr sz="1900" b="0">
                <a:solidFill>
                  <a:srgbClr val="1C2330"/>
                </a:solidFill>
                <a:latin typeface="Segoe U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304800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3, 5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97383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1762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mask_email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local, at, domain = (email or "").partition("@")</a:t>
            </a:r>
            <a:r>
              <a:rPr sz="1900" b="0">
                <a:solidFill>
                  <a:srgbClr val="1C2330"/>
                </a:solidFill>
                <a:latin typeface="Segoe UI"/>
              </a:rPr>
              <a:t>; any empty? </a:t>
            </a:r>
            <a:r>
              <a:rPr sz="1900" b="0">
                <a:solidFill>
                  <a:srgbClr val="6A3FC0"/>
                </a:solidFill>
                <a:latin typeface="Consolas"/>
              </a:rPr>
              <a:t>"***"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381762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7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4345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8724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Otherwise first letter of </a:t>
            </a:r>
            <a:r>
              <a:rPr sz="1900" b="0">
                <a:solidFill>
                  <a:srgbClr val="6A3FC0"/>
                </a:solidFill>
                <a:latin typeface="Consolas"/>
              </a:rPr>
              <a:t>local</a:t>
            </a:r>
            <a:r>
              <a:rPr sz="1900" b="0">
                <a:solidFill>
                  <a:srgbClr val="1C2330"/>
                </a:solidFill>
                <a:latin typeface="Segoe UI"/>
              </a:rPr>
              <a:t> + </a:t>
            </a:r>
            <a:r>
              <a:rPr sz="1900" b="0">
                <a:solidFill>
                  <a:srgbClr val="6A3FC0"/>
                </a:solidFill>
                <a:latin typeface="Consolas"/>
              </a:rPr>
              <a:t>***@</a:t>
            </a:r>
            <a:r>
              <a:rPr sz="1900" b="0">
                <a:solidFill>
                  <a:srgbClr val="1C2330"/>
                </a:solidFill>
                <a:latin typeface="Segoe UI"/>
              </a:rPr>
              <a:t> + domain, with an f-string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458724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1307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56860"/>
            <a:ext cx="8259775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find_tasks_by_title</a:t>
            </a:r>
            <a:r>
              <a:rPr sz="1900" b="0">
                <a:solidFill>
                  <a:srgbClr val="1C2330"/>
                </a:solidFill>
                <a:latin typeface="Segoe UI"/>
              </a:rPr>
              <a:t>: change only </a:t>
            </a:r>
            <a:r>
              <a:rPr sz="1900" b="0">
                <a:solidFill>
                  <a:srgbClr val="6A3FC0"/>
                </a:solidFill>
                <a:latin typeface="Consolas"/>
              </a:rPr>
              <a:t>cursor.execute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bare </a:t>
            </a:r>
            <a:r>
              <a:rPr sz="1900" b="0">
                <a:solidFill>
                  <a:srgbClr val="6A3FC0"/>
                </a:solidFill>
                <a:latin typeface="Consolas"/>
              </a:rPr>
              <a:t>%s</a:t>
            </a:r>
            <a:r>
              <a:rPr sz="1900" b="0">
                <a:solidFill>
                  <a:srgbClr val="1C2330"/>
                </a:solidFill>
                <a:latin typeface="Segoe UI"/>
              </a:rPr>
              <a:t>, </a:t>
            </a:r>
            <a:r>
              <a:rPr sz="1900" b="0">
                <a:solidFill>
                  <a:srgbClr val="6A3FC0"/>
                </a:solidFill>
                <a:latin typeface="Consolas"/>
              </a:rPr>
              <a:t>[title]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5356860"/>
            <a:ext cx="1828800" cy="769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8-10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url.startswith("/")</a:t>
            </a:r>
            <a:r>
              <a:rPr sz="2400" b="0">
                <a:solidFill>
                  <a:srgbClr val="1C2330"/>
                </a:solidFill>
                <a:latin typeface="Segoe UI"/>
              </a:rPr>
              <a:t> as the check: </a:t>
            </a:r>
            <a:r>
              <a:rPr sz="2400" b="0">
                <a:solidFill>
                  <a:srgbClr val="6A3FC0"/>
                </a:solidFill>
                <a:latin typeface="Consolas"/>
              </a:rPr>
              <a:t>//evil.example</a:t>
            </a:r>
            <a:r>
              <a:rPr sz="2400" b="0">
                <a:solidFill>
                  <a:srgbClr val="1C2330"/>
                </a:solidFill>
                <a:latin typeface="Segoe UI"/>
              </a:rPr>
              <a:t> sneaks through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Returning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True</a:t>
            </a:r>
            <a:r>
              <a:rPr sz="2400" b="0">
                <a:solidFill>
                  <a:srgbClr val="1C2330"/>
                </a:solidFill>
                <a:latin typeface="Segoe UI"/>
              </a:rPr>
              <a:t>/</a:t>
            </a:r>
            <a:r>
              <a:rPr sz="2400" b="0">
                <a:solidFill>
                  <a:srgbClr val="6A3FC0"/>
                </a:solidFill>
                <a:latin typeface="Consolas"/>
              </a:rPr>
              <a:t>False</a:t>
            </a:r>
            <a:r>
              <a:rPr sz="2400" b="0">
                <a:solidFill>
                  <a:srgbClr val="1C2330"/>
                </a:solidFill>
                <a:latin typeface="Segoe UI"/>
              </a:rPr>
              <a:t> from </a:t>
            </a:r>
            <a:r>
              <a:rPr sz="2400" b="0">
                <a:solidFill>
                  <a:srgbClr val="6A3FC0"/>
                </a:solidFill>
                <a:latin typeface="Consolas"/>
              </a:rPr>
              <a:t>safe_next_url</a:t>
            </a:r>
            <a:r>
              <a:rPr sz="2400" b="0">
                <a:solidFill>
                  <a:srgbClr val="1C2330"/>
                </a:solidFill>
                <a:latin typeface="Segoe UI"/>
              </a:rPr>
              <a:t>: it must return an </a:t>
            </a:r>
            <a:r>
              <a:rPr sz="2400" b="1">
                <a:solidFill>
                  <a:srgbClr val="1C2330"/>
                </a:solidFill>
                <a:latin typeface="Segoe UI"/>
              </a:rPr>
              <a:t>address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provided == expected</a:t>
            </a:r>
            <a:r>
              <a:rPr sz="2400" b="0">
                <a:solidFill>
                  <a:srgbClr val="1C2330"/>
                </a:solidFill>
                <a:latin typeface="Segoe UI"/>
              </a:rPr>
              <a:t>: not constant time, and </a:t>
            </a:r>
            <a:r>
              <a:rPr sz="2400" b="0">
                <a:solidFill>
                  <a:srgbClr val="6A3FC0"/>
                </a:solidFill>
                <a:latin typeface="Consolas"/>
              </a:rPr>
              <a:t>"" == ""</a:t>
            </a:r>
            <a:r>
              <a:rPr sz="2400" b="0">
                <a:solidFill>
                  <a:srgbClr val="1C2330"/>
                </a:solidFill>
                <a:latin typeface="Segoe UI"/>
              </a:rPr>
              <a:t> is </a:t>
            </a:r>
            <a:r>
              <a:rPr sz="2400" b="0">
                <a:solidFill>
                  <a:srgbClr val="6A3FC0"/>
                </a:solidFill>
                <a:latin typeface="Consolas"/>
              </a:rPr>
              <a:t>True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email.split("@")</a:t>
            </a:r>
            <a:r>
              <a:rPr sz="2400" b="0">
                <a:solidFill>
                  <a:srgbClr val="1C2330"/>
                </a:solidFill>
                <a:latin typeface="Segoe UI"/>
              </a:rPr>
              <a:t> crashes on </a:t>
            </a:r>
            <a:r>
              <a:rPr sz="2400" b="0">
                <a:solidFill>
                  <a:srgbClr val="6A3FC0"/>
                </a:solidFill>
                <a:latin typeface="Consolas"/>
              </a:rPr>
              <a:t>None</a:t>
            </a:r>
            <a:r>
              <a:rPr sz="2400" b="0">
                <a:solidFill>
                  <a:srgbClr val="1C2330"/>
                </a:solidFill>
                <a:latin typeface="Segoe UI"/>
              </a:rPr>
              <a:t>; </a:t>
            </a:r>
            <a:r>
              <a:rPr sz="2400" b="0">
                <a:solidFill>
                  <a:srgbClr val="6A3FC0"/>
                </a:solidFill>
                <a:latin typeface="Consolas"/>
              </a:rPr>
              <a:t>partition</a:t>
            </a:r>
            <a:r>
              <a:rPr sz="2400" b="0">
                <a:solidFill>
                  <a:srgbClr val="1C2330"/>
                </a:solidFill>
                <a:latin typeface="Segoe UI"/>
              </a:rPr>
              <a:t> always gives 3 pieces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'%s'</a:t>
            </a:r>
            <a:r>
              <a:rPr sz="2400" b="0">
                <a:solidFill>
                  <a:srgbClr val="1C2330"/>
                </a:solidFill>
                <a:latin typeface="Segoe UI"/>
              </a:rPr>
              <a:t> with quotes, or an f-string: the value must go in </a:t>
            </a:r>
            <a:r>
              <a:rPr sz="2400" b="0">
                <a:solidFill>
                  <a:srgbClr val="6A3FC0"/>
                </a:solidFill>
                <a:latin typeface="Consolas"/>
              </a:rPr>
              <a:t>[title]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Django already protects you in many places: its login view checks </a:t>
            </a:r>
            <a:r>
              <a:rPr sz="2100" b="0">
                <a:solidFill>
                  <a:srgbClr val="6A3FC0"/>
                </a:solidFill>
                <a:latin typeface="Consolas"/>
              </a:rPr>
              <a:t>?next=</a:t>
            </a:r>
            <a:r>
              <a:rPr sz="2100" b="0">
                <a:solidFill>
                  <a:srgbClr val="1C2330"/>
                </a:solidFill>
                <a:latin typeface="Segoe UI"/>
              </a:rPr>
              <a:t> with the same function you used, and the ORM always uses parameterised queries. The danger is where you step </a:t>
            </a:r>
            <a:r>
              <a:rPr sz="2100" b="1">
                <a:solidFill>
                  <a:srgbClr val="1C2330"/>
                </a:solidFill>
                <a:latin typeface="Segoe UI"/>
              </a:rPr>
              <a:t>outside</a:t>
            </a:r>
            <a:r>
              <a:rPr sz="2100" b="0">
                <a:solidFill>
                  <a:srgbClr val="1C2330"/>
                </a:solidFill>
                <a:latin typeface="Segoe UI"/>
              </a:rPr>
              <a:t> that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Raw SQL for a report: always pass values in the list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Checking a webhook's or partner's API key: </a:t>
            </a:r>
            <a:r>
              <a:rPr sz="2000" b="0">
                <a:solidFill>
                  <a:srgbClr val="6A3FC0"/>
                </a:solidFill>
                <a:latin typeface="Consolas"/>
              </a:rPr>
              <a:t>compare_digest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Writing log lines about users: mask emails, never log passwords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Why is a link that starts with your real site still dangerous?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What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==</a:t>
            </a:r>
            <a:r>
              <a:rPr sz="2300" b="0">
                <a:solidFill>
                  <a:srgbClr val="1C2330"/>
                </a:solidFill>
                <a:latin typeface="Segoe UI"/>
              </a:rPr>
              <a:t> leak about a secret that </a:t>
            </a:r>
            <a:r>
              <a:rPr sz="2300" b="0">
                <a:solidFill>
                  <a:srgbClr val="6A3FC0"/>
                </a:solidFill>
                <a:latin typeface="Consolas"/>
              </a:rPr>
              <a:t>compare_digest</a:t>
            </a:r>
            <a:r>
              <a:rPr sz="2300" b="0">
                <a:solidFill>
                  <a:srgbClr val="1C2330"/>
                </a:solidFill>
                <a:latin typeface="Segoe UI"/>
              </a:rPr>
              <a:t> doesn't?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Why should </a:t>
            </a:r>
            <a:r>
              <a:rPr sz="2300" b="0">
                <a:solidFill>
                  <a:srgbClr val="6A3FC0"/>
                </a:solidFill>
                <a:latin typeface="Consolas"/>
              </a:rPr>
              <a:t>mask_email("not-an-email")</a:t>
            </a:r>
            <a:r>
              <a:rPr sz="2300" b="0">
                <a:solidFill>
                  <a:srgbClr val="1C2330"/>
                </a:solidFill>
                <a:latin typeface="Segoe UI"/>
              </a:rPr>
              <a:t> return </a:t>
            </a:r>
            <a:r>
              <a:rPr sz="2300" b="0">
                <a:solidFill>
                  <a:srgbClr val="6A3FC0"/>
                </a:solidFill>
                <a:latin typeface="Consolas"/>
              </a:rPr>
              <a:t>"***"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In </a:t>
            </a:r>
            <a:r>
              <a:rPr sz="2300" b="0">
                <a:solidFill>
                  <a:srgbClr val="6A3FC0"/>
                </a:solidFill>
                <a:latin typeface="Consolas"/>
              </a:rPr>
              <a:t>x' OR '1'='1</a:t>
            </a:r>
            <a:r>
              <a:rPr sz="2300" b="0">
                <a:solidFill>
                  <a:srgbClr val="1C2330"/>
                </a:solidFill>
                <a:latin typeface="Segoe UI"/>
              </a:rPr>
              <a:t>, which character lets the text escape into the SQL?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15  ·  Security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SQL Injection Tutorial – What is SQL Injection and How to Prevent it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freeCodeCamp · article · beginner. Start here: shows how string-built SQL gets hijacked and why parameterized queries stop it.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Security in Django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beginner. A tour of what Django protects you from automatically and where you still have to be careful.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Unvalidated Redirects and Forwards Cheat Sheet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OWASP · article · intermediate. Explains the open-redirect attack your safe_next_url function blocks with url_has_allowed_host_and_scheme.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hmac.compare_digest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Python docs · docs · intermediate. Reference for the constant-time comparison you use for API keys, so timing does not leak the secret.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Performing raw SQL queries: passing parameters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Shows the safe way to pass values to cursor.execute with placeholders instead of string formatting.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