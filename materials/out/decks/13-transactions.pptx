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deck goes with exercise 13. By the end you should be able to explain what a transaction is and use transaction.atomic() so a failed transfer changes nothing.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default Django saves each write the moment you call .save(), so this really can happen. A transaction tells the database: keep all of these writes, or none of them.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10_000 is just 10000: Python allows underscores in long numbers. Test 7 is the important one: the money has already moved when the last step fails, so only a transaction can undo 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new kind of error with its own name lets the caller tell "not enough money" apart from other problems.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 stops at the first True part, so amount &lt;= 0 never runs on a string. Don't use int(amount): that would turn 12.5 into 12 and "100" into 100 instead of rejecting them.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transaction is already imported in your file. Everything indented under the with line is one transaction. The try / except is only here so the Console can show the balance. In transfer you don't catch the error: the tests want to see 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They sound similar because both deal with errors, but they do different jobs. atomic cleans up the database; except swallows the error. The tests expect InsufficientFunds, DoesNotExist and RuntimeError to come out of your function.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Put it before .get(...), and only inside atomic(). On PostgreSQL using it outside raises an error. SQLite, used here, skips the lock, so no test checks it, but it's the right habit. pk means primary key, the id column.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Steps 1 and 2 happen before any database work, so there's nothing to undo yet. Everything from step 3 on is indented under the with line.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Other examples: signing up a user and creating their profile, or booking a seat and taking payment.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freecodecamp.org/news/acid-databases-explained/" TargetMode="External"/><Relationship Id="rId3" Type="http://schemas.openxmlformats.org/officeDocument/2006/relationships/hyperlink" Target="https://www.postgresql.org/docs/current/tutorial-transactions.html" TargetMode="External"/><Relationship Id="rId4" Type="http://schemas.openxmlformats.org/officeDocument/2006/relationships/hyperlink" Target="https://docs.python.org/3/tutorial/errors.html#user-defined-exceptions" TargetMode="External"/><Relationship Id="rId5" Type="http://schemas.openxmlformats.org/officeDocument/2006/relationships/hyperlink" Target="https://docs.djangoproject.com/en/5.2/topics/db/transactions/#controlling-transactions-explicitly" TargetMode="External"/><Relationship Id="rId6" Type="http://schemas.openxmlformats.org/officeDocument/2006/relationships/hyperlink" Target="https://docs.djangoproject.com/en/5.2/ref/models/querysets/#select-for-update"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1151C"/>
        </a:solidFill>
        <a:effectLst/>
      </p:bgPr>
    </p:bg>
    <p:spTree>
      <p:nvGrpSpPr>
        <p:cNvPr id="1" name=""/>
        <p:cNvGrpSpPr/>
        <p:nvPr/>
      </p:nvGrpSpPr>
      <p:grpSpPr/>
      <p:sp>
        <p:nvSpPr>
          <p:cNvPr id="2" name="TextBox 1"/>
          <p:cNvSpPr txBox="1"/>
          <p:nvPr/>
        </p:nvSpPr>
        <p:spPr>
          <a:xfrm>
            <a:off x="640080" y="1554480"/>
            <a:ext cx="8229600" cy="365760"/>
          </a:xfrm>
          <a:prstGeom prst="rect">
            <a:avLst/>
          </a:prstGeom>
          <a:noFill/>
        </p:spPr>
        <p:txBody>
          <a:bodyPr wrap="square" anchor="t" lIns="0" rIns="0" tIns="0" bIns="0">
            <a:spAutoFit/>
          </a:bodyPr>
          <a:lstStyle/>
          <a:p>
            <a:pPr>
              <a:spcAft>
                <a:spcPts val="600"/>
              </a:spcAft>
            </a:pPr>
            <a:r>
              <a:rPr sz="1400" b="1">
                <a:solidFill>
                  <a:srgbClr val="B38CFF"/>
                </a:solidFill>
                <a:latin typeface="Segoe UI"/>
              </a:rPr>
              <a:t>WEEK 3  ·  EXERCISE 13  ·  TRANSACTIONS</a:t>
            </a:r>
          </a:p>
        </p:txBody>
      </p:sp>
      <p:sp>
        <p:nvSpPr>
          <p:cNvPr id="3" name="TextBox 2"/>
          <p:cNvSpPr txBox="1"/>
          <p:nvPr/>
        </p:nvSpPr>
        <p:spPr>
          <a:xfrm>
            <a:off x="640080" y="2103120"/>
            <a:ext cx="10911535" cy="2011680"/>
          </a:xfrm>
          <a:prstGeom prst="rect">
            <a:avLst/>
          </a:prstGeom>
          <a:noFill/>
        </p:spPr>
        <p:txBody>
          <a:bodyPr wrap="square" anchor="t" lIns="0" rIns="0" tIns="0" bIns="0">
            <a:spAutoFit/>
          </a:bodyPr>
          <a:lstStyle/>
          <a:p>
            <a:pPr>
              <a:spcAft>
                <a:spcPts val="600"/>
              </a:spcAft>
            </a:pPr>
            <a:r>
              <a:rPr sz="5400" b="1">
                <a:solidFill>
                  <a:srgbClr val="FFFFFF"/>
                </a:solidFill>
                <a:latin typeface="Segoe UI"/>
              </a:rPr>
              <a:t>All or nothing: transactions</a:t>
            </a:r>
          </a:p>
        </p:txBody>
      </p:sp>
      <p:sp>
        <p:nvSpPr>
          <p:cNvPr id="4" name="Rectangle 3"/>
          <p:cNvSpPr/>
          <p:nvPr/>
        </p:nvSpPr>
        <p:spPr>
          <a:xfrm>
            <a:off x="640080" y="4160520"/>
            <a:ext cx="1280160" cy="73152"/>
          </a:xfrm>
          <a:prstGeom prst="rect">
            <a:avLst/>
          </a:prstGeom>
          <a:solidFill>
            <a:srgbClr val="8A4F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4480560"/>
            <a:ext cx="10911535" cy="1097280"/>
          </a:xfrm>
          <a:prstGeom prst="rect">
            <a:avLst/>
          </a:prstGeom>
          <a:noFill/>
        </p:spPr>
        <p:txBody>
          <a:bodyPr wrap="square" anchor="t" lIns="0" rIns="0" tIns="0" bIns="0">
            <a:spAutoFit/>
          </a:bodyPr>
          <a:lstStyle/>
          <a:p>
            <a:pPr>
              <a:spcAft>
                <a:spcPts val="600"/>
              </a:spcAft>
            </a:pPr>
            <a:r>
              <a:rPr sz="2200" b="0">
                <a:solidFill>
                  <a:srgbClr val="C9D1DE"/>
                </a:solidFill>
                <a:latin typeface="Segoe UI"/>
              </a:rPr>
              <a:t>Make a money transfer happen completely, or not at all.</a:t>
            </a:r>
          </a:p>
        </p:txBody>
      </p:sp>
      <p:sp>
        <p:nvSpPr>
          <p:cNvPr id="6" name="TextBox 5"/>
          <p:cNvSpPr txBox="1"/>
          <p:nvPr/>
        </p:nvSpPr>
        <p:spPr>
          <a:xfrm>
            <a:off x="640080" y="6035040"/>
            <a:ext cx="5486400" cy="365760"/>
          </a:xfrm>
          <a:prstGeom prst="rect">
            <a:avLst/>
          </a:prstGeom>
          <a:noFill/>
        </p:spPr>
        <p:txBody>
          <a:bodyPr wrap="square" anchor="t" lIns="0" rIns="0" tIns="0" bIns="0">
            <a:spAutoFit/>
          </a:bodyPr>
          <a:lstStyle/>
          <a:p>
            <a:pPr>
              <a:spcAft>
                <a:spcPts val="600"/>
              </a:spcAft>
            </a:pPr>
            <a:r>
              <a:rPr sz="1400" b="1">
                <a:solidFill>
                  <a:srgbClr val="9AA4B5"/>
                </a:solidFill>
                <a:latin typeface="Segoe UI"/>
              </a:rPr>
              <a:t>Backend Lab</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8A4F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0"/>
            <a:ext cx="10911535" cy="274320"/>
          </a:xfrm>
          <a:prstGeom prst="rect">
            <a:avLst/>
          </a:prstGeom>
          <a:noFill/>
        </p:spPr>
        <p:txBody>
          <a:bodyPr wrap="square" anchor="t" lIns="0" rIns="0" tIns="0" bIns="0">
            <a:spAutoFit/>
          </a:bodyPr>
          <a:lstStyle/>
          <a:p>
            <a:pPr>
              <a:spcAft>
                <a:spcPts val="600"/>
              </a:spcAft>
            </a:pPr>
            <a:r>
              <a:rPr sz="1100" b="0">
                <a:solidFill>
                  <a:srgbClr val="5D6778"/>
                </a:solidFill>
                <a:latin typeface="Segoe UI"/>
              </a:rPr>
              <a:t>Backend Lab  ·  Exercise 13  ·  All or nothing: transactions</a:t>
            </a:r>
          </a:p>
        </p:txBody>
      </p:sp>
      <p:sp>
        <p:nvSpPr>
          <p:cNvPr id="4" name="TextBox 3"/>
          <p:cNvSpPr txBox="1"/>
          <p:nvPr/>
        </p:nvSpPr>
        <p:spPr>
          <a:xfrm>
            <a:off x="10637215" y="6400800"/>
            <a:ext cx="914400" cy="274320"/>
          </a:xfrm>
          <a:prstGeom prst="rect">
            <a:avLst/>
          </a:prstGeom>
          <a:noFill/>
        </p:spPr>
        <p:txBody>
          <a:bodyPr wrap="square" anchor="t" lIns="0" rIns="0" tIns="0" bIns="0">
            <a:spAutoFit/>
          </a:bodyPr>
          <a:lstStyle/>
          <a:p>
            <a:pPr algn="r">
              <a:spcAft>
                <a:spcPts val="600"/>
              </a:spcAft>
            </a:pPr>
            <a:r>
              <a:rPr sz="1100" b="0">
                <a:solidFill>
                  <a:srgbClr val="5D6778"/>
                </a:solidFill>
                <a:latin typeface="Segoe UI"/>
              </a:rPr>
              <a:t>2</a:t>
            </a:r>
          </a:p>
        </p:txBody>
      </p:sp>
      <p:sp>
        <p:nvSpPr>
          <p:cNvPr id="5" name="TextBox 4"/>
          <p:cNvSpPr txBox="1"/>
          <p:nvPr/>
        </p:nvSpPr>
        <p:spPr>
          <a:xfrm>
            <a:off x="640080" y="411480"/>
            <a:ext cx="10911535" cy="822960"/>
          </a:xfrm>
          <a:prstGeom prst="rect">
            <a:avLst/>
          </a:prstGeom>
          <a:noFill/>
        </p:spPr>
        <p:txBody>
          <a:bodyPr wrap="square" anchor="ctr" lIns="0" rIns="0" tIns="0" bIns="0">
            <a:spAutoFit/>
          </a:bodyPr>
          <a:lstStyle/>
          <a:p>
            <a:pPr>
              <a:spcAft>
                <a:spcPts val="600"/>
              </a:spcAft>
            </a:pPr>
            <a:r>
              <a:rPr sz="3200" b="1">
                <a:solidFill>
                  <a:srgbClr val="1C2330"/>
                </a:solidFill>
                <a:latin typeface="Segoe UI"/>
              </a:rPr>
              <a:t>The big idea</a:t>
            </a:r>
          </a:p>
        </p:txBody>
      </p:sp>
      <p:sp>
        <p:nvSpPr>
          <p:cNvPr id="6" name="Rounded Rectangle 5"/>
          <p:cNvSpPr/>
          <p:nvPr/>
        </p:nvSpPr>
        <p:spPr>
          <a:xfrm>
            <a:off x="640080" y="1554480"/>
            <a:ext cx="10911535" cy="4206240"/>
          </a:xfrm>
          <a:prstGeom prst="roundRect">
            <a:avLst>
              <a:gd name="adj" fmla="val 6000"/>
            </a:avLst>
          </a:prstGeom>
          <a:solidFill>
            <a:srgbClr val="F3EE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9997135" cy="3840480"/>
          </a:xfrm>
          <a:prstGeom prst="rect">
            <a:avLst/>
          </a:prstGeom>
          <a:noFill/>
        </p:spPr>
        <p:txBody>
          <a:bodyPr wrap="square" anchor="ctr" lIns="0" rIns="0" tIns="0" bIns="0">
            <a:spAutoFit/>
          </a:bodyPr>
          <a:lstStyle/>
          <a:p>
            <a:pPr>
              <a:spcAft>
                <a:spcPts val="1400"/>
              </a:spcAft>
            </a:pPr>
            <a:r>
              <a:rPr sz="2400" b="0">
                <a:solidFill>
                  <a:srgbClr val="1C2330"/>
                </a:solidFill>
                <a:latin typeface="Segoe UI"/>
              </a:rPr>
              <a:t>Ada sends Bob 25.00. That's </a:t>
            </a:r>
            <a:r>
              <a:rPr sz="2400" b="1">
                <a:solidFill>
                  <a:srgbClr val="1C2330"/>
                </a:solidFill>
                <a:latin typeface="Segoe UI"/>
              </a:rPr>
              <a:t>three writes</a:t>
            </a:r>
            <a:r>
              <a:rPr sz="2400" b="0">
                <a:solidFill>
                  <a:srgbClr val="1C2330"/>
                </a:solidFill>
                <a:latin typeface="Segoe UI"/>
              </a:rPr>
              <a:t>: take it off Ada, add it to Bob, save a log. If the server crashes after the first, Ada's money is simply gone.</a:t>
            </a:r>
          </a:p>
          <a:p>
            <a:pPr>
              <a:spcAft>
                <a:spcPts val="1400"/>
              </a:spcAft>
            </a:pPr>
            <a:r>
              <a:rPr sz="2400" b="0">
                <a:solidFill>
                  <a:srgbClr val="1C2330"/>
                </a:solidFill>
                <a:latin typeface="Segoe UI"/>
              </a:rPr>
              <a:t>A </a:t>
            </a:r>
            <a:r>
              <a:rPr sz="2400" b="1">
                <a:solidFill>
                  <a:srgbClr val="1C2330"/>
                </a:solidFill>
                <a:latin typeface="Segoe UI"/>
              </a:rPr>
              <a:t>transaction</a:t>
            </a:r>
            <a:r>
              <a:rPr sz="2400" b="0">
                <a:solidFill>
                  <a:srgbClr val="1C2330"/>
                </a:solidFill>
                <a:latin typeface="Segoe UI"/>
              </a:rPr>
              <a:t> is a clerk who fills in the whole form in </a:t>
            </a:r>
            <a:r>
              <a:rPr sz="2400" b="1">
                <a:solidFill>
                  <a:srgbClr val="1C2330"/>
                </a:solidFill>
                <a:latin typeface="Segoe UI"/>
              </a:rPr>
              <a:t>pencil</a:t>
            </a:r>
            <a:r>
              <a:rPr sz="2400" b="0">
                <a:solidFill>
                  <a:srgbClr val="1C2330"/>
                </a:solidFill>
                <a:latin typeface="Segoe UI"/>
              </a:rPr>
              <a:t>, and only inks it once every line is right. One wrong line, and the whole form goes in the bin.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8A4F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0"/>
            <a:ext cx="10911535" cy="274320"/>
          </a:xfrm>
          <a:prstGeom prst="rect">
            <a:avLst/>
          </a:prstGeom>
          <a:noFill/>
        </p:spPr>
        <p:txBody>
          <a:bodyPr wrap="square" anchor="t" lIns="0" rIns="0" tIns="0" bIns="0">
            <a:spAutoFit/>
          </a:bodyPr>
          <a:lstStyle/>
          <a:p>
            <a:pPr>
              <a:spcAft>
                <a:spcPts val="600"/>
              </a:spcAft>
            </a:pPr>
            <a:r>
              <a:rPr sz="1100" b="0">
                <a:solidFill>
                  <a:srgbClr val="5D6778"/>
                </a:solidFill>
                <a:latin typeface="Segoe UI"/>
              </a:rPr>
              <a:t>Backend Lab  ·  Exercise 13  ·  All or nothing: transactions</a:t>
            </a:r>
          </a:p>
        </p:txBody>
      </p:sp>
      <p:sp>
        <p:nvSpPr>
          <p:cNvPr id="4" name="TextBox 3"/>
          <p:cNvSpPr txBox="1"/>
          <p:nvPr/>
        </p:nvSpPr>
        <p:spPr>
          <a:xfrm>
            <a:off x="10637215" y="6400800"/>
            <a:ext cx="914400" cy="274320"/>
          </a:xfrm>
          <a:prstGeom prst="rect">
            <a:avLst/>
          </a:prstGeom>
          <a:noFill/>
        </p:spPr>
        <p:txBody>
          <a:bodyPr wrap="square" anchor="t" lIns="0" rIns="0" tIns="0" bIns="0">
            <a:spAutoFit/>
          </a:bodyPr>
          <a:lstStyle/>
          <a:p>
            <a:pPr algn="r">
              <a:spcAft>
                <a:spcPts val="600"/>
              </a:spcAft>
            </a:pPr>
            <a:r>
              <a:rPr sz="1100" b="0">
                <a:solidFill>
                  <a:srgbClr val="5D6778"/>
                </a:solidFill>
                <a:latin typeface="Segoe UI"/>
              </a:rPr>
              <a:t>3</a:t>
            </a:r>
          </a:p>
        </p:txBody>
      </p:sp>
      <p:sp>
        <p:nvSpPr>
          <p:cNvPr id="5" name="TextBox 4"/>
          <p:cNvSpPr txBox="1"/>
          <p:nvPr/>
        </p:nvSpPr>
        <p:spPr>
          <a:xfrm>
            <a:off x="640080" y="411480"/>
            <a:ext cx="10911535" cy="822960"/>
          </a:xfrm>
          <a:prstGeom prst="rect">
            <a:avLst/>
          </a:prstGeom>
          <a:noFill/>
        </p:spPr>
        <p:txBody>
          <a:bodyPr wrap="square" anchor="ctr" lIns="0" rIns="0" tIns="0" bIns="0">
            <a:spAutoFit/>
          </a:bodyPr>
          <a:lstStyle/>
          <a:p>
            <a:pPr>
              <a:spcAft>
                <a:spcPts val="600"/>
              </a:spcAft>
            </a:pPr>
            <a:r>
              <a:rPr sz="3200" b="1">
                <a:solidFill>
                  <a:srgbClr val="1C2330"/>
                </a:solidFill>
                <a:latin typeface="Segoe UI"/>
              </a:rPr>
              <a:t>What your code receives</a:t>
            </a:r>
          </a:p>
        </p:txBody>
      </p:sp>
      <p:sp>
        <p:nvSpPr>
          <p:cNvPr id="6" name="TextBox 5"/>
          <p:cNvSpPr txBox="1"/>
          <p:nvPr/>
        </p:nvSpPr>
        <p:spPr>
          <a:xfrm>
            <a:off x="640080" y="1463040"/>
            <a:ext cx="10911535" cy="822960"/>
          </a:xfrm>
          <a:prstGeom prst="rect">
            <a:avLst/>
          </a:prstGeom>
          <a:noFill/>
        </p:spPr>
        <p:txBody>
          <a:bodyPr wrap="square" anchor="t" lIns="0" rIns="0" tIns="0" bIns="0">
            <a:spAutoFit/>
          </a:bodyPr>
          <a:lstStyle/>
          <a:p>
            <a:pPr>
              <a:spcAft>
                <a:spcPts val="600"/>
              </a:spcAft>
            </a:pPr>
            <a:r>
              <a:rPr sz="2000" b="0">
                <a:solidFill>
                  <a:srgbClr val="1C2330"/>
                </a:solidFill>
                <a:latin typeface="Segoe UI"/>
              </a:rPr>
              <a:t>The tests create two accounts, then pass their </a:t>
            </a:r>
            <a:r>
              <a:rPr sz="2000" b="1">
                <a:solidFill>
                  <a:srgbClr val="1C2330"/>
                </a:solidFill>
                <a:latin typeface="Segoe UI"/>
              </a:rPr>
              <a:t>ids</a:t>
            </a:r>
            <a:r>
              <a:rPr sz="2000" b="0">
                <a:solidFill>
                  <a:srgbClr val="1C2330"/>
                </a:solidFill>
                <a:latin typeface="Segoe UI"/>
              </a:rPr>
              <a:t> and an amount in cents.</a:t>
            </a:r>
          </a:p>
        </p:txBody>
      </p:sp>
      <p:sp>
        <p:nvSpPr>
          <p:cNvPr id="7" name="Rounded Rectangle 6"/>
          <p:cNvSpPr/>
          <p:nvPr/>
        </p:nvSpPr>
        <p:spPr>
          <a:xfrm>
            <a:off x="640080" y="2331720"/>
            <a:ext cx="10911535" cy="3840480"/>
          </a:xfrm>
          <a:prstGeom prst="roundRect">
            <a:avLst>
              <a:gd name="adj" fmla="val 6000"/>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532888"/>
            <a:ext cx="10362895" cy="3474720"/>
          </a:xfrm>
          <a:prstGeom prst="rect">
            <a:avLst/>
          </a:prstGeom>
          <a:noFill/>
        </p:spPr>
        <p:txBody>
          <a:bodyPr wrap="square" anchor="t" lIns="0" rIns="0" tIns="0" bIns="0">
            <a:spAutoFit/>
          </a:bodyPr>
          <a:lstStyle/>
          <a:p>
            <a:pPr>
              <a:lnSpc>
                <a:spcPct val="110000"/>
              </a:lnSpc>
            </a:pPr>
            <a:r>
              <a:rPr sz="1600">
                <a:solidFill>
                  <a:srgbClr val="9CDCFE"/>
                </a:solidFill>
                <a:latin typeface="Consolas"/>
              </a:rPr>
              <a:t>ada</a:t>
            </a:r>
            <a:r>
              <a:rPr sz="1600">
                <a:solidFill>
                  <a:srgbClr val="D4D4D4"/>
                </a:solidFill>
                <a:latin typeface="Consolas"/>
              </a:rPr>
              <a:t> </a:t>
            </a:r>
            <a:r>
              <a:rPr sz="1600">
                <a:solidFill>
                  <a:srgbClr val="D4D4D4"/>
                </a:solidFill>
                <a:latin typeface="Consolas"/>
              </a:rPr>
              <a:t>=</a:t>
            </a:r>
            <a:r>
              <a:rPr sz="1600">
                <a:solidFill>
                  <a:srgbClr val="D4D4D4"/>
                </a:solidFill>
                <a:latin typeface="Consolas"/>
              </a:rPr>
              <a:t> </a:t>
            </a:r>
            <a:r>
              <a:rPr sz="1600">
                <a:solidFill>
                  <a:srgbClr val="9CDCFE"/>
                </a:solidFill>
                <a:latin typeface="Consolas"/>
              </a:rPr>
              <a:t>Account</a:t>
            </a:r>
            <a:r>
              <a:rPr sz="1600">
                <a:solidFill>
                  <a:srgbClr val="D4D4D4"/>
                </a:solidFill>
                <a:latin typeface="Consolas"/>
              </a:rPr>
              <a:t>.</a:t>
            </a:r>
            <a:r>
              <a:rPr sz="1600">
                <a:solidFill>
                  <a:srgbClr val="9CDCFE"/>
                </a:solidFill>
                <a:latin typeface="Consolas"/>
              </a:rPr>
              <a:t>objects</a:t>
            </a:r>
            <a:r>
              <a:rPr sz="1600">
                <a:solidFill>
                  <a:srgbClr val="D4D4D4"/>
                </a:solidFill>
                <a:latin typeface="Consolas"/>
              </a:rPr>
              <a:t>.</a:t>
            </a:r>
            <a:r>
              <a:rPr sz="1600">
                <a:solidFill>
                  <a:srgbClr val="9CDCFE"/>
                </a:solidFill>
                <a:latin typeface="Consolas"/>
              </a:rPr>
              <a:t>create</a:t>
            </a:r>
            <a:r>
              <a:rPr sz="1600">
                <a:solidFill>
                  <a:srgbClr val="D4D4D4"/>
                </a:solidFill>
                <a:latin typeface="Consolas"/>
              </a:rPr>
              <a:t>(</a:t>
            </a:r>
            <a:r>
              <a:rPr sz="1600">
                <a:solidFill>
                  <a:srgbClr val="9CDCFE"/>
                </a:solidFill>
                <a:latin typeface="Consolas"/>
              </a:rPr>
              <a:t>owner</a:t>
            </a:r>
            <a:r>
              <a:rPr sz="1600">
                <a:solidFill>
                  <a:srgbClr val="D4D4D4"/>
                </a:solidFill>
                <a:latin typeface="Consolas"/>
              </a:rPr>
              <a:t>=</a:t>
            </a:r>
            <a:r>
              <a:rPr sz="1600">
                <a:solidFill>
                  <a:srgbClr val="CE9178"/>
                </a:solidFill>
                <a:latin typeface="Consolas"/>
              </a:rPr>
              <a:t>"</a:t>
            </a:r>
            <a:r>
              <a:rPr sz="1600">
                <a:solidFill>
                  <a:srgbClr val="CE9178"/>
                </a:solidFill>
                <a:latin typeface="Consolas"/>
              </a:rPr>
              <a:t>Ada</a:t>
            </a:r>
            <a:r>
              <a:rPr sz="1600">
                <a:solidFill>
                  <a:srgbClr val="CE9178"/>
                </a:solidFill>
                <a:latin typeface="Consolas"/>
              </a:rPr>
              <a:t>"</a:t>
            </a:r>
            <a:r>
              <a:rPr sz="1600">
                <a:solidFill>
                  <a:srgbClr val="D4D4D4"/>
                </a:solidFill>
                <a:latin typeface="Consolas"/>
              </a:rPr>
              <a:t>,</a:t>
            </a:r>
            <a:r>
              <a:rPr sz="1600">
                <a:solidFill>
                  <a:srgbClr val="D4D4D4"/>
                </a:solidFill>
                <a:latin typeface="Consolas"/>
              </a:rPr>
              <a:t> </a:t>
            </a:r>
            <a:r>
              <a:rPr sz="1600">
                <a:solidFill>
                  <a:srgbClr val="9CDCFE"/>
                </a:solidFill>
                <a:latin typeface="Consolas"/>
              </a:rPr>
              <a:t>balance</a:t>
            </a:r>
            <a:r>
              <a:rPr sz="1600">
                <a:solidFill>
                  <a:srgbClr val="D4D4D4"/>
                </a:solidFill>
                <a:latin typeface="Consolas"/>
              </a:rPr>
              <a:t>=</a:t>
            </a:r>
            <a:r>
              <a:rPr sz="1600">
                <a:solidFill>
                  <a:srgbClr val="B5CEA8"/>
                </a:solidFill>
                <a:latin typeface="Consolas"/>
              </a:rPr>
              <a:t>10_000</a:t>
            </a:r>
            <a:r>
              <a:rPr sz="1600">
                <a:solidFill>
                  <a:srgbClr val="D4D4D4"/>
                </a:solidFill>
                <a:latin typeface="Consolas"/>
              </a:rPr>
              <a:t>)</a:t>
            </a:r>
            <a:r>
              <a:rPr sz="1600">
                <a:solidFill>
                  <a:srgbClr val="D4D4D4"/>
                </a:solidFill>
                <a:latin typeface="Consolas"/>
              </a:rPr>
              <a:t>   </a:t>
            </a:r>
            <a:r>
              <a:rPr sz="1600">
                <a:solidFill>
                  <a:srgbClr val="6A9955"/>
                </a:solidFill>
                <a:latin typeface="Consolas"/>
              </a:rPr>
              <a:t># 100.00</a:t>
            </a:r>
          </a:p>
          <a:p>
            <a:pPr>
              <a:lnSpc>
                <a:spcPct val="110000"/>
              </a:lnSpc>
            </a:pPr>
            <a:r>
              <a:rPr sz="1600">
                <a:solidFill>
                  <a:srgbClr val="9CDCFE"/>
                </a:solidFill>
                <a:latin typeface="Consolas"/>
              </a:rPr>
              <a:t>bob</a:t>
            </a:r>
            <a:r>
              <a:rPr sz="1600">
                <a:solidFill>
                  <a:srgbClr val="D4D4D4"/>
                </a:solidFill>
                <a:latin typeface="Consolas"/>
              </a:rPr>
              <a:t> </a:t>
            </a:r>
            <a:r>
              <a:rPr sz="1600">
                <a:solidFill>
                  <a:srgbClr val="D4D4D4"/>
                </a:solidFill>
                <a:latin typeface="Consolas"/>
              </a:rPr>
              <a:t>=</a:t>
            </a:r>
            <a:r>
              <a:rPr sz="1600">
                <a:solidFill>
                  <a:srgbClr val="D4D4D4"/>
                </a:solidFill>
                <a:latin typeface="Consolas"/>
              </a:rPr>
              <a:t> </a:t>
            </a:r>
            <a:r>
              <a:rPr sz="1600">
                <a:solidFill>
                  <a:srgbClr val="9CDCFE"/>
                </a:solidFill>
                <a:latin typeface="Consolas"/>
              </a:rPr>
              <a:t>Account</a:t>
            </a:r>
            <a:r>
              <a:rPr sz="1600">
                <a:solidFill>
                  <a:srgbClr val="D4D4D4"/>
                </a:solidFill>
                <a:latin typeface="Consolas"/>
              </a:rPr>
              <a:t>.</a:t>
            </a:r>
            <a:r>
              <a:rPr sz="1600">
                <a:solidFill>
                  <a:srgbClr val="9CDCFE"/>
                </a:solidFill>
                <a:latin typeface="Consolas"/>
              </a:rPr>
              <a:t>objects</a:t>
            </a:r>
            <a:r>
              <a:rPr sz="1600">
                <a:solidFill>
                  <a:srgbClr val="D4D4D4"/>
                </a:solidFill>
                <a:latin typeface="Consolas"/>
              </a:rPr>
              <a:t>.</a:t>
            </a:r>
            <a:r>
              <a:rPr sz="1600">
                <a:solidFill>
                  <a:srgbClr val="9CDCFE"/>
                </a:solidFill>
                <a:latin typeface="Consolas"/>
              </a:rPr>
              <a:t>create</a:t>
            </a:r>
            <a:r>
              <a:rPr sz="1600">
                <a:solidFill>
                  <a:srgbClr val="D4D4D4"/>
                </a:solidFill>
                <a:latin typeface="Consolas"/>
              </a:rPr>
              <a:t>(</a:t>
            </a:r>
            <a:r>
              <a:rPr sz="1600">
                <a:solidFill>
                  <a:srgbClr val="9CDCFE"/>
                </a:solidFill>
                <a:latin typeface="Consolas"/>
              </a:rPr>
              <a:t>owner</a:t>
            </a:r>
            <a:r>
              <a:rPr sz="1600">
                <a:solidFill>
                  <a:srgbClr val="D4D4D4"/>
                </a:solidFill>
                <a:latin typeface="Consolas"/>
              </a:rPr>
              <a:t>=</a:t>
            </a:r>
            <a:r>
              <a:rPr sz="1600">
                <a:solidFill>
                  <a:srgbClr val="CE9178"/>
                </a:solidFill>
                <a:latin typeface="Consolas"/>
              </a:rPr>
              <a:t>"</a:t>
            </a:r>
            <a:r>
              <a:rPr sz="1600">
                <a:solidFill>
                  <a:srgbClr val="CE9178"/>
                </a:solidFill>
                <a:latin typeface="Consolas"/>
              </a:rPr>
              <a:t>Bob</a:t>
            </a:r>
            <a:r>
              <a:rPr sz="1600">
                <a:solidFill>
                  <a:srgbClr val="CE9178"/>
                </a:solidFill>
                <a:latin typeface="Consolas"/>
              </a:rPr>
              <a:t>"</a:t>
            </a:r>
            <a:r>
              <a:rPr sz="1600">
                <a:solidFill>
                  <a:srgbClr val="D4D4D4"/>
                </a:solidFill>
                <a:latin typeface="Consolas"/>
              </a:rPr>
              <a:t>,</a:t>
            </a:r>
            <a:r>
              <a:rPr sz="1600">
                <a:solidFill>
                  <a:srgbClr val="D4D4D4"/>
                </a:solidFill>
                <a:latin typeface="Consolas"/>
              </a:rPr>
              <a:t> </a:t>
            </a:r>
            <a:r>
              <a:rPr sz="1600">
                <a:solidFill>
                  <a:srgbClr val="9CDCFE"/>
                </a:solidFill>
                <a:latin typeface="Consolas"/>
              </a:rPr>
              <a:t>balance</a:t>
            </a:r>
            <a:r>
              <a:rPr sz="1600">
                <a:solidFill>
                  <a:srgbClr val="D4D4D4"/>
                </a:solidFill>
                <a:latin typeface="Consolas"/>
              </a:rPr>
              <a:t>=</a:t>
            </a:r>
            <a:r>
              <a:rPr sz="1600">
                <a:solidFill>
                  <a:srgbClr val="B5CEA8"/>
                </a:solidFill>
                <a:latin typeface="Consolas"/>
              </a:rPr>
              <a:t>500</a:t>
            </a:r>
            <a:r>
              <a:rPr sz="1600">
                <a:solidFill>
                  <a:srgbClr val="D4D4D4"/>
                </a:solidFill>
                <a:latin typeface="Consolas"/>
              </a:rPr>
              <a:t>)</a:t>
            </a:r>
            <a:r>
              <a:rPr sz="1600">
                <a:solidFill>
                  <a:srgbClr val="D4D4D4"/>
                </a:solidFill>
                <a:latin typeface="Consolas"/>
              </a:rPr>
              <a:t>      </a:t>
            </a:r>
            <a:r>
              <a:rPr sz="1600">
                <a:solidFill>
                  <a:srgbClr val="6A9955"/>
                </a:solidFill>
                <a:latin typeface="Consolas"/>
              </a:rPr>
              <a:t>#   5.00</a:t>
            </a:r>
          </a:p>
          <a:p>
            <a:pPr>
              <a:lnSpc>
                <a:spcPct val="110000"/>
              </a:lnSpc>
            </a:pPr>
          </a:p>
          <a:p>
            <a:pPr>
              <a:lnSpc>
                <a:spcPct val="110000"/>
              </a:lnSpc>
            </a:pPr>
            <a:r>
              <a:rPr sz="1600">
                <a:solidFill>
                  <a:srgbClr val="9CDCFE"/>
                </a:solidFill>
                <a:latin typeface="Consolas"/>
              </a:rPr>
              <a:t>transfer</a:t>
            </a:r>
            <a:r>
              <a:rPr sz="1600">
                <a:solidFill>
                  <a:srgbClr val="D4D4D4"/>
                </a:solidFill>
                <a:latin typeface="Consolas"/>
              </a:rPr>
              <a:t>(</a:t>
            </a:r>
            <a:r>
              <a:rPr sz="1600">
                <a:solidFill>
                  <a:srgbClr val="9CDCFE"/>
                </a:solidFill>
                <a:latin typeface="Consolas"/>
              </a:rPr>
              <a:t>ada</a:t>
            </a:r>
            <a:r>
              <a:rPr sz="1600">
                <a:solidFill>
                  <a:srgbClr val="D4D4D4"/>
                </a:solidFill>
                <a:latin typeface="Consolas"/>
              </a:rPr>
              <a:t>.</a:t>
            </a:r>
            <a:r>
              <a:rPr sz="1600">
                <a:solidFill>
                  <a:srgbClr val="9CDCFE"/>
                </a:solidFill>
                <a:latin typeface="Consolas"/>
              </a:rPr>
              <a:t>id</a:t>
            </a:r>
            <a:r>
              <a:rPr sz="1600">
                <a:solidFill>
                  <a:srgbClr val="D4D4D4"/>
                </a:solidFill>
                <a:latin typeface="Consolas"/>
              </a:rPr>
              <a:t>,</a:t>
            </a:r>
            <a:r>
              <a:rPr sz="1600">
                <a:solidFill>
                  <a:srgbClr val="D4D4D4"/>
                </a:solidFill>
                <a:latin typeface="Consolas"/>
              </a:rPr>
              <a:t> </a:t>
            </a:r>
            <a:r>
              <a:rPr sz="1600">
                <a:solidFill>
                  <a:srgbClr val="9CDCFE"/>
                </a:solidFill>
                <a:latin typeface="Consolas"/>
              </a:rPr>
              <a:t>bob</a:t>
            </a:r>
            <a:r>
              <a:rPr sz="1600">
                <a:solidFill>
                  <a:srgbClr val="D4D4D4"/>
                </a:solidFill>
                <a:latin typeface="Consolas"/>
              </a:rPr>
              <a:t>.</a:t>
            </a:r>
            <a:r>
              <a:rPr sz="1600">
                <a:solidFill>
                  <a:srgbClr val="9CDCFE"/>
                </a:solidFill>
                <a:latin typeface="Consolas"/>
              </a:rPr>
              <a:t>id</a:t>
            </a:r>
            <a:r>
              <a:rPr sz="1600">
                <a:solidFill>
                  <a:srgbClr val="D4D4D4"/>
                </a:solidFill>
                <a:latin typeface="Consolas"/>
              </a:rPr>
              <a:t>,</a:t>
            </a:r>
            <a:r>
              <a:rPr sz="1600">
                <a:solidFill>
                  <a:srgbClr val="D4D4D4"/>
                </a:solidFill>
                <a:latin typeface="Consolas"/>
              </a:rPr>
              <a:t> </a:t>
            </a:r>
            <a:r>
              <a:rPr sz="1600">
                <a:solidFill>
                  <a:srgbClr val="B5CEA8"/>
                </a:solidFill>
                <a:latin typeface="Consolas"/>
              </a:rPr>
              <a:t>2_500</a:t>
            </a:r>
            <a:r>
              <a:rPr sz="1600">
                <a:solidFill>
                  <a:srgbClr val="D4D4D4"/>
                </a:solidFill>
                <a:latin typeface="Consolas"/>
              </a:rPr>
              <a:t>)</a:t>
            </a:r>
            <a:r>
              <a:rPr sz="1600">
                <a:solidFill>
                  <a:srgbClr val="D4D4D4"/>
                </a:solidFill>
                <a:latin typeface="Consolas"/>
              </a:rPr>
              <a:t>   </a:t>
            </a:r>
            <a:r>
              <a:rPr sz="1600">
                <a:solidFill>
                  <a:srgbClr val="6A9955"/>
                </a:solidFill>
                <a:latin typeface="Consolas"/>
              </a:rPr>
              <a:t># tests 1-2: Ada 7_500, Bob 3_000, returns the log</a:t>
            </a:r>
          </a:p>
          <a:p>
            <a:pPr>
              <a:lnSpc>
                <a:spcPct val="110000"/>
              </a:lnSpc>
            </a:pPr>
          </a:p>
          <a:p>
            <a:pPr>
              <a:lnSpc>
                <a:spcPct val="110000"/>
              </a:lnSpc>
            </a:pPr>
            <a:r>
              <a:rPr sz="1600">
                <a:solidFill>
                  <a:srgbClr val="6A9955"/>
                </a:solidFill>
                <a:latin typeface="Consolas"/>
              </a:rPr>
              <a:t># tests 3-7 must fail AND change nothing:</a:t>
            </a:r>
          </a:p>
          <a:p>
            <a:pPr>
              <a:lnSpc>
                <a:spcPct val="110000"/>
              </a:lnSpc>
            </a:pPr>
            <a:r>
              <a:rPr sz="1600">
                <a:solidFill>
                  <a:srgbClr val="9CDCFE"/>
                </a:solidFill>
                <a:latin typeface="Consolas"/>
              </a:rPr>
              <a:t>transfer</a:t>
            </a:r>
            <a:r>
              <a:rPr sz="1600">
                <a:solidFill>
                  <a:srgbClr val="D4D4D4"/>
                </a:solidFill>
                <a:latin typeface="Consolas"/>
              </a:rPr>
              <a:t>(</a:t>
            </a:r>
            <a:r>
              <a:rPr sz="1600">
                <a:solidFill>
                  <a:srgbClr val="9CDCFE"/>
                </a:solidFill>
                <a:latin typeface="Consolas"/>
              </a:rPr>
              <a:t>ada</a:t>
            </a:r>
            <a:r>
              <a:rPr sz="1600">
                <a:solidFill>
                  <a:srgbClr val="D4D4D4"/>
                </a:solidFill>
                <a:latin typeface="Consolas"/>
              </a:rPr>
              <a:t>.</a:t>
            </a:r>
            <a:r>
              <a:rPr sz="1600">
                <a:solidFill>
                  <a:srgbClr val="9CDCFE"/>
                </a:solidFill>
                <a:latin typeface="Consolas"/>
              </a:rPr>
              <a:t>id</a:t>
            </a:r>
            <a:r>
              <a:rPr sz="1600">
                <a:solidFill>
                  <a:srgbClr val="D4D4D4"/>
                </a:solidFill>
                <a:latin typeface="Consolas"/>
              </a:rPr>
              <a:t>,</a:t>
            </a:r>
            <a:r>
              <a:rPr sz="1600">
                <a:solidFill>
                  <a:srgbClr val="D4D4D4"/>
                </a:solidFill>
                <a:latin typeface="Consolas"/>
              </a:rPr>
              <a:t> </a:t>
            </a:r>
            <a:r>
              <a:rPr sz="1600">
                <a:solidFill>
                  <a:srgbClr val="9CDCFE"/>
                </a:solidFill>
                <a:latin typeface="Consolas"/>
              </a:rPr>
              <a:t>bob</a:t>
            </a:r>
            <a:r>
              <a:rPr sz="1600">
                <a:solidFill>
                  <a:srgbClr val="D4D4D4"/>
                </a:solidFill>
                <a:latin typeface="Consolas"/>
              </a:rPr>
              <a:t>.</a:t>
            </a:r>
            <a:r>
              <a:rPr sz="1600">
                <a:solidFill>
                  <a:srgbClr val="9CDCFE"/>
                </a:solidFill>
                <a:latin typeface="Consolas"/>
              </a:rPr>
              <a:t>id</a:t>
            </a:r>
            <a:r>
              <a:rPr sz="1600">
                <a:solidFill>
                  <a:srgbClr val="D4D4D4"/>
                </a:solidFill>
                <a:latin typeface="Consolas"/>
              </a:rPr>
              <a:t>,</a:t>
            </a:r>
            <a:r>
              <a:rPr sz="1600">
                <a:solidFill>
                  <a:srgbClr val="D4D4D4"/>
                </a:solidFill>
                <a:latin typeface="Consolas"/>
              </a:rPr>
              <a:t> </a:t>
            </a:r>
            <a:r>
              <a:rPr sz="1600">
                <a:solidFill>
                  <a:srgbClr val="B5CEA8"/>
                </a:solidFill>
                <a:latin typeface="Consolas"/>
              </a:rPr>
              <a:t>12.5</a:t>
            </a:r>
            <a:r>
              <a:rPr sz="1600">
                <a:solidFill>
                  <a:srgbClr val="D4D4D4"/>
                </a:solidFill>
                <a:latin typeface="Consolas"/>
              </a:rPr>
              <a:t>)</a:t>
            </a:r>
            <a:r>
              <a:rPr sz="1600">
                <a:solidFill>
                  <a:srgbClr val="D4D4D4"/>
                </a:solidFill>
                <a:latin typeface="Consolas"/>
              </a:rPr>
              <a:t>    </a:t>
            </a:r>
            <a:r>
              <a:rPr sz="1600">
                <a:solidFill>
                  <a:srgbClr val="6A9955"/>
                </a:solidFill>
                <a:latin typeface="Consolas"/>
              </a:rPr>
              <a:t># ValueError (also 0, -50, "100")</a:t>
            </a:r>
          </a:p>
          <a:p>
            <a:pPr>
              <a:lnSpc>
                <a:spcPct val="110000"/>
              </a:lnSpc>
            </a:pPr>
            <a:r>
              <a:rPr sz="1600">
                <a:solidFill>
                  <a:srgbClr val="9CDCFE"/>
                </a:solidFill>
                <a:latin typeface="Consolas"/>
              </a:rPr>
              <a:t>transfer</a:t>
            </a:r>
            <a:r>
              <a:rPr sz="1600">
                <a:solidFill>
                  <a:srgbClr val="D4D4D4"/>
                </a:solidFill>
                <a:latin typeface="Consolas"/>
              </a:rPr>
              <a:t>(</a:t>
            </a:r>
            <a:r>
              <a:rPr sz="1600">
                <a:solidFill>
                  <a:srgbClr val="9CDCFE"/>
                </a:solidFill>
                <a:latin typeface="Consolas"/>
              </a:rPr>
              <a:t>ada</a:t>
            </a:r>
            <a:r>
              <a:rPr sz="1600">
                <a:solidFill>
                  <a:srgbClr val="D4D4D4"/>
                </a:solidFill>
                <a:latin typeface="Consolas"/>
              </a:rPr>
              <a:t>.</a:t>
            </a:r>
            <a:r>
              <a:rPr sz="1600">
                <a:solidFill>
                  <a:srgbClr val="9CDCFE"/>
                </a:solidFill>
                <a:latin typeface="Consolas"/>
              </a:rPr>
              <a:t>id</a:t>
            </a:r>
            <a:r>
              <a:rPr sz="1600">
                <a:solidFill>
                  <a:srgbClr val="D4D4D4"/>
                </a:solidFill>
                <a:latin typeface="Consolas"/>
              </a:rPr>
              <a:t>,</a:t>
            </a:r>
            <a:r>
              <a:rPr sz="1600">
                <a:solidFill>
                  <a:srgbClr val="D4D4D4"/>
                </a:solidFill>
                <a:latin typeface="Consolas"/>
              </a:rPr>
              <a:t> </a:t>
            </a:r>
            <a:r>
              <a:rPr sz="1600">
                <a:solidFill>
                  <a:srgbClr val="9CDCFE"/>
                </a:solidFill>
                <a:latin typeface="Consolas"/>
              </a:rPr>
              <a:t>ada</a:t>
            </a:r>
            <a:r>
              <a:rPr sz="1600">
                <a:solidFill>
                  <a:srgbClr val="D4D4D4"/>
                </a:solidFill>
                <a:latin typeface="Consolas"/>
              </a:rPr>
              <a:t>.</a:t>
            </a:r>
            <a:r>
              <a:rPr sz="1600">
                <a:solidFill>
                  <a:srgbClr val="9CDCFE"/>
                </a:solidFill>
                <a:latin typeface="Consolas"/>
              </a:rPr>
              <a:t>id</a:t>
            </a:r>
            <a:r>
              <a:rPr sz="1600">
                <a:solidFill>
                  <a:srgbClr val="D4D4D4"/>
                </a:solidFill>
                <a:latin typeface="Consolas"/>
              </a:rPr>
              <a:t>,</a:t>
            </a:r>
            <a:r>
              <a:rPr sz="1600">
                <a:solidFill>
                  <a:srgbClr val="D4D4D4"/>
                </a:solidFill>
                <a:latin typeface="Consolas"/>
              </a:rPr>
              <a:t> </a:t>
            </a:r>
            <a:r>
              <a:rPr sz="1600">
                <a:solidFill>
                  <a:srgbClr val="B5CEA8"/>
                </a:solidFill>
                <a:latin typeface="Consolas"/>
              </a:rPr>
              <a:t>100</a:t>
            </a:r>
            <a:r>
              <a:rPr sz="1600">
                <a:solidFill>
                  <a:srgbClr val="D4D4D4"/>
                </a:solidFill>
                <a:latin typeface="Consolas"/>
              </a:rPr>
              <a:t>)</a:t>
            </a:r>
            <a:r>
              <a:rPr sz="1600">
                <a:solidFill>
                  <a:srgbClr val="D4D4D4"/>
                </a:solidFill>
                <a:latin typeface="Consolas"/>
              </a:rPr>
              <a:t>     </a:t>
            </a:r>
            <a:r>
              <a:rPr sz="1600">
                <a:solidFill>
                  <a:srgbClr val="6A9955"/>
                </a:solidFill>
                <a:latin typeface="Consolas"/>
              </a:rPr>
              <a:t># ValueError: same account</a:t>
            </a:r>
          </a:p>
          <a:p>
            <a:pPr>
              <a:lnSpc>
                <a:spcPct val="110000"/>
              </a:lnSpc>
            </a:pPr>
            <a:r>
              <a:rPr sz="1600">
                <a:solidFill>
                  <a:srgbClr val="9CDCFE"/>
                </a:solidFill>
                <a:latin typeface="Consolas"/>
              </a:rPr>
              <a:t>transfer</a:t>
            </a:r>
            <a:r>
              <a:rPr sz="1600">
                <a:solidFill>
                  <a:srgbClr val="D4D4D4"/>
                </a:solidFill>
                <a:latin typeface="Consolas"/>
              </a:rPr>
              <a:t>(</a:t>
            </a:r>
            <a:r>
              <a:rPr sz="1600">
                <a:solidFill>
                  <a:srgbClr val="9CDCFE"/>
                </a:solidFill>
                <a:latin typeface="Consolas"/>
              </a:rPr>
              <a:t>bob</a:t>
            </a:r>
            <a:r>
              <a:rPr sz="1600">
                <a:solidFill>
                  <a:srgbClr val="D4D4D4"/>
                </a:solidFill>
                <a:latin typeface="Consolas"/>
              </a:rPr>
              <a:t>.</a:t>
            </a:r>
            <a:r>
              <a:rPr sz="1600">
                <a:solidFill>
                  <a:srgbClr val="9CDCFE"/>
                </a:solidFill>
                <a:latin typeface="Consolas"/>
              </a:rPr>
              <a:t>id</a:t>
            </a:r>
            <a:r>
              <a:rPr sz="1600">
                <a:solidFill>
                  <a:srgbClr val="D4D4D4"/>
                </a:solidFill>
                <a:latin typeface="Consolas"/>
              </a:rPr>
              <a:t>,</a:t>
            </a:r>
            <a:r>
              <a:rPr sz="1600">
                <a:solidFill>
                  <a:srgbClr val="D4D4D4"/>
                </a:solidFill>
                <a:latin typeface="Consolas"/>
              </a:rPr>
              <a:t> </a:t>
            </a:r>
            <a:r>
              <a:rPr sz="1600">
                <a:solidFill>
                  <a:srgbClr val="9CDCFE"/>
                </a:solidFill>
                <a:latin typeface="Consolas"/>
              </a:rPr>
              <a:t>ada</a:t>
            </a:r>
            <a:r>
              <a:rPr sz="1600">
                <a:solidFill>
                  <a:srgbClr val="D4D4D4"/>
                </a:solidFill>
                <a:latin typeface="Consolas"/>
              </a:rPr>
              <a:t>.</a:t>
            </a:r>
            <a:r>
              <a:rPr sz="1600">
                <a:solidFill>
                  <a:srgbClr val="9CDCFE"/>
                </a:solidFill>
                <a:latin typeface="Consolas"/>
              </a:rPr>
              <a:t>id</a:t>
            </a:r>
            <a:r>
              <a:rPr sz="1600">
                <a:solidFill>
                  <a:srgbClr val="D4D4D4"/>
                </a:solidFill>
                <a:latin typeface="Consolas"/>
              </a:rPr>
              <a:t>,</a:t>
            </a:r>
            <a:r>
              <a:rPr sz="1600">
                <a:solidFill>
                  <a:srgbClr val="D4D4D4"/>
                </a:solidFill>
                <a:latin typeface="Consolas"/>
              </a:rPr>
              <a:t> </a:t>
            </a:r>
            <a:r>
              <a:rPr sz="1600">
                <a:solidFill>
                  <a:srgbClr val="B5CEA8"/>
                </a:solidFill>
                <a:latin typeface="Consolas"/>
              </a:rPr>
              <a:t>501</a:t>
            </a:r>
            <a:r>
              <a:rPr sz="1600">
                <a:solidFill>
                  <a:srgbClr val="D4D4D4"/>
                </a:solidFill>
                <a:latin typeface="Consolas"/>
              </a:rPr>
              <a:t>)</a:t>
            </a:r>
            <a:r>
              <a:rPr sz="1600">
                <a:solidFill>
                  <a:srgbClr val="D4D4D4"/>
                </a:solidFill>
                <a:latin typeface="Consolas"/>
              </a:rPr>
              <a:t>     </a:t>
            </a:r>
            <a:r>
              <a:rPr sz="1600">
                <a:solidFill>
                  <a:srgbClr val="6A9955"/>
                </a:solidFill>
                <a:latin typeface="Consolas"/>
              </a:rPr>
              <a:t># InsufficientFunds: Bob only has 500</a:t>
            </a:r>
          </a:p>
          <a:p>
            <a:pPr>
              <a:lnSpc>
                <a:spcPct val="110000"/>
              </a:lnSpc>
            </a:pPr>
            <a:r>
              <a:rPr sz="1600">
                <a:solidFill>
                  <a:srgbClr val="9CDCFE"/>
                </a:solidFill>
                <a:latin typeface="Consolas"/>
              </a:rPr>
              <a:t>transfer</a:t>
            </a:r>
            <a:r>
              <a:rPr sz="1600">
                <a:solidFill>
                  <a:srgbClr val="D4D4D4"/>
                </a:solidFill>
                <a:latin typeface="Consolas"/>
              </a:rPr>
              <a:t>(</a:t>
            </a:r>
            <a:r>
              <a:rPr sz="1600">
                <a:solidFill>
                  <a:srgbClr val="9CDCFE"/>
                </a:solidFill>
                <a:latin typeface="Consolas"/>
              </a:rPr>
              <a:t>ada</a:t>
            </a:r>
            <a:r>
              <a:rPr sz="1600">
                <a:solidFill>
                  <a:srgbClr val="D4D4D4"/>
                </a:solidFill>
                <a:latin typeface="Consolas"/>
              </a:rPr>
              <a:t>.</a:t>
            </a:r>
            <a:r>
              <a:rPr sz="1600">
                <a:solidFill>
                  <a:srgbClr val="9CDCFE"/>
                </a:solidFill>
                <a:latin typeface="Consolas"/>
              </a:rPr>
              <a:t>id</a:t>
            </a:r>
            <a:r>
              <a:rPr sz="1600">
                <a:solidFill>
                  <a:srgbClr val="D4D4D4"/>
                </a:solidFill>
                <a:latin typeface="Consolas"/>
              </a:rPr>
              <a:t>,</a:t>
            </a:r>
            <a:r>
              <a:rPr sz="1600">
                <a:solidFill>
                  <a:srgbClr val="D4D4D4"/>
                </a:solidFill>
                <a:latin typeface="Consolas"/>
              </a:rPr>
              <a:t> </a:t>
            </a:r>
            <a:r>
              <a:rPr sz="1600">
                <a:solidFill>
                  <a:srgbClr val="B5CEA8"/>
                </a:solidFill>
                <a:latin typeface="Consolas"/>
              </a:rPr>
              <a:t>999_999</a:t>
            </a:r>
            <a:r>
              <a:rPr sz="1600">
                <a:solidFill>
                  <a:srgbClr val="D4D4D4"/>
                </a:solidFill>
                <a:latin typeface="Consolas"/>
              </a:rPr>
              <a:t>,</a:t>
            </a:r>
            <a:r>
              <a:rPr sz="1600">
                <a:solidFill>
                  <a:srgbClr val="D4D4D4"/>
                </a:solidFill>
                <a:latin typeface="Consolas"/>
              </a:rPr>
              <a:t> </a:t>
            </a:r>
            <a:r>
              <a:rPr sz="1600">
                <a:solidFill>
                  <a:srgbClr val="B5CEA8"/>
                </a:solidFill>
                <a:latin typeface="Consolas"/>
              </a:rPr>
              <a:t>100</a:t>
            </a:r>
            <a:r>
              <a:rPr sz="1600">
                <a:solidFill>
                  <a:srgbClr val="D4D4D4"/>
                </a:solidFill>
                <a:latin typeface="Consolas"/>
              </a:rPr>
              <a:t>)</a:t>
            </a:r>
            <a:r>
              <a:rPr sz="1600">
                <a:solidFill>
                  <a:srgbClr val="D4D4D4"/>
                </a:solidFill>
                <a:latin typeface="Consolas"/>
              </a:rPr>
              <a:t>    </a:t>
            </a:r>
            <a:r>
              <a:rPr sz="1600">
                <a:solidFill>
                  <a:srgbClr val="6A9955"/>
                </a:solidFill>
                <a:latin typeface="Consolas"/>
              </a:rPr>
              <a:t># Account.DoesNotExist</a:t>
            </a:r>
          </a:p>
          <a:p>
            <a:pPr>
              <a:lnSpc>
                <a:spcPct val="110000"/>
              </a:lnSpc>
            </a:pPr>
            <a:r>
              <a:rPr sz="1600">
                <a:solidFill>
                  <a:srgbClr val="6A9955"/>
                </a:solidFill>
                <a:latin typeface="Consolas"/>
              </a:rPr>
              <a:t># test 7: saving the log fails with RuntimeError("disk full")</a:t>
            </a:r>
          </a:p>
          <a:p>
            <a:pPr>
              <a:lnSpc>
                <a:spcPct val="110000"/>
              </a:lnSpc>
            </a:pP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8A4F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0"/>
            <a:ext cx="10911535" cy="274320"/>
          </a:xfrm>
          <a:prstGeom prst="rect">
            <a:avLst/>
          </a:prstGeom>
          <a:noFill/>
        </p:spPr>
        <p:txBody>
          <a:bodyPr wrap="square" anchor="t" lIns="0" rIns="0" tIns="0" bIns="0">
            <a:spAutoFit/>
          </a:bodyPr>
          <a:lstStyle/>
          <a:p>
            <a:pPr>
              <a:spcAft>
                <a:spcPts val="600"/>
              </a:spcAft>
            </a:pPr>
            <a:r>
              <a:rPr sz="1100" b="0">
                <a:solidFill>
                  <a:srgbClr val="5D6778"/>
                </a:solidFill>
                <a:latin typeface="Segoe UI"/>
              </a:rPr>
              <a:t>Backend Lab  ·  Exercise 13  ·  All or nothing: transactions</a:t>
            </a:r>
          </a:p>
        </p:txBody>
      </p:sp>
      <p:sp>
        <p:nvSpPr>
          <p:cNvPr id="4" name="TextBox 3"/>
          <p:cNvSpPr txBox="1"/>
          <p:nvPr/>
        </p:nvSpPr>
        <p:spPr>
          <a:xfrm>
            <a:off x="10637215" y="6400800"/>
            <a:ext cx="914400" cy="274320"/>
          </a:xfrm>
          <a:prstGeom prst="rect">
            <a:avLst/>
          </a:prstGeom>
          <a:noFill/>
        </p:spPr>
        <p:txBody>
          <a:bodyPr wrap="square" anchor="t" lIns="0" rIns="0" tIns="0" bIns="0">
            <a:spAutoFit/>
          </a:bodyPr>
          <a:lstStyle/>
          <a:p>
            <a:pPr algn="r">
              <a:spcAft>
                <a:spcPts val="600"/>
              </a:spcAft>
            </a:pPr>
            <a:r>
              <a:rPr sz="1100" b="0">
                <a:solidFill>
                  <a:srgbClr val="5D6778"/>
                </a:solidFill>
                <a:latin typeface="Segoe UI"/>
              </a:rPr>
              <a:t>4</a:t>
            </a:r>
          </a:p>
        </p:txBody>
      </p:sp>
      <p:sp>
        <p:nvSpPr>
          <p:cNvPr id="5" name="TextBox 4"/>
          <p:cNvSpPr txBox="1"/>
          <p:nvPr/>
        </p:nvSpPr>
        <p:spPr>
          <a:xfrm>
            <a:off x="640080" y="411480"/>
            <a:ext cx="10911535" cy="822960"/>
          </a:xfrm>
          <a:prstGeom prst="rect">
            <a:avLst/>
          </a:prstGeom>
          <a:noFill/>
        </p:spPr>
        <p:txBody>
          <a:bodyPr wrap="square" anchor="ctr" lIns="0" rIns="0" tIns="0" bIns="0">
            <a:spAutoFit/>
          </a:bodyPr>
          <a:lstStyle/>
          <a:p>
            <a:pPr>
              <a:spcAft>
                <a:spcPts val="600"/>
              </a:spcAft>
            </a:pPr>
            <a:r>
              <a:rPr sz="3200" b="1">
                <a:solidFill>
                  <a:srgbClr val="1C2330"/>
                </a:solidFill>
                <a:latin typeface="Segoe UI"/>
              </a:rPr>
              <a:t>New words</a:t>
            </a:r>
          </a:p>
        </p:txBody>
      </p:sp>
      <p:sp>
        <p:nvSpPr>
          <p:cNvPr id="6" name="TextBox 5"/>
          <p:cNvSpPr txBox="1"/>
          <p:nvPr/>
        </p:nvSpPr>
        <p:spPr>
          <a:xfrm>
            <a:off x="640080" y="1508760"/>
            <a:ext cx="3017520" cy="762000"/>
          </a:xfrm>
          <a:prstGeom prst="rect">
            <a:avLst/>
          </a:prstGeom>
          <a:noFill/>
        </p:spPr>
        <p:txBody>
          <a:bodyPr wrap="square" anchor="ctr" lIns="0" rIns="0" tIns="0" bIns="0">
            <a:spAutoFit/>
          </a:bodyPr>
          <a:lstStyle/>
          <a:p>
            <a:pPr>
              <a:spcAft>
                <a:spcPts val="600"/>
              </a:spcAft>
            </a:pPr>
            <a:r>
              <a:rPr sz="2200" b="1">
                <a:solidFill>
                  <a:srgbClr val="8A4FE0"/>
                </a:solidFill>
                <a:latin typeface="Segoe UI"/>
              </a:rPr>
              <a:t>transaction</a:t>
            </a:r>
          </a:p>
        </p:txBody>
      </p:sp>
      <p:sp>
        <p:nvSpPr>
          <p:cNvPr id="7" name="TextBox 6"/>
          <p:cNvSpPr txBox="1"/>
          <p:nvPr/>
        </p:nvSpPr>
        <p:spPr>
          <a:xfrm>
            <a:off x="3840480" y="1508760"/>
            <a:ext cx="7711135" cy="762000"/>
          </a:xfrm>
          <a:prstGeom prst="rect">
            <a:avLst/>
          </a:prstGeom>
          <a:noFill/>
        </p:spPr>
        <p:txBody>
          <a:bodyPr wrap="square" anchor="ctr" lIns="0" rIns="0" tIns="0" bIns="0">
            <a:spAutoFit/>
          </a:bodyPr>
          <a:lstStyle/>
          <a:p>
            <a:pPr>
              <a:spcAft>
                <a:spcPts val="600"/>
              </a:spcAft>
            </a:pPr>
            <a:r>
              <a:rPr sz="1900" b="0">
                <a:solidFill>
                  <a:srgbClr val="1C2330"/>
                </a:solidFill>
                <a:latin typeface="Segoe UI"/>
              </a:rPr>
              <a:t>A group of database writes kept all together, or not at all.</a:t>
            </a:r>
          </a:p>
        </p:txBody>
      </p:sp>
      <p:sp>
        <p:nvSpPr>
          <p:cNvPr id="8" name="TextBox 7"/>
          <p:cNvSpPr txBox="1"/>
          <p:nvPr/>
        </p:nvSpPr>
        <p:spPr>
          <a:xfrm>
            <a:off x="640080" y="2270760"/>
            <a:ext cx="3017520" cy="762000"/>
          </a:xfrm>
          <a:prstGeom prst="rect">
            <a:avLst/>
          </a:prstGeom>
          <a:noFill/>
        </p:spPr>
        <p:txBody>
          <a:bodyPr wrap="square" anchor="ctr" lIns="0" rIns="0" tIns="0" bIns="0">
            <a:spAutoFit/>
          </a:bodyPr>
          <a:lstStyle/>
          <a:p>
            <a:pPr>
              <a:spcAft>
                <a:spcPts val="600"/>
              </a:spcAft>
            </a:pPr>
            <a:r>
              <a:rPr sz="2200" b="1">
                <a:solidFill>
                  <a:srgbClr val="8A4FE0"/>
                </a:solidFill>
                <a:latin typeface="Segoe UI"/>
              </a:rPr>
              <a:t>atomic</a:t>
            </a:r>
          </a:p>
        </p:txBody>
      </p:sp>
      <p:sp>
        <p:nvSpPr>
          <p:cNvPr id="9" name="TextBox 8"/>
          <p:cNvSpPr txBox="1"/>
          <p:nvPr/>
        </p:nvSpPr>
        <p:spPr>
          <a:xfrm>
            <a:off x="3840480" y="2270760"/>
            <a:ext cx="7711135" cy="762000"/>
          </a:xfrm>
          <a:prstGeom prst="rect">
            <a:avLst/>
          </a:prstGeom>
          <a:noFill/>
        </p:spPr>
        <p:txBody>
          <a:bodyPr wrap="square" anchor="ctr" lIns="0" rIns="0" tIns="0" bIns="0">
            <a:spAutoFit/>
          </a:bodyPr>
          <a:lstStyle/>
          <a:p>
            <a:pPr>
              <a:spcAft>
                <a:spcPts val="600"/>
              </a:spcAft>
            </a:pPr>
            <a:r>
              <a:rPr sz="1900" b="0">
                <a:solidFill>
                  <a:srgbClr val="1C2330"/>
                </a:solidFill>
                <a:latin typeface="Segoe UI"/>
              </a:rPr>
              <a:t>"Can't be split": the whole group happens, or none of it.</a:t>
            </a:r>
          </a:p>
        </p:txBody>
      </p:sp>
      <p:cxnSp>
        <p:nvCxnSpPr>
          <p:cNvPr id="10" name="Connector 9"/>
          <p:cNvCxnSpPr/>
          <p:nvPr/>
        </p:nvCxnSpPr>
        <p:spPr>
          <a:xfrm>
            <a:off x="640080" y="2270760"/>
            <a:ext cx="10911535" cy="0"/>
          </a:xfrm>
          <a:prstGeom prst="line">
            <a:avLst/>
          </a:prstGeom>
          <a:ln>
            <a:solidFill>
              <a:srgbClr val="DDE1E7"/>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40080" y="3032760"/>
            <a:ext cx="3017520" cy="762000"/>
          </a:xfrm>
          <a:prstGeom prst="rect">
            <a:avLst/>
          </a:prstGeom>
          <a:noFill/>
        </p:spPr>
        <p:txBody>
          <a:bodyPr wrap="square" anchor="ctr" lIns="0" rIns="0" tIns="0" bIns="0">
            <a:spAutoFit/>
          </a:bodyPr>
          <a:lstStyle/>
          <a:p>
            <a:pPr>
              <a:spcAft>
                <a:spcPts val="600"/>
              </a:spcAft>
            </a:pPr>
            <a:r>
              <a:rPr sz="2200" b="1">
                <a:solidFill>
                  <a:srgbClr val="8A4FE0"/>
                </a:solidFill>
                <a:latin typeface="Segoe UI"/>
              </a:rPr>
              <a:t>commit</a:t>
            </a:r>
          </a:p>
        </p:txBody>
      </p:sp>
      <p:sp>
        <p:nvSpPr>
          <p:cNvPr id="12" name="TextBox 11"/>
          <p:cNvSpPr txBox="1"/>
          <p:nvPr/>
        </p:nvSpPr>
        <p:spPr>
          <a:xfrm>
            <a:off x="3840480" y="3032760"/>
            <a:ext cx="7711135" cy="762000"/>
          </a:xfrm>
          <a:prstGeom prst="rect">
            <a:avLst/>
          </a:prstGeom>
          <a:noFill/>
        </p:spPr>
        <p:txBody>
          <a:bodyPr wrap="square" anchor="ctr" lIns="0" rIns="0" tIns="0" bIns="0">
            <a:spAutoFit/>
          </a:bodyPr>
          <a:lstStyle/>
          <a:p>
            <a:pPr>
              <a:spcAft>
                <a:spcPts val="600"/>
              </a:spcAft>
            </a:pPr>
            <a:r>
              <a:rPr sz="1900" b="0">
                <a:solidFill>
                  <a:srgbClr val="1C2330"/>
                </a:solidFill>
                <a:latin typeface="Segoe UI"/>
              </a:rPr>
              <a:t>Make the writes permanent, when the block finishes normally.</a:t>
            </a:r>
          </a:p>
        </p:txBody>
      </p:sp>
      <p:cxnSp>
        <p:nvCxnSpPr>
          <p:cNvPr id="13" name="Connector 12"/>
          <p:cNvCxnSpPr/>
          <p:nvPr/>
        </p:nvCxnSpPr>
        <p:spPr>
          <a:xfrm>
            <a:off x="640080" y="3032760"/>
            <a:ext cx="10911535" cy="0"/>
          </a:xfrm>
          <a:prstGeom prst="line">
            <a:avLst/>
          </a:prstGeom>
          <a:ln>
            <a:solidFill>
              <a:srgbClr val="DDE1E7"/>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40080" y="3794760"/>
            <a:ext cx="3017520" cy="762000"/>
          </a:xfrm>
          <a:prstGeom prst="rect">
            <a:avLst/>
          </a:prstGeom>
          <a:noFill/>
        </p:spPr>
        <p:txBody>
          <a:bodyPr wrap="square" anchor="ctr" lIns="0" rIns="0" tIns="0" bIns="0">
            <a:spAutoFit/>
          </a:bodyPr>
          <a:lstStyle/>
          <a:p>
            <a:pPr>
              <a:spcAft>
                <a:spcPts val="600"/>
              </a:spcAft>
            </a:pPr>
            <a:r>
              <a:rPr sz="2200" b="1">
                <a:solidFill>
                  <a:srgbClr val="8A4FE0"/>
                </a:solidFill>
                <a:latin typeface="Segoe UI"/>
              </a:rPr>
              <a:t>roll back</a:t>
            </a:r>
          </a:p>
        </p:txBody>
      </p:sp>
      <p:sp>
        <p:nvSpPr>
          <p:cNvPr id="15" name="TextBox 14"/>
          <p:cNvSpPr txBox="1"/>
          <p:nvPr/>
        </p:nvSpPr>
        <p:spPr>
          <a:xfrm>
            <a:off x="3840480" y="3794760"/>
            <a:ext cx="7711135" cy="762000"/>
          </a:xfrm>
          <a:prstGeom prst="rect">
            <a:avLst/>
          </a:prstGeom>
          <a:noFill/>
        </p:spPr>
        <p:txBody>
          <a:bodyPr wrap="square" anchor="ctr" lIns="0" rIns="0" tIns="0" bIns="0">
            <a:spAutoFit/>
          </a:bodyPr>
          <a:lstStyle/>
          <a:p>
            <a:pPr>
              <a:spcAft>
                <a:spcPts val="600"/>
              </a:spcAft>
            </a:pPr>
            <a:r>
              <a:rPr sz="1900" b="0">
                <a:solidFill>
                  <a:srgbClr val="1C2330"/>
                </a:solidFill>
                <a:latin typeface="Segoe UI"/>
              </a:rPr>
              <a:t>Undo every write in the group, when an exception leaves it.</a:t>
            </a:r>
          </a:p>
        </p:txBody>
      </p:sp>
      <p:cxnSp>
        <p:nvCxnSpPr>
          <p:cNvPr id="16" name="Connector 15"/>
          <p:cNvCxnSpPr/>
          <p:nvPr/>
        </p:nvCxnSpPr>
        <p:spPr>
          <a:xfrm>
            <a:off x="640080" y="3794760"/>
            <a:ext cx="10911535" cy="0"/>
          </a:xfrm>
          <a:prstGeom prst="line">
            <a:avLst/>
          </a:prstGeom>
          <a:ln>
            <a:solidFill>
              <a:srgbClr val="DDE1E7"/>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40080" y="4556760"/>
            <a:ext cx="3017520" cy="762000"/>
          </a:xfrm>
          <a:prstGeom prst="rect">
            <a:avLst/>
          </a:prstGeom>
          <a:noFill/>
        </p:spPr>
        <p:txBody>
          <a:bodyPr wrap="square" anchor="ctr" lIns="0" rIns="0" tIns="0" bIns="0">
            <a:spAutoFit/>
          </a:bodyPr>
          <a:lstStyle/>
          <a:p>
            <a:pPr>
              <a:spcAft>
                <a:spcPts val="600"/>
              </a:spcAft>
            </a:pPr>
            <a:r>
              <a:rPr sz="2200" b="1">
                <a:solidFill>
                  <a:srgbClr val="8A4FE0"/>
                </a:solidFill>
                <a:latin typeface="Segoe UI"/>
              </a:rPr>
              <a:t>lock</a:t>
            </a:r>
          </a:p>
        </p:txBody>
      </p:sp>
      <p:sp>
        <p:nvSpPr>
          <p:cNvPr id="18" name="TextBox 17"/>
          <p:cNvSpPr txBox="1"/>
          <p:nvPr/>
        </p:nvSpPr>
        <p:spPr>
          <a:xfrm>
            <a:off x="3840480" y="4556760"/>
            <a:ext cx="7711135" cy="762000"/>
          </a:xfrm>
          <a:prstGeom prst="rect">
            <a:avLst/>
          </a:prstGeom>
          <a:noFill/>
        </p:spPr>
        <p:txBody>
          <a:bodyPr wrap="square" anchor="ctr" lIns="0" rIns="0" tIns="0" bIns="0">
            <a:spAutoFit/>
          </a:bodyPr>
          <a:lstStyle/>
          <a:p>
            <a:pPr>
              <a:spcAft>
                <a:spcPts val="600"/>
              </a:spcAft>
            </a:pPr>
            <a:r>
              <a:rPr sz="1900" b="0">
                <a:solidFill>
                  <a:srgbClr val="1C2330"/>
                </a:solidFill>
                <a:latin typeface="Segoe UI"/>
              </a:rPr>
              <a:t>Mark a row "in use" so another request waits its turn.</a:t>
            </a:r>
          </a:p>
        </p:txBody>
      </p:sp>
      <p:cxnSp>
        <p:nvCxnSpPr>
          <p:cNvPr id="19" name="Connector 18"/>
          <p:cNvCxnSpPr/>
          <p:nvPr/>
        </p:nvCxnSpPr>
        <p:spPr>
          <a:xfrm>
            <a:off x="640080" y="4556760"/>
            <a:ext cx="10911535" cy="0"/>
          </a:xfrm>
          <a:prstGeom prst="line">
            <a:avLst/>
          </a:prstGeom>
          <a:ln>
            <a:solidFill>
              <a:srgbClr val="DDE1E7"/>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40080" y="5318760"/>
            <a:ext cx="3017520" cy="762000"/>
          </a:xfrm>
          <a:prstGeom prst="rect">
            <a:avLst/>
          </a:prstGeom>
          <a:noFill/>
        </p:spPr>
        <p:txBody>
          <a:bodyPr wrap="square" anchor="ctr" lIns="0" rIns="0" tIns="0" bIns="0">
            <a:spAutoFit/>
          </a:bodyPr>
          <a:lstStyle/>
          <a:p>
            <a:pPr>
              <a:spcAft>
                <a:spcPts val="600"/>
              </a:spcAft>
            </a:pPr>
            <a:r>
              <a:rPr sz="2200" b="1">
                <a:solidFill>
                  <a:srgbClr val="8A4FE0"/>
                </a:solidFill>
                <a:latin typeface="Segoe UI"/>
              </a:rPr>
              <a:t>cents</a:t>
            </a:r>
          </a:p>
        </p:txBody>
      </p:sp>
      <p:sp>
        <p:nvSpPr>
          <p:cNvPr id="21" name="TextBox 20"/>
          <p:cNvSpPr txBox="1"/>
          <p:nvPr/>
        </p:nvSpPr>
        <p:spPr>
          <a:xfrm>
            <a:off x="3840480" y="5318760"/>
            <a:ext cx="7711135" cy="762000"/>
          </a:xfrm>
          <a:prstGeom prst="rect">
            <a:avLst/>
          </a:prstGeom>
          <a:noFill/>
        </p:spPr>
        <p:txBody>
          <a:bodyPr wrap="square" anchor="ctr" lIns="0" rIns="0" tIns="0" bIns="0">
            <a:spAutoFit/>
          </a:bodyPr>
          <a:lstStyle/>
          <a:p>
            <a:pPr>
              <a:spcAft>
                <a:spcPts val="600"/>
              </a:spcAft>
            </a:pPr>
            <a:r>
              <a:rPr sz="1900" b="0">
                <a:solidFill>
                  <a:srgbClr val="1C2330"/>
                </a:solidFill>
                <a:latin typeface="Segoe UI"/>
              </a:rPr>
              <a:t>Money as whole numbers: </a:t>
            </a:r>
            <a:r>
              <a:rPr sz="1900" b="0">
                <a:solidFill>
                  <a:srgbClr val="6A3FC0"/>
                </a:solidFill>
                <a:latin typeface="Consolas"/>
              </a:rPr>
              <a:t>10_000</a:t>
            </a:r>
            <a:r>
              <a:rPr sz="1900" b="0">
                <a:solidFill>
                  <a:srgbClr val="1C2330"/>
                </a:solidFill>
                <a:latin typeface="Segoe UI"/>
              </a:rPr>
              <a:t> means 100.00.</a:t>
            </a:r>
          </a:p>
        </p:txBody>
      </p:sp>
      <p:cxnSp>
        <p:nvCxnSpPr>
          <p:cNvPr id="22" name="Connector 21"/>
          <p:cNvCxnSpPr/>
          <p:nvPr/>
        </p:nvCxnSpPr>
        <p:spPr>
          <a:xfrm>
            <a:off x="640080" y="5318760"/>
            <a:ext cx="10911535" cy="0"/>
          </a:xfrm>
          <a:prstGeom prst="line">
            <a:avLst/>
          </a:prstGeom>
          <a:ln>
            <a:solidFill>
              <a:srgbClr val="DDE1E7"/>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8A4F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0"/>
            <a:ext cx="10911535" cy="274320"/>
          </a:xfrm>
          <a:prstGeom prst="rect">
            <a:avLst/>
          </a:prstGeom>
          <a:noFill/>
        </p:spPr>
        <p:txBody>
          <a:bodyPr wrap="square" anchor="t" lIns="0" rIns="0" tIns="0" bIns="0">
            <a:spAutoFit/>
          </a:bodyPr>
          <a:lstStyle/>
          <a:p>
            <a:pPr>
              <a:spcAft>
                <a:spcPts val="600"/>
              </a:spcAft>
            </a:pPr>
            <a:r>
              <a:rPr sz="1100" b="0">
                <a:solidFill>
                  <a:srgbClr val="5D6778"/>
                </a:solidFill>
                <a:latin typeface="Segoe UI"/>
              </a:rPr>
              <a:t>Backend Lab  ·  Exercise 13  ·  All or nothing: transactions</a:t>
            </a:r>
          </a:p>
        </p:txBody>
      </p:sp>
      <p:sp>
        <p:nvSpPr>
          <p:cNvPr id="4" name="TextBox 3"/>
          <p:cNvSpPr txBox="1"/>
          <p:nvPr/>
        </p:nvSpPr>
        <p:spPr>
          <a:xfrm>
            <a:off x="10637215" y="6400800"/>
            <a:ext cx="914400" cy="274320"/>
          </a:xfrm>
          <a:prstGeom prst="rect">
            <a:avLst/>
          </a:prstGeom>
          <a:noFill/>
        </p:spPr>
        <p:txBody>
          <a:bodyPr wrap="square" anchor="t" lIns="0" rIns="0" tIns="0" bIns="0">
            <a:spAutoFit/>
          </a:bodyPr>
          <a:lstStyle/>
          <a:p>
            <a:pPr algn="r">
              <a:spcAft>
                <a:spcPts val="600"/>
              </a:spcAft>
            </a:pPr>
            <a:r>
              <a:rPr sz="1100" b="0">
                <a:solidFill>
                  <a:srgbClr val="5D6778"/>
                </a:solidFill>
                <a:latin typeface="Segoe UI"/>
              </a:rPr>
              <a:t>5</a:t>
            </a:r>
          </a:p>
        </p:txBody>
      </p:sp>
      <p:sp>
        <p:nvSpPr>
          <p:cNvPr id="5" name="TextBox 4"/>
          <p:cNvSpPr txBox="1"/>
          <p:nvPr/>
        </p:nvSpPr>
        <p:spPr>
          <a:xfrm>
            <a:off x="640080" y="411480"/>
            <a:ext cx="10911535" cy="822960"/>
          </a:xfrm>
          <a:prstGeom prst="rect">
            <a:avLst/>
          </a:prstGeom>
          <a:noFill/>
        </p:spPr>
        <p:txBody>
          <a:bodyPr wrap="square" anchor="ctr" lIns="0" rIns="0" tIns="0" bIns="0">
            <a:spAutoFit/>
          </a:bodyPr>
          <a:lstStyle/>
          <a:p>
            <a:pPr>
              <a:spcAft>
                <a:spcPts val="600"/>
              </a:spcAft>
            </a:pPr>
            <a:r>
              <a:rPr sz="3200" b="1">
                <a:solidFill>
                  <a:srgbClr val="1C2330"/>
                </a:solidFill>
                <a:latin typeface="Segoe UI"/>
              </a:rPr>
              <a:t>Tool: your own exception</a:t>
            </a:r>
          </a:p>
        </p:txBody>
      </p:sp>
      <p:sp>
        <p:nvSpPr>
          <p:cNvPr id="6" name="Rounded Rectangle 5"/>
          <p:cNvSpPr/>
          <p:nvPr/>
        </p:nvSpPr>
        <p:spPr>
          <a:xfrm>
            <a:off x="640080" y="1463040"/>
            <a:ext cx="10911535" cy="3438144"/>
          </a:xfrm>
          <a:prstGeom prst="roundRect">
            <a:avLst>
              <a:gd name="adj" fmla="val 6000"/>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64208"/>
            <a:ext cx="10362895" cy="3072384"/>
          </a:xfrm>
          <a:prstGeom prst="rect">
            <a:avLst/>
          </a:prstGeom>
          <a:noFill/>
        </p:spPr>
        <p:txBody>
          <a:bodyPr wrap="square" anchor="t" lIns="0" rIns="0" tIns="0" bIns="0">
            <a:spAutoFit/>
          </a:bodyPr>
          <a:lstStyle/>
          <a:p>
            <a:pPr>
              <a:lnSpc>
                <a:spcPct val="110000"/>
              </a:lnSpc>
            </a:pPr>
            <a:r>
              <a:rPr sz="1600">
                <a:solidFill>
                  <a:srgbClr val="C586C0"/>
                </a:solidFill>
                <a:latin typeface="Consolas"/>
              </a:rPr>
              <a:t>class</a:t>
            </a:r>
            <a:r>
              <a:rPr sz="1600">
                <a:solidFill>
                  <a:srgbClr val="D4D4D4"/>
                </a:solidFill>
                <a:latin typeface="Consolas"/>
              </a:rPr>
              <a:t> </a:t>
            </a:r>
            <a:r>
              <a:rPr sz="1600">
                <a:solidFill>
                  <a:srgbClr val="4EC9B0"/>
                </a:solidFill>
                <a:latin typeface="Consolas"/>
              </a:rPr>
              <a:t>TooCold</a:t>
            </a:r>
            <a:r>
              <a:rPr sz="1600">
                <a:solidFill>
                  <a:srgbClr val="D4D4D4"/>
                </a:solidFill>
                <a:latin typeface="Consolas"/>
              </a:rPr>
              <a:t>(</a:t>
            </a:r>
            <a:r>
              <a:rPr sz="1600">
                <a:solidFill>
                  <a:srgbClr val="9CDCFE"/>
                </a:solidFill>
                <a:latin typeface="Consolas"/>
              </a:rPr>
              <a:t>Exception</a:t>
            </a:r>
            <a:r>
              <a:rPr sz="1600">
                <a:solidFill>
                  <a:srgbClr val="D4D4D4"/>
                </a:solidFill>
                <a:latin typeface="Consolas"/>
              </a:rPr>
              <a:t>)</a:t>
            </a:r>
            <a:r>
              <a:rPr sz="1600">
                <a:solidFill>
                  <a:srgbClr val="D4D4D4"/>
                </a:solidFill>
                <a:latin typeface="Consolas"/>
              </a:rPr>
              <a:t>:</a:t>
            </a:r>
            <a:r>
              <a:rPr sz="1600">
                <a:solidFill>
                  <a:srgbClr val="D4D4D4"/>
                </a:solidFill>
                <a:latin typeface="Consolas"/>
              </a:rPr>
              <a:t>     </a:t>
            </a:r>
            <a:r>
              <a:rPr sz="1600">
                <a:solidFill>
                  <a:srgbClr val="6A9955"/>
                </a:solidFill>
                <a:latin typeface="Consolas"/>
              </a:rPr>
              <a:t># like InsufficientFunds in your file</a:t>
            </a:r>
          </a:p>
          <a:p>
            <a:pPr>
              <a:lnSpc>
                <a:spcPct val="110000"/>
              </a:lnSpc>
            </a:pPr>
            <a:r>
              <a:rPr sz="1600">
                <a:solidFill>
                  <a:srgbClr val="D4D4D4"/>
                </a:solidFill>
                <a:latin typeface="Consolas"/>
              </a:rPr>
              <a:t>    </a:t>
            </a:r>
            <a:r>
              <a:rPr sz="1600">
                <a:solidFill>
                  <a:srgbClr val="C586C0"/>
                </a:solidFill>
                <a:latin typeface="Consolas"/>
              </a:rPr>
              <a:t>pass</a:t>
            </a:r>
          </a:p>
          <a:p>
            <a:pPr>
              <a:lnSpc>
                <a:spcPct val="110000"/>
              </a:lnSpc>
            </a:pPr>
          </a:p>
          <a:p>
            <a:pPr>
              <a:lnSpc>
                <a:spcPct val="110000"/>
              </a:lnSpc>
            </a:pPr>
            <a:r>
              <a:rPr sz="1600">
                <a:solidFill>
                  <a:srgbClr val="C586C0"/>
                </a:solidFill>
                <a:latin typeface="Consolas"/>
              </a:rPr>
              <a:t>def</a:t>
            </a:r>
            <a:r>
              <a:rPr sz="1600">
                <a:solidFill>
                  <a:srgbClr val="D4D4D4"/>
                </a:solidFill>
                <a:latin typeface="Consolas"/>
              </a:rPr>
              <a:t> </a:t>
            </a:r>
            <a:r>
              <a:rPr sz="1600">
                <a:solidFill>
                  <a:srgbClr val="DCDCAA"/>
                </a:solidFill>
                <a:latin typeface="Consolas"/>
              </a:rPr>
              <a:t>check_temperature</a:t>
            </a:r>
            <a:r>
              <a:rPr sz="1600">
                <a:solidFill>
                  <a:srgbClr val="D4D4D4"/>
                </a:solidFill>
                <a:latin typeface="Consolas"/>
              </a:rPr>
              <a:t>(</a:t>
            </a:r>
            <a:r>
              <a:rPr sz="1600">
                <a:solidFill>
                  <a:srgbClr val="9CDCFE"/>
                </a:solidFill>
                <a:latin typeface="Consolas"/>
              </a:rPr>
              <a:t>degrees</a:t>
            </a:r>
            <a:r>
              <a:rPr sz="1600">
                <a:solidFill>
                  <a:srgbClr val="D4D4D4"/>
                </a:solidFill>
                <a:latin typeface="Consolas"/>
              </a:rPr>
              <a:t>)</a:t>
            </a:r>
            <a:r>
              <a:rPr sz="1600">
                <a:solidFill>
                  <a:srgbClr val="D4D4D4"/>
                </a:solidFill>
                <a:latin typeface="Consolas"/>
              </a:rPr>
              <a:t>:</a:t>
            </a:r>
          </a:p>
          <a:p>
            <a:pPr>
              <a:lnSpc>
                <a:spcPct val="110000"/>
              </a:lnSpc>
            </a:pPr>
            <a:r>
              <a:rPr sz="1600">
                <a:solidFill>
                  <a:srgbClr val="D4D4D4"/>
                </a:solidFill>
                <a:latin typeface="Consolas"/>
              </a:rPr>
              <a:t>    </a:t>
            </a:r>
            <a:r>
              <a:rPr sz="1600">
                <a:solidFill>
                  <a:srgbClr val="C586C0"/>
                </a:solidFill>
                <a:latin typeface="Consolas"/>
              </a:rPr>
              <a:t>if</a:t>
            </a:r>
            <a:r>
              <a:rPr sz="1600">
                <a:solidFill>
                  <a:srgbClr val="D4D4D4"/>
                </a:solidFill>
                <a:latin typeface="Consolas"/>
              </a:rPr>
              <a:t> </a:t>
            </a:r>
            <a:r>
              <a:rPr sz="1600">
                <a:solidFill>
                  <a:srgbClr val="9CDCFE"/>
                </a:solidFill>
                <a:latin typeface="Consolas"/>
              </a:rPr>
              <a:t>degrees</a:t>
            </a:r>
            <a:r>
              <a:rPr sz="1600">
                <a:solidFill>
                  <a:srgbClr val="D4D4D4"/>
                </a:solidFill>
                <a:latin typeface="Consolas"/>
              </a:rPr>
              <a:t> </a:t>
            </a:r>
            <a:r>
              <a:rPr sz="1600">
                <a:solidFill>
                  <a:srgbClr val="D4D4D4"/>
                </a:solidFill>
                <a:latin typeface="Consolas"/>
              </a:rPr>
              <a:t>&lt;</a:t>
            </a:r>
            <a:r>
              <a:rPr sz="1600">
                <a:solidFill>
                  <a:srgbClr val="D4D4D4"/>
                </a:solidFill>
                <a:latin typeface="Consolas"/>
              </a:rPr>
              <a:t> </a:t>
            </a:r>
            <a:r>
              <a:rPr sz="1600">
                <a:solidFill>
                  <a:srgbClr val="B5CEA8"/>
                </a:solidFill>
                <a:latin typeface="Consolas"/>
              </a:rPr>
              <a:t>5</a:t>
            </a:r>
            <a:r>
              <a:rPr sz="1600">
                <a:solidFill>
                  <a:srgbClr val="D4D4D4"/>
                </a:solidFill>
                <a:latin typeface="Consolas"/>
              </a:rPr>
              <a:t>:</a:t>
            </a:r>
          </a:p>
          <a:p>
            <a:pPr>
              <a:lnSpc>
                <a:spcPct val="110000"/>
              </a:lnSpc>
            </a:pPr>
            <a:r>
              <a:rPr sz="1600">
                <a:solidFill>
                  <a:srgbClr val="D4D4D4"/>
                </a:solidFill>
                <a:latin typeface="Consolas"/>
              </a:rPr>
              <a:t>        </a:t>
            </a:r>
            <a:r>
              <a:rPr sz="1600">
                <a:solidFill>
                  <a:srgbClr val="C586C0"/>
                </a:solidFill>
                <a:latin typeface="Consolas"/>
              </a:rPr>
              <a:t>raise</a:t>
            </a:r>
            <a:r>
              <a:rPr sz="1600">
                <a:solidFill>
                  <a:srgbClr val="D4D4D4"/>
                </a:solidFill>
                <a:latin typeface="Consolas"/>
              </a:rPr>
              <a:t> </a:t>
            </a:r>
            <a:r>
              <a:rPr sz="1600">
                <a:solidFill>
                  <a:srgbClr val="9CDCFE"/>
                </a:solidFill>
                <a:latin typeface="Consolas"/>
              </a:rPr>
              <a:t>TooCold</a:t>
            </a:r>
            <a:r>
              <a:rPr sz="1600">
                <a:solidFill>
                  <a:srgbClr val="D4D4D4"/>
                </a:solidFill>
                <a:latin typeface="Consolas"/>
              </a:rPr>
              <a:t>(</a:t>
            </a:r>
            <a:r>
              <a:rPr sz="1600">
                <a:solidFill>
                  <a:srgbClr val="CE9178"/>
                </a:solidFill>
                <a:latin typeface="Consolas"/>
              </a:rPr>
              <a:t>f</a:t>
            </a:r>
            <a:r>
              <a:rPr sz="1600">
                <a:solidFill>
                  <a:srgbClr val="CE9178"/>
                </a:solidFill>
                <a:latin typeface="Consolas"/>
              </a:rPr>
              <a:t>"</a:t>
            </a:r>
            <a:r>
              <a:rPr sz="1600">
                <a:solidFill>
                  <a:srgbClr val="CE9178"/>
                </a:solidFill>
                <a:latin typeface="Consolas"/>
              </a:rPr>
              <a:t>{</a:t>
            </a:r>
            <a:r>
              <a:rPr sz="1600">
                <a:solidFill>
                  <a:srgbClr val="9CDCFE"/>
                </a:solidFill>
                <a:latin typeface="Consolas"/>
              </a:rPr>
              <a:t>degrees</a:t>
            </a:r>
            <a:r>
              <a:rPr sz="1600">
                <a:solidFill>
                  <a:srgbClr val="CE9178"/>
                </a:solidFill>
                <a:latin typeface="Consolas"/>
              </a:rPr>
              <a:t>}</a:t>
            </a:r>
            <a:r>
              <a:rPr sz="1600">
                <a:solidFill>
                  <a:srgbClr val="CE9178"/>
                </a:solidFill>
                <a:latin typeface="Consolas"/>
              </a:rPr>
              <a:t> degrees is too cold to plant seeds</a:t>
            </a:r>
            <a:r>
              <a:rPr sz="1600">
                <a:solidFill>
                  <a:srgbClr val="CE9178"/>
                </a:solidFill>
                <a:latin typeface="Consolas"/>
              </a:rPr>
              <a:t>"</a:t>
            </a:r>
            <a:r>
              <a:rPr sz="1600">
                <a:solidFill>
                  <a:srgbClr val="D4D4D4"/>
                </a:solidFill>
                <a:latin typeface="Consolas"/>
              </a:rPr>
              <a:t>)</a:t>
            </a:r>
          </a:p>
          <a:p>
            <a:pPr>
              <a:lnSpc>
                <a:spcPct val="110000"/>
              </a:lnSpc>
            </a:pPr>
            <a:r>
              <a:rPr sz="1600">
                <a:solidFill>
                  <a:srgbClr val="D4D4D4"/>
                </a:solidFill>
                <a:latin typeface="Consolas"/>
              </a:rPr>
              <a:t>    </a:t>
            </a:r>
            <a:r>
              <a:rPr sz="1600">
                <a:solidFill>
                  <a:srgbClr val="C586C0"/>
                </a:solidFill>
                <a:latin typeface="Consolas"/>
              </a:rPr>
              <a:t>return</a:t>
            </a:r>
            <a:r>
              <a:rPr sz="1600">
                <a:solidFill>
                  <a:srgbClr val="D4D4D4"/>
                </a:solidFill>
                <a:latin typeface="Consolas"/>
              </a:rPr>
              <a:t> </a:t>
            </a:r>
            <a:r>
              <a:rPr sz="1600">
                <a:solidFill>
                  <a:srgbClr val="CE9178"/>
                </a:solidFill>
                <a:latin typeface="Consolas"/>
              </a:rPr>
              <a:t>"</a:t>
            </a:r>
            <a:r>
              <a:rPr sz="1600">
                <a:solidFill>
                  <a:srgbClr val="CE9178"/>
                </a:solidFill>
                <a:latin typeface="Consolas"/>
              </a:rPr>
              <a:t>ok</a:t>
            </a:r>
            <a:r>
              <a:rPr sz="1600">
                <a:solidFill>
                  <a:srgbClr val="CE9178"/>
                </a:solidFill>
                <a:latin typeface="Consolas"/>
              </a:rPr>
              <a:t>"</a:t>
            </a:r>
          </a:p>
          <a:p>
            <a:pPr>
              <a:lnSpc>
                <a:spcPct val="110000"/>
              </a:lnSpc>
            </a:pPr>
          </a:p>
          <a:p>
            <a:pPr>
              <a:lnSpc>
                <a:spcPct val="110000"/>
              </a:lnSpc>
            </a:pPr>
            <a:r>
              <a:rPr sz="1600">
                <a:solidFill>
                  <a:srgbClr val="4EC9B0"/>
                </a:solidFill>
                <a:latin typeface="Consolas"/>
              </a:rPr>
              <a:t>print</a:t>
            </a:r>
            <a:r>
              <a:rPr sz="1600">
                <a:solidFill>
                  <a:srgbClr val="D4D4D4"/>
                </a:solidFill>
                <a:latin typeface="Consolas"/>
              </a:rPr>
              <a:t>(</a:t>
            </a:r>
            <a:r>
              <a:rPr sz="1600">
                <a:solidFill>
                  <a:srgbClr val="9CDCFE"/>
                </a:solidFill>
                <a:latin typeface="Consolas"/>
              </a:rPr>
              <a:t>check_temperature</a:t>
            </a:r>
            <a:r>
              <a:rPr sz="1600">
                <a:solidFill>
                  <a:srgbClr val="D4D4D4"/>
                </a:solidFill>
                <a:latin typeface="Consolas"/>
              </a:rPr>
              <a:t>(</a:t>
            </a:r>
            <a:r>
              <a:rPr sz="1600">
                <a:solidFill>
                  <a:srgbClr val="B5CEA8"/>
                </a:solidFill>
                <a:latin typeface="Consolas"/>
              </a:rPr>
              <a:t>12</a:t>
            </a:r>
            <a:r>
              <a:rPr sz="1600">
                <a:solidFill>
                  <a:srgbClr val="D4D4D4"/>
                </a:solidFill>
                <a:latin typeface="Consolas"/>
              </a:rPr>
              <a:t>)</a:t>
            </a:r>
            <a:r>
              <a:rPr sz="1600">
                <a:solidFill>
                  <a:srgbClr val="D4D4D4"/>
                </a:solidFill>
                <a:latin typeface="Consolas"/>
              </a:rPr>
              <a:t>)</a:t>
            </a:r>
          </a:p>
          <a:p>
            <a:pPr>
              <a:lnSpc>
                <a:spcPct val="110000"/>
              </a:lnSpc>
            </a:pPr>
            <a:r>
              <a:rPr sz="1600">
                <a:solidFill>
                  <a:srgbClr val="9CDCFE"/>
                </a:solidFill>
                <a:latin typeface="Consolas"/>
              </a:rPr>
              <a:t>check_temperature</a:t>
            </a:r>
            <a:r>
              <a:rPr sz="1600">
                <a:solidFill>
                  <a:srgbClr val="D4D4D4"/>
                </a:solidFill>
                <a:latin typeface="Consolas"/>
              </a:rPr>
              <a:t>(</a:t>
            </a:r>
            <a:r>
              <a:rPr sz="1600">
                <a:solidFill>
                  <a:srgbClr val="B5CEA8"/>
                </a:solidFill>
                <a:latin typeface="Consolas"/>
              </a:rPr>
              <a:t>2</a:t>
            </a:r>
            <a:r>
              <a:rPr sz="1600">
                <a:solidFill>
                  <a:srgbClr val="D4D4D4"/>
                </a:solidFill>
                <a:latin typeface="Consolas"/>
              </a:rPr>
              <a:t>)</a:t>
            </a:r>
          </a:p>
          <a:p>
            <a:pPr>
              <a:lnSpc>
                <a:spcPct val="110000"/>
              </a:lnSpc>
            </a:pPr>
          </a:p>
        </p:txBody>
      </p:sp>
      <p:sp>
        <p:nvSpPr>
          <p:cNvPr id="8" name="Rounded Rectangle 7"/>
          <p:cNvSpPr/>
          <p:nvPr/>
        </p:nvSpPr>
        <p:spPr>
          <a:xfrm>
            <a:off x="640080" y="5084064"/>
            <a:ext cx="10911535" cy="1088136"/>
          </a:xfrm>
          <a:prstGeom prst="roundRect">
            <a:avLst>
              <a:gd name="adj" fmla="val 6000"/>
            </a:avLst>
          </a:prstGeom>
          <a:solidFill>
            <a:srgbClr val="2A2D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285232"/>
            <a:ext cx="10362895" cy="722376"/>
          </a:xfrm>
          <a:prstGeom prst="rect">
            <a:avLst/>
          </a:prstGeom>
          <a:noFill/>
        </p:spPr>
        <p:txBody>
          <a:bodyPr wrap="square" anchor="t" lIns="0" rIns="0" tIns="0" bIns="0">
            <a:spAutoFit/>
          </a:bodyPr>
          <a:lstStyle/>
          <a:p>
            <a:pPr>
              <a:spcAft>
                <a:spcPts val="400"/>
              </a:spcAft>
            </a:pPr>
            <a:r>
              <a:rPr sz="1100" b="1">
                <a:solidFill>
                  <a:srgbClr val="9AA4B5"/>
                </a:solidFill>
                <a:latin typeface="Segoe UI"/>
              </a:rPr>
              <a:t>OUTPUT</a:t>
            </a:r>
          </a:p>
          <a:p>
            <a:pPr>
              <a:lnSpc>
                <a:spcPct val="110000"/>
              </a:lnSpc>
            </a:pPr>
            <a:r>
              <a:rPr sz="1800">
                <a:solidFill>
                  <a:srgbClr val="D4D4D4"/>
                </a:solidFill>
                <a:latin typeface="Consolas"/>
              </a:rPr>
              <a:t>ok</a:t>
            </a:r>
          </a:p>
          <a:p>
            <a:pPr>
              <a:lnSpc>
                <a:spcPct val="110000"/>
              </a:lnSpc>
            </a:pPr>
            <a:r>
              <a:rPr sz="1800">
                <a:solidFill>
                  <a:srgbClr val="D4D4D4"/>
                </a:solidFill>
                <a:latin typeface="Consolas"/>
              </a:rPr>
              <a:t>TooCold</a:t>
            </a:r>
            <a:r>
              <a:rPr sz="1800">
                <a:solidFill>
                  <a:srgbClr val="D4D4D4"/>
                </a:solidFill>
                <a:latin typeface="Consolas"/>
              </a:rPr>
              <a:t>:</a:t>
            </a:r>
            <a:r>
              <a:rPr sz="1800">
                <a:solidFill>
                  <a:srgbClr val="D4D4D4"/>
                </a:solidFill>
                <a:latin typeface="Consolas"/>
              </a:rPr>
              <a:t> </a:t>
            </a:r>
            <a:r>
              <a:rPr sz="1800">
                <a:solidFill>
                  <a:srgbClr val="D4D4D4"/>
                </a:solidFill>
                <a:latin typeface="Consolas"/>
              </a:rPr>
              <a:t>2</a:t>
            </a:r>
            <a:r>
              <a:rPr sz="1800">
                <a:solidFill>
                  <a:srgbClr val="D4D4D4"/>
                </a:solidFill>
                <a:latin typeface="Consolas"/>
              </a:rPr>
              <a:t> </a:t>
            </a:r>
            <a:r>
              <a:rPr sz="1800">
                <a:solidFill>
                  <a:srgbClr val="D4D4D4"/>
                </a:solidFill>
                <a:latin typeface="Consolas"/>
              </a:rPr>
              <a:t>degrees</a:t>
            </a:r>
            <a:r>
              <a:rPr sz="1800">
                <a:solidFill>
                  <a:srgbClr val="D4D4D4"/>
                </a:solidFill>
                <a:latin typeface="Consolas"/>
              </a:rPr>
              <a:t> </a:t>
            </a:r>
            <a:r>
              <a:rPr sz="1800">
                <a:solidFill>
                  <a:srgbClr val="D4D4D4"/>
                </a:solidFill>
                <a:latin typeface="Consolas"/>
              </a:rPr>
              <a:t>is</a:t>
            </a:r>
            <a:r>
              <a:rPr sz="1800">
                <a:solidFill>
                  <a:srgbClr val="D4D4D4"/>
                </a:solidFill>
                <a:latin typeface="Consolas"/>
              </a:rPr>
              <a:t> </a:t>
            </a:r>
            <a:r>
              <a:rPr sz="1800">
                <a:solidFill>
                  <a:srgbClr val="D4D4D4"/>
                </a:solidFill>
                <a:latin typeface="Consolas"/>
              </a:rPr>
              <a:t>too</a:t>
            </a:r>
            <a:r>
              <a:rPr sz="1800">
                <a:solidFill>
                  <a:srgbClr val="D4D4D4"/>
                </a:solidFill>
                <a:latin typeface="Consolas"/>
              </a:rPr>
              <a:t> </a:t>
            </a:r>
            <a:r>
              <a:rPr sz="1800">
                <a:solidFill>
                  <a:srgbClr val="D4D4D4"/>
                </a:solidFill>
                <a:latin typeface="Consolas"/>
              </a:rPr>
              <a:t>cold</a:t>
            </a:r>
            <a:r>
              <a:rPr sz="1800">
                <a:solidFill>
                  <a:srgbClr val="D4D4D4"/>
                </a:solidFill>
                <a:latin typeface="Consolas"/>
              </a:rPr>
              <a:t> </a:t>
            </a:r>
            <a:r>
              <a:rPr sz="1800">
                <a:solidFill>
                  <a:srgbClr val="D4D4D4"/>
                </a:solidFill>
                <a:latin typeface="Consolas"/>
              </a:rPr>
              <a:t>to</a:t>
            </a:r>
            <a:r>
              <a:rPr sz="1800">
                <a:solidFill>
                  <a:srgbClr val="D4D4D4"/>
                </a:solidFill>
                <a:latin typeface="Consolas"/>
              </a:rPr>
              <a:t> </a:t>
            </a:r>
            <a:r>
              <a:rPr sz="1800">
                <a:solidFill>
                  <a:srgbClr val="D4D4D4"/>
                </a:solidFill>
                <a:latin typeface="Consolas"/>
              </a:rPr>
              <a:t>plant</a:t>
            </a:r>
            <a:r>
              <a:rPr sz="1800">
                <a:solidFill>
                  <a:srgbClr val="D4D4D4"/>
                </a:solidFill>
                <a:latin typeface="Consolas"/>
              </a:rPr>
              <a:t> </a:t>
            </a:r>
            <a:r>
              <a:rPr sz="1800">
                <a:solidFill>
                  <a:srgbClr val="D4D4D4"/>
                </a:solidFill>
                <a:latin typeface="Consolas"/>
              </a:rPr>
              <a:t>seeds</a:t>
            </a:r>
          </a:p>
          <a:p>
            <a:pPr>
              <a:lnSpc>
                <a:spcPct val="110000"/>
              </a:lnSpc>
            </a:pP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8A4F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0"/>
            <a:ext cx="10911535" cy="274320"/>
          </a:xfrm>
          <a:prstGeom prst="rect">
            <a:avLst/>
          </a:prstGeom>
          <a:noFill/>
        </p:spPr>
        <p:txBody>
          <a:bodyPr wrap="square" anchor="t" lIns="0" rIns="0" tIns="0" bIns="0">
            <a:spAutoFit/>
          </a:bodyPr>
          <a:lstStyle/>
          <a:p>
            <a:pPr>
              <a:spcAft>
                <a:spcPts val="600"/>
              </a:spcAft>
            </a:pPr>
            <a:r>
              <a:rPr sz="1100" b="0">
                <a:solidFill>
                  <a:srgbClr val="5D6778"/>
                </a:solidFill>
                <a:latin typeface="Segoe UI"/>
              </a:rPr>
              <a:t>Backend Lab  ·  Exercise 13  ·  All or nothing: transactions</a:t>
            </a:r>
          </a:p>
        </p:txBody>
      </p:sp>
      <p:sp>
        <p:nvSpPr>
          <p:cNvPr id="4" name="TextBox 3"/>
          <p:cNvSpPr txBox="1"/>
          <p:nvPr/>
        </p:nvSpPr>
        <p:spPr>
          <a:xfrm>
            <a:off x="10637215" y="6400800"/>
            <a:ext cx="914400" cy="274320"/>
          </a:xfrm>
          <a:prstGeom prst="rect">
            <a:avLst/>
          </a:prstGeom>
          <a:noFill/>
        </p:spPr>
        <p:txBody>
          <a:bodyPr wrap="square" anchor="t" lIns="0" rIns="0" tIns="0" bIns="0">
            <a:spAutoFit/>
          </a:bodyPr>
          <a:lstStyle/>
          <a:p>
            <a:pPr algn="r">
              <a:spcAft>
                <a:spcPts val="600"/>
              </a:spcAft>
            </a:pPr>
            <a:r>
              <a:rPr sz="1100" b="0">
                <a:solidFill>
                  <a:srgbClr val="5D6778"/>
                </a:solidFill>
                <a:latin typeface="Segoe UI"/>
              </a:rPr>
              <a:t>6</a:t>
            </a:r>
          </a:p>
        </p:txBody>
      </p:sp>
      <p:sp>
        <p:nvSpPr>
          <p:cNvPr id="5" name="TextBox 4"/>
          <p:cNvSpPr txBox="1"/>
          <p:nvPr/>
        </p:nvSpPr>
        <p:spPr>
          <a:xfrm>
            <a:off x="640080" y="411480"/>
            <a:ext cx="10911535" cy="822960"/>
          </a:xfrm>
          <a:prstGeom prst="rect">
            <a:avLst/>
          </a:prstGeom>
          <a:noFill/>
        </p:spPr>
        <p:txBody>
          <a:bodyPr wrap="square" anchor="ctr" lIns="0" rIns="0" tIns="0" bIns="0">
            <a:spAutoFit/>
          </a:bodyPr>
          <a:lstStyle/>
          <a:p>
            <a:pPr>
              <a:spcAft>
                <a:spcPts val="600"/>
              </a:spcAft>
            </a:pPr>
            <a:r>
              <a:rPr sz="3200" b="1">
                <a:solidFill>
                  <a:srgbClr val="1C2330"/>
                </a:solidFill>
                <a:latin typeface="Segoe UI"/>
              </a:rPr>
              <a:t>Tool: isinstance for the amount</a:t>
            </a:r>
          </a:p>
        </p:txBody>
      </p:sp>
      <p:sp>
        <p:nvSpPr>
          <p:cNvPr id="6" name="TextBox 5"/>
          <p:cNvSpPr txBox="1"/>
          <p:nvPr/>
        </p:nvSpPr>
        <p:spPr>
          <a:xfrm>
            <a:off x="640080" y="1463040"/>
            <a:ext cx="10911535" cy="822960"/>
          </a:xfrm>
          <a:prstGeom prst="rect">
            <a:avLst/>
          </a:prstGeom>
          <a:noFill/>
        </p:spPr>
        <p:txBody>
          <a:bodyPr wrap="square" anchor="t" lIns="0" rIns="0" tIns="0" bIns="0">
            <a:spAutoFit/>
          </a:bodyPr>
          <a:lstStyle/>
          <a:p>
            <a:pPr>
              <a:spcAft>
                <a:spcPts val="600"/>
              </a:spcAft>
            </a:pPr>
            <a:r>
              <a:rPr sz="2000" b="0">
                <a:solidFill>
                  <a:srgbClr val="1C2330"/>
                </a:solidFill>
                <a:latin typeface="Segoe UI"/>
              </a:rPr>
              <a:t>Check the </a:t>
            </a:r>
            <a:r>
              <a:rPr sz="2000" b="1">
                <a:solidFill>
                  <a:srgbClr val="1C2330"/>
                </a:solidFill>
                <a:latin typeface="Segoe UI"/>
              </a:rPr>
              <a:t>type</a:t>
            </a:r>
            <a:r>
              <a:rPr sz="2000" b="0">
                <a:solidFill>
                  <a:srgbClr val="1C2330"/>
                </a:solidFill>
                <a:latin typeface="Segoe UI"/>
              </a:rPr>
              <a:t> first: </a:t>
            </a:r>
            <a:r>
              <a:rPr sz="2000" b="0">
                <a:solidFill>
                  <a:srgbClr val="6A3FC0"/>
                </a:solidFill>
                <a:latin typeface="Consolas"/>
              </a:rPr>
              <a:t>"100" &lt;= 0</a:t>
            </a:r>
            <a:r>
              <a:rPr sz="2000" b="0">
                <a:solidFill>
                  <a:srgbClr val="1C2330"/>
                </a:solidFill>
                <a:latin typeface="Segoe UI"/>
              </a:rPr>
              <a:t> would crash with a </a:t>
            </a:r>
            <a:r>
              <a:rPr sz="2000" b="0">
                <a:solidFill>
                  <a:srgbClr val="6A3FC0"/>
                </a:solidFill>
                <a:latin typeface="Consolas"/>
              </a:rPr>
              <a:t>TypeError</a:t>
            </a:r>
            <a:r>
              <a:rPr sz="2000" b="0">
                <a:solidFill>
                  <a:srgbClr val="1C2330"/>
                </a:solidFill>
                <a:latin typeface="Segoe UI"/>
              </a:rPr>
              <a:t>.</a:t>
            </a:r>
          </a:p>
        </p:txBody>
      </p:sp>
      <p:sp>
        <p:nvSpPr>
          <p:cNvPr id="7" name="Rounded Rectangle 6"/>
          <p:cNvSpPr/>
          <p:nvPr/>
        </p:nvSpPr>
        <p:spPr>
          <a:xfrm>
            <a:off x="640080" y="2331720"/>
            <a:ext cx="10911535" cy="1984248"/>
          </a:xfrm>
          <a:prstGeom prst="roundRect">
            <a:avLst>
              <a:gd name="adj" fmla="val 6000"/>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532888"/>
            <a:ext cx="10362895" cy="1618488"/>
          </a:xfrm>
          <a:prstGeom prst="rect">
            <a:avLst/>
          </a:prstGeom>
          <a:noFill/>
        </p:spPr>
        <p:txBody>
          <a:bodyPr wrap="square" anchor="t" lIns="0" rIns="0" tIns="0" bIns="0">
            <a:spAutoFit/>
          </a:bodyPr>
          <a:lstStyle/>
          <a:p>
            <a:pPr>
              <a:lnSpc>
                <a:spcPct val="110000"/>
              </a:lnSpc>
            </a:pPr>
            <a:r>
              <a:rPr sz="1800">
                <a:solidFill>
                  <a:srgbClr val="C586C0"/>
                </a:solidFill>
                <a:latin typeface="Consolas"/>
              </a:rPr>
              <a:t>for</a:t>
            </a:r>
            <a:r>
              <a:rPr sz="1800">
                <a:solidFill>
                  <a:srgbClr val="D4D4D4"/>
                </a:solidFill>
                <a:latin typeface="Consolas"/>
              </a:rPr>
              <a:t> </a:t>
            </a:r>
            <a:r>
              <a:rPr sz="1800">
                <a:solidFill>
                  <a:srgbClr val="9CDCFE"/>
                </a:solidFill>
                <a:latin typeface="Consolas"/>
              </a:rPr>
              <a:t>amount</a:t>
            </a:r>
            <a:r>
              <a:rPr sz="1800">
                <a:solidFill>
                  <a:srgbClr val="D4D4D4"/>
                </a:solidFill>
                <a:latin typeface="Consolas"/>
              </a:rPr>
              <a:t> </a:t>
            </a:r>
            <a:r>
              <a:rPr sz="1800">
                <a:solidFill>
                  <a:srgbClr val="C586C0"/>
                </a:solidFill>
                <a:latin typeface="Consolas"/>
              </a:rPr>
              <a:t>in</a:t>
            </a:r>
            <a:r>
              <a:rPr sz="1800">
                <a:solidFill>
                  <a:srgbClr val="D4D4D4"/>
                </a:solidFill>
                <a:latin typeface="Consolas"/>
              </a:rPr>
              <a:t> </a:t>
            </a:r>
            <a:r>
              <a:rPr sz="1800">
                <a:solidFill>
                  <a:srgbClr val="D4D4D4"/>
                </a:solidFill>
                <a:latin typeface="Consolas"/>
              </a:rPr>
              <a:t>[</a:t>
            </a:r>
            <a:r>
              <a:rPr sz="1800">
                <a:solidFill>
                  <a:srgbClr val="B5CEA8"/>
                </a:solidFill>
                <a:latin typeface="Consolas"/>
              </a:rPr>
              <a:t>250</a:t>
            </a:r>
            <a:r>
              <a:rPr sz="1800">
                <a:solidFill>
                  <a:srgbClr val="D4D4D4"/>
                </a:solidFill>
                <a:latin typeface="Consolas"/>
              </a:rPr>
              <a:t>,</a:t>
            </a:r>
            <a:r>
              <a:rPr sz="1800">
                <a:solidFill>
                  <a:srgbClr val="D4D4D4"/>
                </a:solidFill>
                <a:latin typeface="Consolas"/>
              </a:rPr>
              <a:t> </a:t>
            </a:r>
            <a:r>
              <a:rPr sz="1800">
                <a:solidFill>
                  <a:srgbClr val="B5CEA8"/>
                </a:solidFill>
                <a:latin typeface="Consolas"/>
              </a:rPr>
              <a:t>0</a:t>
            </a:r>
            <a:r>
              <a:rPr sz="1800">
                <a:solidFill>
                  <a:srgbClr val="D4D4D4"/>
                </a:solidFill>
                <a:latin typeface="Consolas"/>
              </a:rPr>
              <a:t>,</a:t>
            </a:r>
            <a:r>
              <a:rPr sz="1800">
                <a:solidFill>
                  <a:srgbClr val="D4D4D4"/>
                </a:solidFill>
                <a:latin typeface="Consolas"/>
              </a:rPr>
              <a:t> </a:t>
            </a:r>
            <a:r>
              <a:rPr sz="1800">
                <a:solidFill>
                  <a:srgbClr val="B5CEA8"/>
                </a:solidFill>
                <a:latin typeface="Consolas"/>
              </a:rPr>
              <a:t>12.5</a:t>
            </a:r>
            <a:r>
              <a:rPr sz="1800">
                <a:solidFill>
                  <a:srgbClr val="D4D4D4"/>
                </a:solidFill>
                <a:latin typeface="Consolas"/>
              </a:rPr>
              <a:t>,</a:t>
            </a:r>
            <a:r>
              <a:rPr sz="1800">
                <a:solidFill>
                  <a:srgbClr val="D4D4D4"/>
                </a:solidFill>
                <a:latin typeface="Consolas"/>
              </a:rPr>
              <a:t> </a:t>
            </a:r>
            <a:r>
              <a:rPr sz="1800">
                <a:solidFill>
                  <a:srgbClr val="CE9178"/>
                </a:solidFill>
                <a:latin typeface="Consolas"/>
              </a:rPr>
              <a:t>"</a:t>
            </a:r>
            <a:r>
              <a:rPr sz="1800">
                <a:solidFill>
                  <a:srgbClr val="CE9178"/>
                </a:solidFill>
                <a:latin typeface="Consolas"/>
              </a:rPr>
              <a:t>100</a:t>
            </a:r>
            <a:r>
              <a:rPr sz="1800">
                <a:solidFill>
                  <a:srgbClr val="CE9178"/>
                </a:solidFill>
                <a:latin typeface="Consolas"/>
              </a:rPr>
              <a:t>"</a:t>
            </a:r>
            <a:r>
              <a:rPr sz="1800">
                <a:solidFill>
                  <a:srgbClr val="D4D4D4"/>
                </a:solidFill>
                <a:latin typeface="Consolas"/>
              </a:rPr>
              <a:t>]</a:t>
            </a:r>
            <a:r>
              <a:rPr sz="1800">
                <a:solidFill>
                  <a:srgbClr val="D4D4D4"/>
                </a:solidFill>
                <a:latin typeface="Consolas"/>
              </a:rPr>
              <a:t>:</a:t>
            </a:r>
          </a:p>
          <a:p>
            <a:pPr>
              <a:lnSpc>
                <a:spcPct val="110000"/>
              </a:lnSpc>
            </a:pPr>
            <a:r>
              <a:rPr sz="1800">
                <a:solidFill>
                  <a:srgbClr val="D4D4D4"/>
                </a:solidFill>
                <a:latin typeface="Consolas"/>
              </a:rPr>
              <a:t>    </a:t>
            </a:r>
            <a:r>
              <a:rPr sz="1800">
                <a:solidFill>
                  <a:srgbClr val="9CDCFE"/>
                </a:solidFill>
                <a:latin typeface="Consolas"/>
              </a:rPr>
              <a:t>bad</a:t>
            </a:r>
            <a:r>
              <a:rPr sz="1800">
                <a:solidFill>
                  <a:srgbClr val="D4D4D4"/>
                </a:solidFill>
                <a:latin typeface="Consolas"/>
              </a:rPr>
              <a:t> </a:t>
            </a:r>
            <a:r>
              <a:rPr sz="1800">
                <a:solidFill>
                  <a:srgbClr val="D4D4D4"/>
                </a:solidFill>
                <a:latin typeface="Consolas"/>
              </a:rPr>
              <a:t>=</a:t>
            </a:r>
            <a:r>
              <a:rPr sz="1800">
                <a:solidFill>
                  <a:srgbClr val="D4D4D4"/>
                </a:solidFill>
                <a:latin typeface="Consolas"/>
              </a:rPr>
              <a:t> </a:t>
            </a:r>
            <a:r>
              <a:rPr sz="1800">
                <a:solidFill>
                  <a:srgbClr val="C586C0"/>
                </a:solidFill>
                <a:latin typeface="Consolas"/>
              </a:rPr>
              <a:t>not</a:t>
            </a:r>
            <a:r>
              <a:rPr sz="1800">
                <a:solidFill>
                  <a:srgbClr val="D4D4D4"/>
                </a:solidFill>
                <a:latin typeface="Consolas"/>
              </a:rPr>
              <a:t> </a:t>
            </a:r>
            <a:r>
              <a:rPr sz="1800">
                <a:solidFill>
                  <a:srgbClr val="4EC9B0"/>
                </a:solidFill>
                <a:latin typeface="Consolas"/>
              </a:rPr>
              <a:t>isinstance</a:t>
            </a:r>
            <a:r>
              <a:rPr sz="1800">
                <a:solidFill>
                  <a:srgbClr val="D4D4D4"/>
                </a:solidFill>
                <a:latin typeface="Consolas"/>
              </a:rPr>
              <a:t>(</a:t>
            </a:r>
            <a:r>
              <a:rPr sz="1800">
                <a:solidFill>
                  <a:srgbClr val="9CDCFE"/>
                </a:solidFill>
                <a:latin typeface="Consolas"/>
              </a:rPr>
              <a:t>amount</a:t>
            </a:r>
            <a:r>
              <a:rPr sz="1800">
                <a:solidFill>
                  <a:srgbClr val="D4D4D4"/>
                </a:solidFill>
                <a:latin typeface="Consolas"/>
              </a:rPr>
              <a:t>,</a:t>
            </a:r>
            <a:r>
              <a:rPr sz="1800">
                <a:solidFill>
                  <a:srgbClr val="D4D4D4"/>
                </a:solidFill>
                <a:latin typeface="Consolas"/>
              </a:rPr>
              <a:t> </a:t>
            </a:r>
            <a:r>
              <a:rPr sz="1800">
                <a:solidFill>
                  <a:srgbClr val="4EC9B0"/>
                </a:solidFill>
                <a:latin typeface="Consolas"/>
              </a:rPr>
              <a:t>int</a:t>
            </a:r>
            <a:r>
              <a:rPr sz="1800">
                <a:solidFill>
                  <a:srgbClr val="D4D4D4"/>
                </a:solidFill>
                <a:latin typeface="Consolas"/>
              </a:rPr>
              <a:t>)</a:t>
            </a:r>
            <a:r>
              <a:rPr sz="1800">
                <a:solidFill>
                  <a:srgbClr val="D4D4D4"/>
                </a:solidFill>
                <a:latin typeface="Consolas"/>
              </a:rPr>
              <a:t> </a:t>
            </a:r>
            <a:r>
              <a:rPr sz="1800">
                <a:solidFill>
                  <a:srgbClr val="C586C0"/>
                </a:solidFill>
                <a:latin typeface="Consolas"/>
              </a:rPr>
              <a:t>or</a:t>
            </a:r>
            <a:r>
              <a:rPr sz="1800">
                <a:solidFill>
                  <a:srgbClr val="D4D4D4"/>
                </a:solidFill>
                <a:latin typeface="Consolas"/>
              </a:rPr>
              <a:t> </a:t>
            </a:r>
            <a:r>
              <a:rPr sz="1800">
                <a:solidFill>
                  <a:srgbClr val="9CDCFE"/>
                </a:solidFill>
                <a:latin typeface="Consolas"/>
              </a:rPr>
              <a:t>amount</a:t>
            </a:r>
            <a:r>
              <a:rPr sz="1800">
                <a:solidFill>
                  <a:srgbClr val="D4D4D4"/>
                </a:solidFill>
                <a:latin typeface="Consolas"/>
              </a:rPr>
              <a:t> </a:t>
            </a:r>
            <a:r>
              <a:rPr sz="1800">
                <a:solidFill>
                  <a:srgbClr val="D4D4D4"/>
                </a:solidFill>
                <a:latin typeface="Consolas"/>
              </a:rPr>
              <a:t>&lt;</a:t>
            </a:r>
            <a:r>
              <a:rPr sz="1800">
                <a:solidFill>
                  <a:srgbClr val="D4D4D4"/>
                </a:solidFill>
                <a:latin typeface="Consolas"/>
              </a:rPr>
              <a:t>=</a:t>
            </a:r>
            <a:r>
              <a:rPr sz="1800">
                <a:solidFill>
                  <a:srgbClr val="D4D4D4"/>
                </a:solidFill>
                <a:latin typeface="Consolas"/>
              </a:rPr>
              <a:t> </a:t>
            </a:r>
            <a:r>
              <a:rPr sz="1800">
                <a:solidFill>
                  <a:srgbClr val="B5CEA8"/>
                </a:solidFill>
                <a:latin typeface="Consolas"/>
              </a:rPr>
              <a:t>0</a:t>
            </a:r>
          </a:p>
          <a:p>
            <a:pPr>
              <a:lnSpc>
                <a:spcPct val="110000"/>
              </a:lnSpc>
            </a:pPr>
            <a:r>
              <a:rPr sz="1800">
                <a:solidFill>
                  <a:srgbClr val="D4D4D4"/>
                </a:solidFill>
                <a:latin typeface="Consolas"/>
              </a:rPr>
              <a:t>    </a:t>
            </a:r>
            <a:r>
              <a:rPr sz="1800">
                <a:solidFill>
                  <a:srgbClr val="4EC9B0"/>
                </a:solidFill>
                <a:latin typeface="Consolas"/>
              </a:rPr>
              <a:t>print</a:t>
            </a:r>
            <a:r>
              <a:rPr sz="1800">
                <a:solidFill>
                  <a:srgbClr val="D4D4D4"/>
                </a:solidFill>
                <a:latin typeface="Consolas"/>
              </a:rPr>
              <a:t>(</a:t>
            </a:r>
            <a:r>
              <a:rPr sz="1800">
                <a:solidFill>
                  <a:srgbClr val="4EC9B0"/>
                </a:solidFill>
                <a:latin typeface="Consolas"/>
              </a:rPr>
              <a:t>repr</a:t>
            </a:r>
            <a:r>
              <a:rPr sz="1800">
                <a:solidFill>
                  <a:srgbClr val="D4D4D4"/>
                </a:solidFill>
                <a:latin typeface="Consolas"/>
              </a:rPr>
              <a:t>(</a:t>
            </a:r>
            <a:r>
              <a:rPr sz="1800">
                <a:solidFill>
                  <a:srgbClr val="9CDCFE"/>
                </a:solidFill>
                <a:latin typeface="Consolas"/>
              </a:rPr>
              <a:t>amount</a:t>
            </a:r>
            <a:r>
              <a:rPr sz="1800">
                <a:solidFill>
                  <a:srgbClr val="D4D4D4"/>
                </a:solidFill>
                <a:latin typeface="Consolas"/>
              </a:rPr>
              <a:t>)</a:t>
            </a:r>
            <a:r>
              <a:rPr sz="1800">
                <a:solidFill>
                  <a:srgbClr val="D4D4D4"/>
                </a:solidFill>
                <a:latin typeface="Consolas"/>
              </a:rPr>
              <a:t>,</a:t>
            </a:r>
            <a:r>
              <a:rPr sz="1800">
                <a:solidFill>
                  <a:srgbClr val="D4D4D4"/>
                </a:solidFill>
                <a:latin typeface="Consolas"/>
              </a:rPr>
              <a:t> </a:t>
            </a:r>
            <a:r>
              <a:rPr sz="1800">
                <a:solidFill>
                  <a:srgbClr val="CE9178"/>
                </a:solidFill>
                <a:latin typeface="Consolas"/>
              </a:rPr>
              <a:t>"</a:t>
            </a:r>
            <a:r>
              <a:rPr sz="1800">
                <a:solidFill>
                  <a:srgbClr val="CE9178"/>
                </a:solidFill>
                <a:latin typeface="Consolas"/>
              </a:rPr>
              <a:t>rejected</a:t>
            </a:r>
            <a:r>
              <a:rPr sz="1800">
                <a:solidFill>
                  <a:srgbClr val="CE9178"/>
                </a:solidFill>
                <a:latin typeface="Consolas"/>
              </a:rPr>
              <a:t>"</a:t>
            </a:r>
            <a:r>
              <a:rPr sz="1800">
                <a:solidFill>
                  <a:srgbClr val="D4D4D4"/>
                </a:solidFill>
                <a:latin typeface="Consolas"/>
              </a:rPr>
              <a:t> </a:t>
            </a:r>
            <a:r>
              <a:rPr sz="1800">
                <a:solidFill>
                  <a:srgbClr val="C586C0"/>
                </a:solidFill>
                <a:latin typeface="Consolas"/>
              </a:rPr>
              <a:t>if</a:t>
            </a:r>
            <a:r>
              <a:rPr sz="1800">
                <a:solidFill>
                  <a:srgbClr val="D4D4D4"/>
                </a:solidFill>
                <a:latin typeface="Consolas"/>
              </a:rPr>
              <a:t> </a:t>
            </a:r>
            <a:r>
              <a:rPr sz="1800">
                <a:solidFill>
                  <a:srgbClr val="9CDCFE"/>
                </a:solidFill>
                <a:latin typeface="Consolas"/>
              </a:rPr>
              <a:t>bad</a:t>
            </a:r>
            <a:r>
              <a:rPr sz="1800">
                <a:solidFill>
                  <a:srgbClr val="D4D4D4"/>
                </a:solidFill>
                <a:latin typeface="Consolas"/>
              </a:rPr>
              <a:t> </a:t>
            </a:r>
            <a:r>
              <a:rPr sz="1800">
                <a:solidFill>
                  <a:srgbClr val="C586C0"/>
                </a:solidFill>
                <a:latin typeface="Consolas"/>
              </a:rPr>
              <a:t>else</a:t>
            </a:r>
            <a:r>
              <a:rPr sz="1800">
                <a:solidFill>
                  <a:srgbClr val="D4D4D4"/>
                </a:solidFill>
                <a:latin typeface="Consolas"/>
              </a:rPr>
              <a:t> </a:t>
            </a:r>
            <a:r>
              <a:rPr sz="1800">
                <a:solidFill>
                  <a:srgbClr val="CE9178"/>
                </a:solidFill>
                <a:latin typeface="Consolas"/>
              </a:rPr>
              <a:t>"</a:t>
            </a:r>
            <a:r>
              <a:rPr sz="1800">
                <a:solidFill>
                  <a:srgbClr val="CE9178"/>
                </a:solidFill>
                <a:latin typeface="Consolas"/>
              </a:rPr>
              <a:t>ok</a:t>
            </a:r>
            <a:r>
              <a:rPr sz="1800">
                <a:solidFill>
                  <a:srgbClr val="CE9178"/>
                </a:solidFill>
                <a:latin typeface="Consolas"/>
              </a:rPr>
              <a:t>"</a:t>
            </a:r>
            <a:r>
              <a:rPr sz="1800">
                <a:solidFill>
                  <a:srgbClr val="D4D4D4"/>
                </a:solidFill>
                <a:latin typeface="Consolas"/>
              </a:rPr>
              <a:t>)</a:t>
            </a:r>
          </a:p>
          <a:p>
            <a:pPr>
              <a:lnSpc>
                <a:spcPct val="110000"/>
              </a:lnSpc>
            </a:pPr>
          </a:p>
        </p:txBody>
      </p:sp>
      <p:sp>
        <p:nvSpPr>
          <p:cNvPr id="9" name="Rounded Rectangle 8"/>
          <p:cNvSpPr/>
          <p:nvPr/>
        </p:nvSpPr>
        <p:spPr>
          <a:xfrm>
            <a:off x="640080" y="4498848"/>
            <a:ext cx="10911535" cy="1673352"/>
          </a:xfrm>
          <a:prstGeom prst="roundRect">
            <a:avLst>
              <a:gd name="adj" fmla="val 6000"/>
            </a:avLst>
          </a:prstGeom>
          <a:solidFill>
            <a:srgbClr val="2A2D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700016"/>
            <a:ext cx="10362895" cy="1307592"/>
          </a:xfrm>
          <a:prstGeom prst="rect">
            <a:avLst/>
          </a:prstGeom>
          <a:noFill/>
        </p:spPr>
        <p:txBody>
          <a:bodyPr wrap="square" anchor="t" lIns="0" rIns="0" tIns="0" bIns="0">
            <a:spAutoFit/>
          </a:bodyPr>
          <a:lstStyle/>
          <a:p>
            <a:pPr>
              <a:spcAft>
                <a:spcPts val="400"/>
              </a:spcAft>
            </a:pPr>
            <a:r>
              <a:rPr sz="1100" b="1">
                <a:solidFill>
                  <a:srgbClr val="9AA4B5"/>
                </a:solidFill>
                <a:latin typeface="Segoe UI"/>
              </a:rPr>
              <a:t>OUTPUT</a:t>
            </a:r>
          </a:p>
          <a:p>
            <a:pPr>
              <a:lnSpc>
                <a:spcPct val="110000"/>
              </a:lnSpc>
            </a:pPr>
            <a:r>
              <a:rPr sz="1800">
                <a:solidFill>
                  <a:srgbClr val="D4D4D4"/>
                </a:solidFill>
                <a:latin typeface="Consolas"/>
              </a:rPr>
              <a:t>250</a:t>
            </a:r>
            <a:r>
              <a:rPr sz="1800">
                <a:solidFill>
                  <a:srgbClr val="D4D4D4"/>
                </a:solidFill>
                <a:latin typeface="Consolas"/>
              </a:rPr>
              <a:t> </a:t>
            </a:r>
            <a:r>
              <a:rPr sz="1800">
                <a:solidFill>
                  <a:srgbClr val="D4D4D4"/>
                </a:solidFill>
                <a:latin typeface="Consolas"/>
              </a:rPr>
              <a:t>ok</a:t>
            </a:r>
          </a:p>
          <a:p>
            <a:pPr>
              <a:lnSpc>
                <a:spcPct val="110000"/>
              </a:lnSpc>
            </a:pPr>
            <a:r>
              <a:rPr sz="1800">
                <a:solidFill>
                  <a:srgbClr val="D4D4D4"/>
                </a:solidFill>
                <a:latin typeface="Consolas"/>
              </a:rPr>
              <a:t>0</a:t>
            </a:r>
            <a:r>
              <a:rPr sz="1800">
                <a:solidFill>
                  <a:srgbClr val="D4D4D4"/>
                </a:solidFill>
                <a:latin typeface="Consolas"/>
              </a:rPr>
              <a:t> </a:t>
            </a:r>
            <a:r>
              <a:rPr sz="1800">
                <a:solidFill>
                  <a:srgbClr val="D4D4D4"/>
                </a:solidFill>
                <a:latin typeface="Consolas"/>
              </a:rPr>
              <a:t>rejected</a:t>
            </a:r>
          </a:p>
          <a:p>
            <a:pPr>
              <a:lnSpc>
                <a:spcPct val="110000"/>
              </a:lnSpc>
            </a:pPr>
            <a:r>
              <a:rPr sz="1800">
                <a:solidFill>
                  <a:srgbClr val="D4D4D4"/>
                </a:solidFill>
                <a:latin typeface="Consolas"/>
              </a:rPr>
              <a:t>12.5</a:t>
            </a:r>
            <a:r>
              <a:rPr sz="1800">
                <a:solidFill>
                  <a:srgbClr val="D4D4D4"/>
                </a:solidFill>
                <a:latin typeface="Consolas"/>
              </a:rPr>
              <a:t> </a:t>
            </a:r>
            <a:r>
              <a:rPr sz="1800">
                <a:solidFill>
                  <a:srgbClr val="D4D4D4"/>
                </a:solidFill>
                <a:latin typeface="Consolas"/>
              </a:rPr>
              <a:t>rejected</a:t>
            </a:r>
          </a:p>
          <a:p>
            <a:pPr>
              <a:lnSpc>
                <a:spcPct val="110000"/>
              </a:lnSpc>
            </a:pPr>
            <a:r>
              <a:rPr sz="1800">
                <a:solidFill>
                  <a:srgbClr val="D4D4D4"/>
                </a:solidFill>
                <a:latin typeface="Consolas"/>
              </a:rPr>
              <a:t>'</a:t>
            </a:r>
            <a:r>
              <a:rPr sz="1800">
                <a:solidFill>
                  <a:srgbClr val="D4D4D4"/>
                </a:solidFill>
                <a:latin typeface="Consolas"/>
              </a:rPr>
              <a:t>100</a:t>
            </a:r>
            <a:r>
              <a:rPr sz="1800">
                <a:solidFill>
                  <a:srgbClr val="D4D4D4"/>
                </a:solidFill>
                <a:latin typeface="Consolas"/>
              </a:rPr>
              <a:t>'</a:t>
            </a:r>
            <a:r>
              <a:rPr sz="1800">
                <a:solidFill>
                  <a:srgbClr val="D4D4D4"/>
                </a:solidFill>
                <a:latin typeface="Consolas"/>
              </a:rPr>
              <a:t> </a:t>
            </a:r>
            <a:r>
              <a:rPr sz="1800">
                <a:solidFill>
                  <a:srgbClr val="D4D4D4"/>
                </a:solidFill>
                <a:latin typeface="Consolas"/>
              </a:rPr>
              <a:t>rejected</a:t>
            </a:r>
          </a:p>
          <a:p>
            <a:pPr>
              <a:lnSpc>
                <a:spcPct val="110000"/>
              </a:lnSpc>
            </a:pP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8A4F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0"/>
            <a:ext cx="10911535" cy="274320"/>
          </a:xfrm>
          <a:prstGeom prst="rect">
            <a:avLst/>
          </a:prstGeom>
          <a:noFill/>
        </p:spPr>
        <p:txBody>
          <a:bodyPr wrap="square" anchor="t" lIns="0" rIns="0" tIns="0" bIns="0">
            <a:spAutoFit/>
          </a:bodyPr>
          <a:lstStyle/>
          <a:p>
            <a:pPr>
              <a:spcAft>
                <a:spcPts val="600"/>
              </a:spcAft>
            </a:pPr>
            <a:r>
              <a:rPr sz="1100" b="0">
                <a:solidFill>
                  <a:srgbClr val="5D6778"/>
                </a:solidFill>
                <a:latin typeface="Segoe UI"/>
              </a:rPr>
              <a:t>Backend Lab  ·  Exercise 13  ·  All or nothing: transactions</a:t>
            </a:r>
          </a:p>
        </p:txBody>
      </p:sp>
      <p:sp>
        <p:nvSpPr>
          <p:cNvPr id="4" name="TextBox 3"/>
          <p:cNvSpPr txBox="1"/>
          <p:nvPr/>
        </p:nvSpPr>
        <p:spPr>
          <a:xfrm>
            <a:off x="10637215" y="6400800"/>
            <a:ext cx="914400" cy="274320"/>
          </a:xfrm>
          <a:prstGeom prst="rect">
            <a:avLst/>
          </a:prstGeom>
          <a:noFill/>
        </p:spPr>
        <p:txBody>
          <a:bodyPr wrap="square" anchor="t" lIns="0" rIns="0" tIns="0" bIns="0">
            <a:spAutoFit/>
          </a:bodyPr>
          <a:lstStyle/>
          <a:p>
            <a:pPr algn="r">
              <a:spcAft>
                <a:spcPts val="600"/>
              </a:spcAft>
            </a:pPr>
            <a:r>
              <a:rPr sz="1100" b="0">
                <a:solidFill>
                  <a:srgbClr val="5D6778"/>
                </a:solidFill>
                <a:latin typeface="Segoe UI"/>
              </a:rPr>
              <a:t>7</a:t>
            </a:r>
          </a:p>
        </p:txBody>
      </p:sp>
      <p:sp>
        <p:nvSpPr>
          <p:cNvPr id="5" name="TextBox 4"/>
          <p:cNvSpPr txBox="1"/>
          <p:nvPr/>
        </p:nvSpPr>
        <p:spPr>
          <a:xfrm>
            <a:off x="640080" y="411480"/>
            <a:ext cx="10911535" cy="822960"/>
          </a:xfrm>
          <a:prstGeom prst="rect">
            <a:avLst/>
          </a:prstGeom>
          <a:noFill/>
        </p:spPr>
        <p:txBody>
          <a:bodyPr wrap="square" anchor="ctr" lIns="0" rIns="0" tIns="0" bIns="0">
            <a:spAutoFit/>
          </a:bodyPr>
          <a:lstStyle/>
          <a:p>
            <a:pPr>
              <a:spcAft>
                <a:spcPts val="600"/>
              </a:spcAft>
            </a:pPr>
            <a:r>
              <a:rPr sz="3200" b="1">
                <a:solidFill>
                  <a:srgbClr val="1C2330"/>
                </a:solidFill>
                <a:latin typeface="Segoe UI"/>
              </a:rPr>
              <a:t>Tool: transaction.atomic()</a:t>
            </a:r>
          </a:p>
        </p:txBody>
      </p:sp>
      <p:sp>
        <p:nvSpPr>
          <p:cNvPr id="6" name="Rounded Rectangle 5"/>
          <p:cNvSpPr/>
          <p:nvPr/>
        </p:nvSpPr>
        <p:spPr>
          <a:xfrm>
            <a:off x="640080" y="1463040"/>
            <a:ext cx="10911535" cy="3438144"/>
          </a:xfrm>
          <a:prstGeom prst="roundRect">
            <a:avLst>
              <a:gd name="adj" fmla="val 6000"/>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64208"/>
            <a:ext cx="10362895" cy="3072384"/>
          </a:xfrm>
          <a:prstGeom prst="rect">
            <a:avLst/>
          </a:prstGeom>
          <a:noFill/>
        </p:spPr>
        <p:txBody>
          <a:bodyPr wrap="square" anchor="t" lIns="0" rIns="0" tIns="0" bIns="0">
            <a:spAutoFit/>
          </a:bodyPr>
          <a:lstStyle/>
          <a:p>
            <a:pPr>
              <a:lnSpc>
                <a:spcPct val="110000"/>
              </a:lnSpc>
            </a:pPr>
            <a:r>
              <a:rPr sz="1600">
                <a:solidFill>
                  <a:srgbClr val="9CDCFE"/>
                </a:solidFill>
                <a:latin typeface="Consolas"/>
              </a:rPr>
              <a:t>zoe</a:t>
            </a:r>
            <a:r>
              <a:rPr sz="1600">
                <a:solidFill>
                  <a:srgbClr val="D4D4D4"/>
                </a:solidFill>
                <a:latin typeface="Consolas"/>
              </a:rPr>
              <a:t> </a:t>
            </a:r>
            <a:r>
              <a:rPr sz="1600">
                <a:solidFill>
                  <a:srgbClr val="D4D4D4"/>
                </a:solidFill>
                <a:latin typeface="Consolas"/>
              </a:rPr>
              <a:t>=</a:t>
            </a:r>
            <a:r>
              <a:rPr sz="1600">
                <a:solidFill>
                  <a:srgbClr val="D4D4D4"/>
                </a:solidFill>
                <a:latin typeface="Consolas"/>
              </a:rPr>
              <a:t> </a:t>
            </a:r>
            <a:r>
              <a:rPr sz="1600">
                <a:solidFill>
                  <a:srgbClr val="9CDCFE"/>
                </a:solidFill>
                <a:latin typeface="Consolas"/>
              </a:rPr>
              <a:t>Account</a:t>
            </a:r>
            <a:r>
              <a:rPr sz="1600">
                <a:solidFill>
                  <a:srgbClr val="D4D4D4"/>
                </a:solidFill>
                <a:latin typeface="Consolas"/>
              </a:rPr>
              <a:t>.</a:t>
            </a:r>
            <a:r>
              <a:rPr sz="1600">
                <a:solidFill>
                  <a:srgbClr val="9CDCFE"/>
                </a:solidFill>
                <a:latin typeface="Consolas"/>
              </a:rPr>
              <a:t>objects</a:t>
            </a:r>
            <a:r>
              <a:rPr sz="1600">
                <a:solidFill>
                  <a:srgbClr val="D4D4D4"/>
                </a:solidFill>
                <a:latin typeface="Consolas"/>
              </a:rPr>
              <a:t>.</a:t>
            </a:r>
            <a:r>
              <a:rPr sz="1600">
                <a:solidFill>
                  <a:srgbClr val="9CDCFE"/>
                </a:solidFill>
                <a:latin typeface="Consolas"/>
              </a:rPr>
              <a:t>create</a:t>
            </a:r>
            <a:r>
              <a:rPr sz="1600">
                <a:solidFill>
                  <a:srgbClr val="D4D4D4"/>
                </a:solidFill>
                <a:latin typeface="Consolas"/>
              </a:rPr>
              <a:t>(</a:t>
            </a:r>
            <a:r>
              <a:rPr sz="1600">
                <a:solidFill>
                  <a:srgbClr val="9CDCFE"/>
                </a:solidFill>
                <a:latin typeface="Consolas"/>
              </a:rPr>
              <a:t>owner</a:t>
            </a:r>
            <a:r>
              <a:rPr sz="1600">
                <a:solidFill>
                  <a:srgbClr val="D4D4D4"/>
                </a:solidFill>
                <a:latin typeface="Consolas"/>
              </a:rPr>
              <a:t>=</a:t>
            </a:r>
            <a:r>
              <a:rPr sz="1600">
                <a:solidFill>
                  <a:srgbClr val="CE9178"/>
                </a:solidFill>
                <a:latin typeface="Consolas"/>
              </a:rPr>
              <a:t>"</a:t>
            </a:r>
            <a:r>
              <a:rPr sz="1600">
                <a:solidFill>
                  <a:srgbClr val="CE9178"/>
                </a:solidFill>
                <a:latin typeface="Consolas"/>
              </a:rPr>
              <a:t>Zoe</a:t>
            </a:r>
            <a:r>
              <a:rPr sz="1600">
                <a:solidFill>
                  <a:srgbClr val="CE9178"/>
                </a:solidFill>
                <a:latin typeface="Consolas"/>
              </a:rPr>
              <a:t>"</a:t>
            </a:r>
            <a:r>
              <a:rPr sz="1600">
                <a:solidFill>
                  <a:srgbClr val="D4D4D4"/>
                </a:solidFill>
                <a:latin typeface="Consolas"/>
              </a:rPr>
              <a:t>,</a:t>
            </a:r>
            <a:r>
              <a:rPr sz="1600">
                <a:solidFill>
                  <a:srgbClr val="D4D4D4"/>
                </a:solidFill>
                <a:latin typeface="Consolas"/>
              </a:rPr>
              <a:t> </a:t>
            </a:r>
            <a:r>
              <a:rPr sz="1600">
                <a:solidFill>
                  <a:srgbClr val="9CDCFE"/>
                </a:solidFill>
                <a:latin typeface="Consolas"/>
              </a:rPr>
              <a:t>balance</a:t>
            </a:r>
            <a:r>
              <a:rPr sz="1600">
                <a:solidFill>
                  <a:srgbClr val="D4D4D4"/>
                </a:solidFill>
                <a:latin typeface="Consolas"/>
              </a:rPr>
              <a:t>=</a:t>
            </a:r>
            <a:r>
              <a:rPr sz="1600">
                <a:solidFill>
                  <a:srgbClr val="B5CEA8"/>
                </a:solidFill>
                <a:latin typeface="Consolas"/>
              </a:rPr>
              <a:t>300</a:t>
            </a:r>
            <a:r>
              <a:rPr sz="1600">
                <a:solidFill>
                  <a:srgbClr val="D4D4D4"/>
                </a:solidFill>
                <a:latin typeface="Consolas"/>
              </a:rPr>
              <a:t>)</a:t>
            </a:r>
          </a:p>
          <a:p>
            <a:pPr>
              <a:lnSpc>
                <a:spcPct val="110000"/>
              </a:lnSpc>
            </a:pPr>
            <a:r>
              <a:rPr sz="1600">
                <a:solidFill>
                  <a:srgbClr val="C586C0"/>
                </a:solidFill>
                <a:latin typeface="Consolas"/>
              </a:rPr>
              <a:t>try</a:t>
            </a:r>
            <a:r>
              <a:rPr sz="1600">
                <a:solidFill>
                  <a:srgbClr val="D4D4D4"/>
                </a:solidFill>
                <a:latin typeface="Consolas"/>
              </a:rPr>
              <a:t>:</a:t>
            </a:r>
          </a:p>
          <a:p>
            <a:pPr>
              <a:lnSpc>
                <a:spcPct val="110000"/>
              </a:lnSpc>
            </a:pPr>
            <a:r>
              <a:rPr sz="1600">
                <a:solidFill>
                  <a:srgbClr val="D4D4D4"/>
                </a:solidFill>
                <a:latin typeface="Consolas"/>
              </a:rPr>
              <a:t>    </a:t>
            </a:r>
            <a:r>
              <a:rPr sz="1600">
                <a:solidFill>
                  <a:srgbClr val="C586C0"/>
                </a:solidFill>
                <a:latin typeface="Consolas"/>
              </a:rPr>
              <a:t>with</a:t>
            </a:r>
            <a:r>
              <a:rPr sz="1600">
                <a:solidFill>
                  <a:srgbClr val="D4D4D4"/>
                </a:solidFill>
                <a:latin typeface="Consolas"/>
              </a:rPr>
              <a:t> </a:t>
            </a:r>
            <a:r>
              <a:rPr sz="1600">
                <a:solidFill>
                  <a:srgbClr val="9CDCFE"/>
                </a:solidFill>
                <a:latin typeface="Consolas"/>
              </a:rPr>
              <a:t>transaction</a:t>
            </a:r>
            <a:r>
              <a:rPr sz="1600">
                <a:solidFill>
                  <a:srgbClr val="D4D4D4"/>
                </a:solidFill>
                <a:latin typeface="Consolas"/>
              </a:rPr>
              <a:t>.</a:t>
            </a:r>
            <a:r>
              <a:rPr sz="1600">
                <a:solidFill>
                  <a:srgbClr val="9CDCFE"/>
                </a:solidFill>
                <a:latin typeface="Consolas"/>
              </a:rPr>
              <a:t>atomic</a:t>
            </a:r>
            <a:r>
              <a:rPr sz="1600">
                <a:solidFill>
                  <a:srgbClr val="D4D4D4"/>
                </a:solidFill>
                <a:latin typeface="Consolas"/>
              </a:rPr>
              <a:t>(</a:t>
            </a:r>
            <a:r>
              <a:rPr sz="1600">
                <a:solidFill>
                  <a:srgbClr val="D4D4D4"/>
                </a:solidFill>
                <a:latin typeface="Consolas"/>
              </a:rPr>
              <a:t>)</a:t>
            </a:r>
            <a:r>
              <a:rPr sz="1600">
                <a:solidFill>
                  <a:srgbClr val="D4D4D4"/>
                </a:solidFill>
                <a:latin typeface="Consolas"/>
              </a:rPr>
              <a:t>:</a:t>
            </a:r>
            <a:r>
              <a:rPr sz="1600">
                <a:solidFill>
                  <a:srgbClr val="D4D4D4"/>
                </a:solidFill>
                <a:latin typeface="Consolas"/>
              </a:rPr>
              <a:t>      </a:t>
            </a:r>
            <a:r>
              <a:rPr sz="1600">
                <a:solidFill>
                  <a:srgbClr val="6A9955"/>
                </a:solidFill>
                <a:latin typeface="Consolas"/>
              </a:rPr>
              <a:t># without it, Zoe ends with 200</a:t>
            </a:r>
          </a:p>
          <a:p>
            <a:pPr>
              <a:lnSpc>
                <a:spcPct val="110000"/>
              </a:lnSpc>
            </a:pPr>
            <a:r>
              <a:rPr sz="1600">
                <a:solidFill>
                  <a:srgbClr val="D4D4D4"/>
                </a:solidFill>
                <a:latin typeface="Consolas"/>
              </a:rPr>
              <a:t>        </a:t>
            </a:r>
            <a:r>
              <a:rPr sz="1600">
                <a:solidFill>
                  <a:srgbClr val="9CDCFE"/>
                </a:solidFill>
                <a:latin typeface="Consolas"/>
              </a:rPr>
              <a:t>zoe</a:t>
            </a:r>
            <a:r>
              <a:rPr sz="1600">
                <a:solidFill>
                  <a:srgbClr val="D4D4D4"/>
                </a:solidFill>
                <a:latin typeface="Consolas"/>
              </a:rPr>
              <a:t>.</a:t>
            </a:r>
            <a:r>
              <a:rPr sz="1600">
                <a:solidFill>
                  <a:srgbClr val="9CDCFE"/>
                </a:solidFill>
                <a:latin typeface="Consolas"/>
              </a:rPr>
              <a:t>balance</a:t>
            </a:r>
            <a:r>
              <a:rPr sz="1600">
                <a:solidFill>
                  <a:srgbClr val="D4D4D4"/>
                </a:solidFill>
                <a:latin typeface="Consolas"/>
              </a:rPr>
              <a:t> </a:t>
            </a:r>
            <a:r>
              <a:rPr sz="1600">
                <a:solidFill>
                  <a:srgbClr val="D4D4D4"/>
                </a:solidFill>
                <a:latin typeface="Consolas"/>
              </a:rPr>
              <a:t>-</a:t>
            </a:r>
            <a:r>
              <a:rPr sz="1600">
                <a:solidFill>
                  <a:srgbClr val="D4D4D4"/>
                </a:solidFill>
                <a:latin typeface="Consolas"/>
              </a:rPr>
              <a:t>=</a:t>
            </a:r>
            <a:r>
              <a:rPr sz="1600">
                <a:solidFill>
                  <a:srgbClr val="D4D4D4"/>
                </a:solidFill>
                <a:latin typeface="Consolas"/>
              </a:rPr>
              <a:t> </a:t>
            </a:r>
            <a:r>
              <a:rPr sz="1600">
                <a:solidFill>
                  <a:srgbClr val="B5CEA8"/>
                </a:solidFill>
                <a:latin typeface="Consolas"/>
              </a:rPr>
              <a:t>100</a:t>
            </a:r>
          </a:p>
          <a:p>
            <a:pPr>
              <a:lnSpc>
                <a:spcPct val="110000"/>
              </a:lnSpc>
            </a:pPr>
            <a:r>
              <a:rPr sz="1600">
                <a:solidFill>
                  <a:srgbClr val="D4D4D4"/>
                </a:solidFill>
                <a:latin typeface="Consolas"/>
              </a:rPr>
              <a:t>        </a:t>
            </a:r>
            <a:r>
              <a:rPr sz="1600">
                <a:solidFill>
                  <a:srgbClr val="9CDCFE"/>
                </a:solidFill>
                <a:latin typeface="Consolas"/>
              </a:rPr>
              <a:t>zoe</a:t>
            </a:r>
            <a:r>
              <a:rPr sz="1600">
                <a:solidFill>
                  <a:srgbClr val="D4D4D4"/>
                </a:solidFill>
                <a:latin typeface="Consolas"/>
              </a:rPr>
              <a:t>.</a:t>
            </a:r>
            <a:r>
              <a:rPr sz="1600">
                <a:solidFill>
                  <a:srgbClr val="9CDCFE"/>
                </a:solidFill>
                <a:latin typeface="Consolas"/>
              </a:rPr>
              <a:t>save</a:t>
            </a:r>
            <a:r>
              <a:rPr sz="1600">
                <a:solidFill>
                  <a:srgbClr val="D4D4D4"/>
                </a:solidFill>
                <a:latin typeface="Consolas"/>
              </a:rPr>
              <a:t>(</a:t>
            </a:r>
            <a:r>
              <a:rPr sz="1600">
                <a:solidFill>
                  <a:srgbClr val="D4D4D4"/>
                </a:solidFill>
                <a:latin typeface="Consolas"/>
              </a:rPr>
              <a:t>)</a:t>
            </a:r>
          </a:p>
          <a:p>
            <a:pPr>
              <a:lnSpc>
                <a:spcPct val="110000"/>
              </a:lnSpc>
            </a:pPr>
            <a:r>
              <a:rPr sz="1600">
                <a:solidFill>
                  <a:srgbClr val="D4D4D4"/>
                </a:solidFill>
                <a:latin typeface="Consolas"/>
              </a:rPr>
              <a:t>        </a:t>
            </a:r>
            <a:r>
              <a:rPr sz="1600">
                <a:solidFill>
                  <a:srgbClr val="C586C0"/>
                </a:solidFill>
                <a:latin typeface="Consolas"/>
              </a:rPr>
              <a:t>raise</a:t>
            </a:r>
            <a:r>
              <a:rPr sz="1600">
                <a:solidFill>
                  <a:srgbClr val="D4D4D4"/>
                </a:solidFill>
                <a:latin typeface="Consolas"/>
              </a:rPr>
              <a:t> </a:t>
            </a:r>
            <a:r>
              <a:rPr sz="1600">
                <a:solidFill>
                  <a:srgbClr val="9CDCFE"/>
                </a:solidFill>
                <a:latin typeface="Consolas"/>
              </a:rPr>
              <a:t>RuntimeError</a:t>
            </a:r>
            <a:r>
              <a:rPr sz="1600">
                <a:solidFill>
                  <a:srgbClr val="D4D4D4"/>
                </a:solidFill>
                <a:latin typeface="Consolas"/>
              </a:rPr>
              <a:t>(</a:t>
            </a:r>
            <a:r>
              <a:rPr sz="1600">
                <a:solidFill>
                  <a:srgbClr val="CE9178"/>
                </a:solidFill>
                <a:latin typeface="Consolas"/>
              </a:rPr>
              <a:t>"</a:t>
            </a:r>
            <a:r>
              <a:rPr sz="1600">
                <a:solidFill>
                  <a:srgbClr val="CE9178"/>
                </a:solidFill>
                <a:latin typeface="Consolas"/>
              </a:rPr>
              <a:t>power cut</a:t>
            </a:r>
            <a:r>
              <a:rPr sz="1600">
                <a:solidFill>
                  <a:srgbClr val="CE9178"/>
                </a:solidFill>
                <a:latin typeface="Consolas"/>
              </a:rPr>
              <a:t>"</a:t>
            </a:r>
            <a:r>
              <a:rPr sz="1600">
                <a:solidFill>
                  <a:srgbClr val="D4D4D4"/>
                </a:solidFill>
                <a:latin typeface="Consolas"/>
              </a:rPr>
              <a:t>)</a:t>
            </a:r>
          </a:p>
          <a:p>
            <a:pPr>
              <a:lnSpc>
                <a:spcPct val="110000"/>
              </a:lnSpc>
            </a:pPr>
            <a:r>
              <a:rPr sz="1600">
                <a:solidFill>
                  <a:srgbClr val="C586C0"/>
                </a:solidFill>
                <a:latin typeface="Consolas"/>
              </a:rPr>
              <a:t>except</a:t>
            </a:r>
            <a:r>
              <a:rPr sz="1600">
                <a:solidFill>
                  <a:srgbClr val="D4D4D4"/>
                </a:solidFill>
                <a:latin typeface="Consolas"/>
              </a:rPr>
              <a:t> </a:t>
            </a:r>
            <a:r>
              <a:rPr sz="1600">
                <a:solidFill>
                  <a:srgbClr val="9CDCFE"/>
                </a:solidFill>
                <a:latin typeface="Consolas"/>
              </a:rPr>
              <a:t>RuntimeError</a:t>
            </a:r>
            <a:r>
              <a:rPr sz="1600">
                <a:solidFill>
                  <a:srgbClr val="D4D4D4"/>
                </a:solidFill>
                <a:latin typeface="Consolas"/>
              </a:rPr>
              <a:t> </a:t>
            </a:r>
            <a:r>
              <a:rPr sz="1600">
                <a:solidFill>
                  <a:srgbClr val="C586C0"/>
                </a:solidFill>
                <a:latin typeface="Consolas"/>
              </a:rPr>
              <a:t>as</a:t>
            </a:r>
            <a:r>
              <a:rPr sz="1600">
                <a:solidFill>
                  <a:srgbClr val="D4D4D4"/>
                </a:solidFill>
                <a:latin typeface="Consolas"/>
              </a:rPr>
              <a:t> </a:t>
            </a:r>
            <a:r>
              <a:rPr sz="1600">
                <a:solidFill>
                  <a:srgbClr val="9CDCFE"/>
                </a:solidFill>
                <a:latin typeface="Consolas"/>
              </a:rPr>
              <a:t>error</a:t>
            </a:r>
            <a:r>
              <a:rPr sz="1600">
                <a:solidFill>
                  <a:srgbClr val="D4D4D4"/>
                </a:solidFill>
                <a:latin typeface="Consolas"/>
              </a:rPr>
              <a:t>:</a:t>
            </a:r>
          </a:p>
          <a:p>
            <a:pPr>
              <a:lnSpc>
                <a:spcPct val="110000"/>
              </a:lnSpc>
            </a:pPr>
            <a:r>
              <a:rPr sz="1600">
                <a:solidFill>
                  <a:srgbClr val="D4D4D4"/>
                </a:solidFill>
                <a:latin typeface="Consolas"/>
              </a:rPr>
              <a:t>    </a:t>
            </a:r>
            <a:r>
              <a:rPr sz="1600">
                <a:solidFill>
                  <a:srgbClr val="4EC9B0"/>
                </a:solidFill>
                <a:latin typeface="Consolas"/>
              </a:rPr>
              <a:t>print</a:t>
            </a:r>
            <a:r>
              <a:rPr sz="1600">
                <a:solidFill>
                  <a:srgbClr val="D4D4D4"/>
                </a:solidFill>
                <a:latin typeface="Consolas"/>
              </a:rPr>
              <a:t>(</a:t>
            </a:r>
            <a:r>
              <a:rPr sz="1600">
                <a:solidFill>
                  <a:srgbClr val="CE9178"/>
                </a:solidFill>
                <a:latin typeface="Consolas"/>
              </a:rPr>
              <a:t>"</a:t>
            </a:r>
            <a:r>
              <a:rPr sz="1600">
                <a:solidFill>
                  <a:srgbClr val="CE9178"/>
                </a:solidFill>
                <a:latin typeface="Consolas"/>
              </a:rPr>
              <a:t>Caught:</a:t>
            </a:r>
            <a:r>
              <a:rPr sz="1600">
                <a:solidFill>
                  <a:srgbClr val="CE9178"/>
                </a:solidFill>
                <a:latin typeface="Consolas"/>
              </a:rPr>
              <a:t>"</a:t>
            </a:r>
            <a:r>
              <a:rPr sz="1600">
                <a:solidFill>
                  <a:srgbClr val="D4D4D4"/>
                </a:solidFill>
                <a:latin typeface="Consolas"/>
              </a:rPr>
              <a:t>,</a:t>
            </a:r>
            <a:r>
              <a:rPr sz="1600">
                <a:solidFill>
                  <a:srgbClr val="D4D4D4"/>
                </a:solidFill>
                <a:latin typeface="Consolas"/>
              </a:rPr>
              <a:t> </a:t>
            </a:r>
            <a:r>
              <a:rPr sz="1600">
                <a:solidFill>
                  <a:srgbClr val="9CDCFE"/>
                </a:solidFill>
                <a:latin typeface="Consolas"/>
              </a:rPr>
              <a:t>error</a:t>
            </a:r>
            <a:r>
              <a:rPr sz="1600">
                <a:solidFill>
                  <a:srgbClr val="D4D4D4"/>
                </a:solidFill>
                <a:latin typeface="Consolas"/>
              </a:rPr>
              <a:t>)</a:t>
            </a:r>
          </a:p>
          <a:p>
            <a:pPr>
              <a:lnSpc>
                <a:spcPct val="110000"/>
              </a:lnSpc>
            </a:pPr>
          </a:p>
          <a:p>
            <a:pPr>
              <a:lnSpc>
                <a:spcPct val="110000"/>
              </a:lnSpc>
            </a:pPr>
            <a:r>
              <a:rPr sz="1600">
                <a:solidFill>
                  <a:srgbClr val="9CDCFE"/>
                </a:solidFill>
                <a:latin typeface="Consolas"/>
              </a:rPr>
              <a:t>zoe</a:t>
            </a:r>
            <a:r>
              <a:rPr sz="1600">
                <a:solidFill>
                  <a:srgbClr val="D4D4D4"/>
                </a:solidFill>
                <a:latin typeface="Consolas"/>
              </a:rPr>
              <a:t>.</a:t>
            </a:r>
            <a:r>
              <a:rPr sz="1600">
                <a:solidFill>
                  <a:srgbClr val="9CDCFE"/>
                </a:solidFill>
                <a:latin typeface="Consolas"/>
              </a:rPr>
              <a:t>refresh_from_db</a:t>
            </a:r>
            <a:r>
              <a:rPr sz="1600">
                <a:solidFill>
                  <a:srgbClr val="D4D4D4"/>
                </a:solidFill>
                <a:latin typeface="Consolas"/>
              </a:rPr>
              <a:t>(</a:t>
            </a:r>
            <a:r>
              <a:rPr sz="1600">
                <a:solidFill>
                  <a:srgbClr val="D4D4D4"/>
                </a:solidFill>
                <a:latin typeface="Consolas"/>
              </a:rPr>
              <a:t>)</a:t>
            </a:r>
            <a:r>
              <a:rPr sz="1600">
                <a:solidFill>
                  <a:srgbClr val="D4D4D4"/>
                </a:solidFill>
                <a:latin typeface="Consolas"/>
              </a:rPr>
              <a:t>   </a:t>
            </a:r>
            <a:r>
              <a:rPr sz="1600">
                <a:solidFill>
                  <a:srgbClr val="6A9955"/>
                </a:solidFill>
                <a:latin typeface="Consolas"/>
              </a:rPr>
              <a:t># re-read the balance from the database</a:t>
            </a:r>
          </a:p>
          <a:p>
            <a:pPr>
              <a:lnSpc>
                <a:spcPct val="110000"/>
              </a:lnSpc>
            </a:pPr>
            <a:r>
              <a:rPr sz="1600">
                <a:solidFill>
                  <a:srgbClr val="4EC9B0"/>
                </a:solidFill>
                <a:latin typeface="Consolas"/>
              </a:rPr>
              <a:t>print</a:t>
            </a:r>
            <a:r>
              <a:rPr sz="1600">
                <a:solidFill>
                  <a:srgbClr val="D4D4D4"/>
                </a:solidFill>
                <a:latin typeface="Consolas"/>
              </a:rPr>
              <a:t>(</a:t>
            </a:r>
            <a:r>
              <a:rPr sz="1600">
                <a:solidFill>
                  <a:srgbClr val="9CDCFE"/>
                </a:solidFill>
                <a:latin typeface="Consolas"/>
              </a:rPr>
              <a:t>zoe</a:t>
            </a:r>
            <a:r>
              <a:rPr sz="1600">
                <a:solidFill>
                  <a:srgbClr val="D4D4D4"/>
                </a:solidFill>
                <a:latin typeface="Consolas"/>
              </a:rPr>
              <a:t>.</a:t>
            </a:r>
            <a:r>
              <a:rPr sz="1600">
                <a:solidFill>
                  <a:srgbClr val="9CDCFE"/>
                </a:solidFill>
                <a:latin typeface="Consolas"/>
              </a:rPr>
              <a:t>balance</a:t>
            </a:r>
            <a:r>
              <a:rPr sz="1600">
                <a:solidFill>
                  <a:srgbClr val="D4D4D4"/>
                </a:solidFill>
                <a:latin typeface="Consolas"/>
              </a:rPr>
              <a:t>)</a:t>
            </a:r>
          </a:p>
          <a:p>
            <a:pPr>
              <a:lnSpc>
                <a:spcPct val="110000"/>
              </a:lnSpc>
            </a:pPr>
          </a:p>
        </p:txBody>
      </p:sp>
      <p:sp>
        <p:nvSpPr>
          <p:cNvPr id="8" name="Rounded Rectangle 7"/>
          <p:cNvSpPr/>
          <p:nvPr/>
        </p:nvSpPr>
        <p:spPr>
          <a:xfrm>
            <a:off x="640080" y="5084064"/>
            <a:ext cx="10911535" cy="1088136"/>
          </a:xfrm>
          <a:prstGeom prst="roundRect">
            <a:avLst>
              <a:gd name="adj" fmla="val 6000"/>
            </a:avLst>
          </a:prstGeom>
          <a:solidFill>
            <a:srgbClr val="2A2D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285232"/>
            <a:ext cx="10362895" cy="722376"/>
          </a:xfrm>
          <a:prstGeom prst="rect">
            <a:avLst/>
          </a:prstGeom>
          <a:noFill/>
        </p:spPr>
        <p:txBody>
          <a:bodyPr wrap="square" anchor="t" lIns="0" rIns="0" tIns="0" bIns="0">
            <a:spAutoFit/>
          </a:bodyPr>
          <a:lstStyle/>
          <a:p>
            <a:pPr>
              <a:spcAft>
                <a:spcPts val="400"/>
              </a:spcAft>
            </a:pPr>
            <a:r>
              <a:rPr sz="1100" b="1">
                <a:solidFill>
                  <a:srgbClr val="9AA4B5"/>
                </a:solidFill>
                <a:latin typeface="Segoe UI"/>
              </a:rPr>
              <a:t>OUTPUT</a:t>
            </a:r>
          </a:p>
          <a:p>
            <a:pPr>
              <a:lnSpc>
                <a:spcPct val="110000"/>
              </a:lnSpc>
            </a:pPr>
            <a:r>
              <a:rPr sz="1800">
                <a:solidFill>
                  <a:srgbClr val="D4D4D4"/>
                </a:solidFill>
                <a:latin typeface="Consolas"/>
              </a:rPr>
              <a:t>Caught</a:t>
            </a:r>
            <a:r>
              <a:rPr sz="1800">
                <a:solidFill>
                  <a:srgbClr val="D4D4D4"/>
                </a:solidFill>
                <a:latin typeface="Consolas"/>
              </a:rPr>
              <a:t>:</a:t>
            </a:r>
            <a:r>
              <a:rPr sz="1800">
                <a:solidFill>
                  <a:srgbClr val="D4D4D4"/>
                </a:solidFill>
                <a:latin typeface="Consolas"/>
              </a:rPr>
              <a:t> </a:t>
            </a:r>
            <a:r>
              <a:rPr sz="1800">
                <a:solidFill>
                  <a:srgbClr val="D4D4D4"/>
                </a:solidFill>
                <a:latin typeface="Consolas"/>
              </a:rPr>
              <a:t>power</a:t>
            </a:r>
            <a:r>
              <a:rPr sz="1800">
                <a:solidFill>
                  <a:srgbClr val="D4D4D4"/>
                </a:solidFill>
                <a:latin typeface="Consolas"/>
              </a:rPr>
              <a:t> </a:t>
            </a:r>
            <a:r>
              <a:rPr sz="1800">
                <a:solidFill>
                  <a:srgbClr val="D4D4D4"/>
                </a:solidFill>
                <a:latin typeface="Consolas"/>
              </a:rPr>
              <a:t>cut</a:t>
            </a:r>
          </a:p>
          <a:p>
            <a:pPr>
              <a:lnSpc>
                <a:spcPct val="110000"/>
              </a:lnSpc>
            </a:pPr>
            <a:r>
              <a:rPr sz="1800">
                <a:solidFill>
                  <a:srgbClr val="D4D4D4"/>
                </a:solidFill>
                <a:latin typeface="Consolas"/>
              </a:rPr>
              <a:t>300</a:t>
            </a:r>
          </a:p>
          <a:p>
            <a:pPr>
              <a:lnSpc>
                <a:spcPct val="110000"/>
              </a:lnSpc>
            </a:pP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8A4F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0"/>
            <a:ext cx="10911535" cy="274320"/>
          </a:xfrm>
          <a:prstGeom prst="rect">
            <a:avLst/>
          </a:prstGeom>
          <a:noFill/>
        </p:spPr>
        <p:txBody>
          <a:bodyPr wrap="square" anchor="t" lIns="0" rIns="0" tIns="0" bIns="0">
            <a:spAutoFit/>
          </a:bodyPr>
          <a:lstStyle/>
          <a:p>
            <a:pPr>
              <a:spcAft>
                <a:spcPts val="600"/>
              </a:spcAft>
            </a:pPr>
            <a:r>
              <a:rPr sz="1100" b="0">
                <a:solidFill>
                  <a:srgbClr val="5D6778"/>
                </a:solidFill>
                <a:latin typeface="Segoe UI"/>
              </a:rPr>
              <a:t>Backend Lab  ·  Exercise 13  ·  All or nothing: transactions</a:t>
            </a:r>
          </a:p>
        </p:txBody>
      </p:sp>
      <p:sp>
        <p:nvSpPr>
          <p:cNvPr id="4" name="TextBox 3"/>
          <p:cNvSpPr txBox="1"/>
          <p:nvPr/>
        </p:nvSpPr>
        <p:spPr>
          <a:xfrm>
            <a:off x="10637215" y="6400800"/>
            <a:ext cx="914400" cy="274320"/>
          </a:xfrm>
          <a:prstGeom prst="rect">
            <a:avLst/>
          </a:prstGeom>
          <a:noFill/>
        </p:spPr>
        <p:txBody>
          <a:bodyPr wrap="square" anchor="t" lIns="0" rIns="0" tIns="0" bIns="0">
            <a:spAutoFit/>
          </a:bodyPr>
          <a:lstStyle/>
          <a:p>
            <a:pPr algn="r">
              <a:spcAft>
                <a:spcPts val="600"/>
              </a:spcAft>
            </a:pPr>
            <a:r>
              <a:rPr sz="1100" b="0">
                <a:solidFill>
                  <a:srgbClr val="5D6778"/>
                </a:solidFill>
                <a:latin typeface="Segoe UI"/>
              </a:rPr>
              <a:t>8</a:t>
            </a:r>
          </a:p>
        </p:txBody>
      </p:sp>
      <p:sp>
        <p:nvSpPr>
          <p:cNvPr id="5" name="TextBox 4"/>
          <p:cNvSpPr txBox="1"/>
          <p:nvPr/>
        </p:nvSpPr>
        <p:spPr>
          <a:xfrm>
            <a:off x="640080" y="411480"/>
            <a:ext cx="10911535" cy="822960"/>
          </a:xfrm>
          <a:prstGeom prst="rect">
            <a:avLst/>
          </a:prstGeom>
          <a:noFill/>
        </p:spPr>
        <p:txBody>
          <a:bodyPr wrap="square" anchor="ctr" lIns="0" rIns="0" tIns="0" bIns="0">
            <a:spAutoFit/>
          </a:bodyPr>
          <a:lstStyle/>
          <a:p>
            <a:pPr>
              <a:spcAft>
                <a:spcPts val="600"/>
              </a:spcAft>
            </a:pPr>
            <a:r>
              <a:rPr sz="3200" b="1">
                <a:solidFill>
                  <a:srgbClr val="1C2330"/>
                </a:solidFill>
                <a:latin typeface="Segoe UI"/>
              </a:rPr>
              <a:t>atomic() vs try / except</a:t>
            </a:r>
          </a:p>
        </p:txBody>
      </p:sp>
      <p:sp>
        <p:nvSpPr>
          <p:cNvPr id="6" name="Rounded Rectangle 5"/>
          <p:cNvSpPr/>
          <p:nvPr/>
        </p:nvSpPr>
        <p:spPr>
          <a:xfrm>
            <a:off x="640080" y="1508760"/>
            <a:ext cx="5272887" cy="4389120"/>
          </a:xfrm>
          <a:prstGeom prst="roundRect">
            <a:avLst>
              <a:gd name="adj" fmla="val 6000"/>
            </a:avLst>
          </a:prstGeom>
          <a:solidFill>
            <a:srgbClr val="F3EE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737360"/>
            <a:ext cx="4632807" cy="4023360"/>
          </a:xfrm>
          <a:prstGeom prst="rect">
            <a:avLst/>
          </a:prstGeom>
          <a:noFill/>
        </p:spPr>
        <p:txBody>
          <a:bodyPr wrap="square" anchor="t" lIns="0" rIns="0" tIns="0" bIns="0">
            <a:spAutoFit/>
          </a:bodyPr>
          <a:lstStyle/>
          <a:p>
            <a:pPr>
              <a:spcAft>
                <a:spcPts val="1400"/>
              </a:spcAft>
            </a:pPr>
            <a:r>
              <a:rPr sz="2400" b="1">
                <a:solidFill>
                  <a:srgbClr val="8A4FE0"/>
                </a:solidFill>
                <a:latin typeface="Segoe UI"/>
              </a:rPr>
              <a:t>with transaction.atomic():</a:t>
            </a:r>
          </a:p>
          <a:p>
            <a:pPr>
              <a:spcAft>
                <a:spcPts val="1000"/>
              </a:spcAft>
            </a:pPr>
            <a:r>
              <a:rPr sz="1900" b="0">
                <a:solidFill>
                  <a:srgbClr val="1C2330"/>
                </a:solidFill>
                <a:latin typeface="Segoe UI"/>
              </a:rPr>
              <a:t>•  </a:t>
            </a:r>
            <a:r>
              <a:rPr sz="1900" b="1">
                <a:solidFill>
                  <a:srgbClr val="1C2330"/>
                </a:solidFill>
                <a:latin typeface="Segoe UI"/>
              </a:rPr>
              <a:t>Undoes</a:t>
            </a:r>
            <a:r>
              <a:rPr sz="1900" b="0">
                <a:solidFill>
                  <a:srgbClr val="1C2330"/>
                </a:solidFill>
                <a:latin typeface="Segoe UI"/>
              </a:rPr>
              <a:t> every write in the block</a:t>
            </a:r>
          </a:p>
          <a:p>
            <a:pPr>
              <a:spcAft>
                <a:spcPts val="1000"/>
              </a:spcAft>
            </a:pPr>
            <a:r>
              <a:rPr sz="1900" b="0">
                <a:solidFill>
                  <a:srgbClr val="1C2330"/>
                </a:solidFill>
                <a:latin typeface="Segoe UI"/>
              </a:rPr>
              <a:t>•  Lets the error carry on out</a:t>
            </a:r>
          </a:p>
          <a:p>
            <a:pPr>
              <a:spcAft>
                <a:spcPts val="1000"/>
              </a:spcAft>
            </a:pPr>
            <a:r>
              <a:rPr sz="1900" b="0">
                <a:solidFill>
                  <a:srgbClr val="1C2330"/>
                </a:solidFill>
                <a:latin typeface="Segoe UI"/>
              </a:rPr>
              <a:t>•  The caller still sees what went wrong</a:t>
            </a:r>
          </a:p>
          <a:p>
            <a:pPr>
              <a:spcAft>
                <a:spcPts val="1000"/>
              </a:spcAft>
            </a:pPr>
            <a:r>
              <a:rPr sz="1900" b="0">
                <a:solidFill>
                  <a:srgbClr val="1C2330"/>
                </a:solidFill>
                <a:latin typeface="Segoe UI"/>
              </a:rPr>
              <a:t>•  Use it around all of </a:t>
            </a:r>
            <a:r>
              <a:rPr sz="1900" b="0">
                <a:solidFill>
                  <a:srgbClr val="6A3FC0"/>
                </a:solidFill>
                <a:latin typeface="Consolas"/>
              </a:rPr>
              <a:t>transfer</a:t>
            </a:r>
          </a:p>
        </p:txBody>
      </p:sp>
      <p:sp>
        <p:nvSpPr>
          <p:cNvPr id="8" name="Rounded Rectangle 7"/>
          <p:cNvSpPr/>
          <p:nvPr/>
        </p:nvSpPr>
        <p:spPr>
          <a:xfrm>
            <a:off x="6278727" y="1508760"/>
            <a:ext cx="5272887" cy="4389120"/>
          </a:xfrm>
          <a:prstGeom prst="roundRect">
            <a:avLst>
              <a:gd name="adj" fmla="val 6000"/>
            </a:avLst>
          </a:prstGeom>
          <a:solidFill>
            <a:srgbClr val="E5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98767" y="1737360"/>
            <a:ext cx="4632807" cy="4023360"/>
          </a:xfrm>
          <a:prstGeom prst="rect">
            <a:avLst/>
          </a:prstGeom>
          <a:noFill/>
        </p:spPr>
        <p:txBody>
          <a:bodyPr wrap="square" anchor="t" lIns="0" rIns="0" tIns="0" bIns="0">
            <a:spAutoFit/>
          </a:bodyPr>
          <a:lstStyle/>
          <a:p>
            <a:pPr>
              <a:spcAft>
                <a:spcPts val="1400"/>
              </a:spcAft>
            </a:pPr>
            <a:r>
              <a:rPr sz="2400" b="1">
                <a:solidFill>
                  <a:srgbClr val="2F6FDF"/>
                </a:solidFill>
                <a:latin typeface="Segoe UI"/>
              </a:rPr>
              <a:t>try: ... except: ...</a:t>
            </a:r>
          </a:p>
          <a:p>
            <a:pPr>
              <a:spcAft>
                <a:spcPts val="1000"/>
              </a:spcAft>
            </a:pPr>
            <a:r>
              <a:rPr sz="1900" b="0">
                <a:solidFill>
                  <a:srgbClr val="1C2330"/>
                </a:solidFill>
                <a:latin typeface="Segoe UI"/>
              </a:rPr>
              <a:t>•  </a:t>
            </a:r>
            <a:r>
              <a:rPr sz="1900" b="1">
                <a:solidFill>
                  <a:srgbClr val="1C2330"/>
                </a:solidFill>
                <a:latin typeface="Segoe UI"/>
              </a:rPr>
              <a:t>Catches</a:t>
            </a:r>
            <a:r>
              <a:rPr sz="1900" b="0">
                <a:solidFill>
                  <a:srgbClr val="1C2330"/>
                </a:solidFill>
                <a:latin typeface="Segoe UI"/>
              </a:rPr>
              <a:t> the error and stops it</a:t>
            </a:r>
          </a:p>
          <a:p>
            <a:pPr>
              <a:spcAft>
                <a:spcPts val="1000"/>
              </a:spcAft>
            </a:pPr>
            <a:r>
              <a:rPr sz="1900" b="0">
                <a:solidFill>
                  <a:srgbClr val="1C2330"/>
                </a:solidFill>
                <a:latin typeface="Segoe UI"/>
              </a:rPr>
              <a:t>•  Does </a:t>
            </a:r>
            <a:r>
              <a:rPr sz="1900" b="1">
                <a:solidFill>
                  <a:srgbClr val="1C2330"/>
                </a:solidFill>
                <a:latin typeface="Segoe UI"/>
              </a:rPr>
              <a:t>not</a:t>
            </a:r>
            <a:r>
              <a:rPr sz="1900" b="0">
                <a:solidFill>
                  <a:srgbClr val="1C2330"/>
                </a:solidFill>
                <a:latin typeface="Segoe UI"/>
              </a:rPr>
              <a:t> undo any saves</a:t>
            </a:r>
          </a:p>
          <a:p>
            <a:pPr>
              <a:spcAft>
                <a:spcPts val="1000"/>
              </a:spcAft>
            </a:pPr>
            <a:r>
              <a:rPr sz="1900" b="0">
                <a:solidFill>
                  <a:srgbClr val="1C2330"/>
                </a:solidFill>
                <a:latin typeface="Segoe UI"/>
              </a:rPr>
              <a:t>•  Hides the error from the caller</a:t>
            </a:r>
          </a:p>
          <a:p>
            <a:pPr>
              <a:spcAft>
                <a:spcPts val="1000"/>
              </a:spcAft>
            </a:pPr>
            <a:r>
              <a:rPr sz="1900" b="0">
                <a:solidFill>
                  <a:srgbClr val="1C2330"/>
                </a:solidFill>
                <a:latin typeface="Segoe UI"/>
              </a:rPr>
              <a:t>•  Don't use it in </a:t>
            </a:r>
            <a:r>
              <a:rPr sz="1900" b="0">
                <a:solidFill>
                  <a:srgbClr val="6A3FC0"/>
                </a:solidFill>
                <a:latin typeface="Consolas"/>
              </a:rPr>
              <a:t>transfer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8A4F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0"/>
            <a:ext cx="10911535" cy="274320"/>
          </a:xfrm>
          <a:prstGeom prst="rect">
            <a:avLst/>
          </a:prstGeom>
          <a:noFill/>
        </p:spPr>
        <p:txBody>
          <a:bodyPr wrap="square" anchor="t" lIns="0" rIns="0" tIns="0" bIns="0">
            <a:spAutoFit/>
          </a:bodyPr>
          <a:lstStyle/>
          <a:p>
            <a:pPr>
              <a:spcAft>
                <a:spcPts val="600"/>
              </a:spcAft>
            </a:pPr>
            <a:r>
              <a:rPr sz="1100" b="0">
                <a:solidFill>
                  <a:srgbClr val="5D6778"/>
                </a:solidFill>
                <a:latin typeface="Segoe UI"/>
              </a:rPr>
              <a:t>Backend Lab  ·  Exercise 13  ·  All or nothing: transactions</a:t>
            </a:r>
          </a:p>
        </p:txBody>
      </p:sp>
      <p:sp>
        <p:nvSpPr>
          <p:cNvPr id="4" name="TextBox 3"/>
          <p:cNvSpPr txBox="1"/>
          <p:nvPr/>
        </p:nvSpPr>
        <p:spPr>
          <a:xfrm>
            <a:off x="10637215" y="6400800"/>
            <a:ext cx="914400" cy="274320"/>
          </a:xfrm>
          <a:prstGeom prst="rect">
            <a:avLst/>
          </a:prstGeom>
          <a:noFill/>
        </p:spPr>
        <p:txBody>
          <a:bodyPr wrap="square" anchor="t" lIns="0" rIns="0" tIns="0" bIns="0">
            <a:spAutoFit/>
          </a:bodyPr>
          <a:lstStyle/>
          <a:p>
            <a:pPr algn="r">
              <a:spcAft>
                <a:spcPts val="600"/>
              </a:spcAft>
            </a:pPr>
            <a:r>
              <a:rPr sz="1100" b="0">
                <a:solidFill>
                  <a:srgbClr val="5D6778"/>
                </a:solidFill>
                <a:latin typeface="Segoe UI"/>
              </a:rPr>
              <a:t>9</a:t>
            </a:r>
          </a:p>
        </p:txBody>
      </p:sp>
      <p:sp>
        <p:nvSpPr>
          <p:cNvPr id="5" name="TextBox 4"/>
          <p:cNvSpPr txBox="1"/>
          <p:nvPr/>
        </p:nvSpPr>
        <p:spPr>
          <a:xfrm>
            <a:off x="640080" y="411480"/>
            <a:ext cx="10911535" cy="822960"/>
          </a:xfrm>
          <a:prstGeom prst="rect">
            <a:avLst/>
          </a:prstGeom>
          <a:noFill/>
        </p:spPr>
        <p:txBody>
          <a:bodyPr wrap="square" anchor="ctr" lIns="0" rIns="0" tIns="0" bIns="0">
            <a:spAutoFit/>
          </a:bodyPr>
          <a:lstStyle/>
          <a:p>
            <a:pPr>
              <a:spcAft>
                <a:spcPts val="600"/>
              </a:spcAft>
            </a:pPr>
            <a:r>
              <a:rPr sz="3200" b="1">
                <a:solidFill>
                  <a:srgbClr val="1C2330"/>
                </a:solidFill>
                <a:latin typeface="Segoe UI"/>
              </a:rPr>
              <a:t>Tool: select_for_update</a:t>
            </a:r>
          </a:p>
        </p:txBody>
      </p:sp>
      <p:sp>
        <p:nvSpPr>
          <p:cNvPr id="6" name="TextBox 5"/>
          <p:cNvSpPr txBox="1"/>
          <p:nvPr/>
        </p:nvSpPr>
        <p:spPr>
          <a:xfrm>
            <a:off x="640080" y="1463040"/>
            <a:ext cx="10911535" cy="822960"/>
          </a:xfrm>
          <a:prstGeom prst="rect">
            <a:avLst/>
          </a:prstGeom>
          <a:noFill/>
        </p:spPr>
        <p:txBody>
          <a:bodyPr wrap="square" anchor="t" lIns="0" rIns="0" tIns="0" bIns="0">
            <a:spAutoFit/>
          </a:bodyPr>
          <a:lstStyle/>
          <a:p>
            <a:pPr>
              <a:spcAft>
                <a:spcPts val="600"/>
              </a:spcAft>
            </a:pPr>
            <a:r>
              <a:rPr sz="2000" b="0">
                <a:solidFill>
                  <a:srgbClr val="1C2330"/>
                </a:solidFill>
                <a:latin typeface="Segoe UI"/>
              </a:rPr>
              <a:t>Locks the row until the transaction ends, so two transfers can't both spend the same money.</a:t>
            </a:r>
          </a:p>
        </p:txBody>
      </p:sp>
      <p:sp>
        <p:nvSpPr>
          <p:cNvPr id="7" name="Rounded Rectangle 6"/>
          <p:cNvSpPr/>
          <p:nvPr/>
        </p:nvSpPr>
        <p:spPr>
          <a:xfrm>
            <a:off x="640080" y="2331720"/>
            <a:ext cx="10911535" cy="3840480"/>
          </a:xfrm>
          <a:prstGeom prst="roundRect">
            <a:avLst>
              <a:gd name="adj" fmla="val 6000"/>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532888"/>
            <a:ext cx="10362895" cy="3474720"/>
          </a:xfrm>
          <a:prstGeom prst="rect">
            <a:avLst/>
          </a:prstGeom>
          <a:noFill/>
        </p:spPr>
        <p:txBody>
          <a:bodyPr wrap="square" anchor="t" lIns="0" rIns="0" tIns="0" bIns="0">
            <a:spAutoFit/>
          </a:bodyPr>
          <a:lstStyle/>
          <a:p>
            <a:pPr>
              <a:lnSpc>
                <a:spcPct val="110000"/>
              </a:lnSpc>
            </a:pPr>
            <a:r>
              <a:rPr sz="1800">
                <a:solidFill>
                  <a:srgbClr val="C586C0"/>
                </a:solidFill>
                <a:latin typeface="Consolas"/>
              </a:rPr>
              <a:t>with</a:t>
            </a:r>
            <a:r>
              <a:rPr sz="1800">
                <a:solidFill>
                  <a:srgbClr val="D4D4D4"/>
                </a:solidFill>
                <a:latin typeface="Consolas"/>
              </a:rPr>
              <a:t> </a:t>
            </a:r>
            <a:r>
              <a:rPr sz="1800">
                <a:solidFill>
                  <a:srgbClr val="9CDCFE"/>
                </a:solidFill>
                <a:latin typeface="Consolas"/>
              </a:rPr>
              <a:t>transaction</a:t>
            </a:r>
            <a:r>
              <a:rPr sz="1800">
                <a:solidFill>
                  <a:srgbClr val="D4D4D4"/>
                </a:solidFill>
                <a:latin typeface="Consolas"/>
              </a:rPr>
              <a:t>.</a:t>
            </a:r>
            <a:r>
              <a:rPr sz="1800">
                <a:solidFill>
                  <a:srgbClr val="9CDCFE"/>
                </a:solidFill>
                <a:latin typeface="Consolas"/>
              </a:rPr>
              <a:t>atomic</a:t>
            </a:r>
            <a:r>
              <a:rPr sz="1800">
                <a:solidFill>
                  <a:srgbClr val="D4D4D4"/>
                </a:solidFill>
                <a:latin typeface="Consolas"/>
              </a:rPr>
              <a:t>(</a:t>
            </a:r>
            <a:r>
              <a:rPr sz="1800">
                <a:solidFill>
                  <a:srgbClr val="D4D4D4"/>
                </a:solidFill>
                <a:latin typeface="Consolas"/>
              </a:rPr>
              <a:t>)</a:t>
            </a:r>
            <a:r>
              <a:rPr sz="1800">
                <a:solidFill>
                  <a:srgbClr val="D4D4D4"/>
                </a:solidFill>
                <a:latin typeface="Consolas"/>
              </a:rPr>
              <a:t>:</a:t>
            </a:r>
          </a:p>
          <a:p>
            <a:pPr>
              <a:lnSpc>
                <a:spcPct val="110000"/>
              </a:lnSpc>
            </a:pPr>
            <a:r>
              <a:rPr sz="1800">
                <a:solidFill>
                  <a:srgbClr val="D4D4D4"/>
                </a:solidFill>
                <a:latin typeface="Consolas"/>
              </a:rPr>
              <a:t>    </a:t>
            </a:r>
            <a:r>
              <a:rPr sz="1800">
                <a:solidFill>
                  <a:srgbClr val="9CDCFE"/>
                </a:solidFill>
                <a:latin typeface="Consolas"/>
              </a:rPr>
              <a:t>zoe</a:t>
            </a:r>
            <a:r>
              <a:rPr sz="1800">
                <a:solidFill>
                  <a:srgbClr val="D4D4D4"/>
                </a:solidFill>
                <a:latin typeface="Consolas"/>
              </a:rPr>
              <a:t> </a:t>
            </a:r>
            <a:r>
              <a:rPr sz="1800">
                <a:solidFill>
                  <a:srgbClr val="D4D4D4"/>
                </a:solidFill>
                <a:latin typeface="Consolas"/>
              </a:rPr>
              <a:t>=</a:t>
            </a:r>
            <a:r>
              <a:rPr sz="1800">
                <a:solidFill>
                  <a:srgbClr val="D4D4D4"/>
                </a:solidFill>
                <a:latin typeface="Consolas"/>
              </a:rPr>
              <a:t> </a:t>
            </a:r>
            <a:r>
              <a:rPr sz="1800">
                <a:solidFill>
                  <a:srgbClr val="9CDCFE"/>
                </a:solidFill>
                <a:latin typeface="Consolas"/>
              </a:rPr>
              <a:t>Account</a:t>
            </a:r>
            <a:r>
              <a:rPr sz="1800">
                <a:solidFill>
                  <a:srgbClr val="D4D4D4"/>
                </a:solidFill>
                <a:latin typeface="Consolas"/>
              </a:rPr>
              <a:t>.</a:t>
            </a:r>
            <a:r>
              <a:rPr sz="1800">
                <a:solidFill>
                  <a:srgbClr val="9CDCFE"/>
                </a:solidFill>
                <a:latin typeface="Consolas"/>
              </a:rPr>
              <a:t>objects</a:t>
            </a:r>
            <a:r>
              <a:rPr sz="1800">
                <a:solidFill>
                  <a:srgbClr val="D4D4D4"/>
                </a:solidFill>
                <a:latin typeface="Consolas"/>
              </a:rPr>
              <a:t>.</a:t>
            </a:r>
            <a:r>
              <a:rPr sz="1800">
                <a:solidFill>
                  <a:srgbClr val="9CDCFE"/>
                </a:solidFill>
                <a:latin typeface="Consolas"/>
              </a:rPr>
              <a:t>select_for_update</a:t>
            </a:r>
            <a:r>
              <a:rPr sz="1800">
                <a:solidFill>
                  <a:srgbClr val="D4D4D4"/>
                </a:solidFill>
                <a:latin typeface="Consolas"/>
              </a:rPr>
              <a:t>(</a:t>
            </a:r>
            <a:r>
              <a:rPr sz="1800">
                <a:solidFill>
                  <a:srgbClr val="D4D4D4"/>
                </a:solidFill>
                <a:latin typeface="Consolas"/>
              </a:rPr>
              <a:t>)</a:t>
            </a:r>
            <a:r>
              <a:rPr sz="1800">
                <a:solidFill>
                  <a:srgbClr val="D4D4D4"/>
                </a:solidFill>
                <a:latin typeface="Consolas"/>
              </a:rPr>
              <a:t>.</a:t>
            </a:r>
            <a:r>
              <a:rPr sz="1800">
                <a:solidFill>
                  <a:srgbClr val="9CDCFE"/>
                </a:solidFill>
                <a:latin typeface="Consolas"/>
              </a:rPr>
              <a:t>get</a:t>
            </a:r>
            <a:r>
              <a:rPr sz="1800">
                <a:solidFill>
                  <a:srgbClr val="D4D4D4"/>
                </a:solidFill>
                <a:latin typeface="Consolas"/>
              </a:rPr>
              <a:t>(</a:t>
            </a:r>
            <a:r>
              <a:rPr sz="1800">
                <a:solidFill>
                  <a:srgbClr val="9CDCFE"/>
                </a:solidFill>
                <a:latin typeface="Consolas"/>
              </a:rPr>
              <a:t>pk</a:t>
            </a:r>
            <a:r>
              <a:rPr sz="1800">
                <a:solidFill>
                  <a:srgbClr val="D4D4D4"/>
                </a:solidFill>
                <a:latin typeface="Consolas"/>
              </a:rPr>
              <a:t>=</a:t>
            </a:r>
            <a:r>
              <a:rPr sz="1800">
                <a:solidFill>
                  <a:srgbClr val="9CDCFE"/>
                </a:solidFill>
                <a:latin typeface="Consolas"/>
              </a:rPr>
              <a:t>zoe_id</a:t>
            </a:r>
            <a:r>
              <a:rPr sz="1800">
                <a:solidFill>
                  <a:srgbClr val="D4D4D4"/>
                </a:solidFill>
                <a:latin typeface="Consolas"/>
              </a:rPr>
              <a:t>)</a:t>
            </a:r>
          </a:p>
          <a:p>
            <a:pPr>
              <a:lnSpc>
                <a:spcPct val="110000"/>
              </a:lnSpc>
            </a:pPr>
            <a:r>
              <a:rPr sz="1800">
                <a:solidFill>
                  <a:srgbClr val="D4D4D4"/>
                </a:solidFill>
                <a:latin typeface="Consolas"/>
              </a:rPr>
              <a:t>    </a:t>
            </a:r>
            <a:r>
              <a:rPr sz="1800">
                <a:solidFill>
                  <a:srgbClr val="9CDCFE"/>
                </a:solidFill>
                <a:latin typeface="Consolas"/>
              </a:rPr>
              <a:t>zoe</a:t>
            </a:r>
            <a:r>
              <a:rPr sz="1800">
                <a:solidFill>
                  <a:srgbClr val="D4D4D4"/>
                </a:solidFill>
                <a:latin typeface="Consolas"/>
              </a:rPr>
              <a:t>.</a:t>
            </a:r>
            <a:r>
              <a:rPr sz="1800">
                <a:solidFill>
                  <a:srgbClr val="9CDCFE"/>
                </a:solidFill>
                <a:latin typeface="Consolas"/>
              </a:rPr>
              <a:t>balance</a:t>
            </a:r>
            <a:r>
              <a:rPr sz="1800">
                <a:solidFill>
                  <a:srgbClr val="D4D4D4"/>
                </a:solidFill>
                <a:latin typeface="Consolas"/>
              </a:rPr>
              <a:t> </a:t>
            </a:r>
            <a:r>
              <a:rPr sz="1800">
                <a:solidFill>
                  <a:srgbClr val="D4D4D4"/>
                </a:solidFill>
                <a:latin typeface="Consolas"/>
              </a:rPr>
              <a:t>-</a:t>
            </a:r>
            <a:r>
              <a:rPr sz="1800">
                <a:solidFill>
                  <a:srgbClr val="D4D4D4"/>
                </a:solidFill>
                <a:latin typeface="Consolas"/>
              </a:rPr>
              <a:t>=</a:t>
            </a:r>
            <a:r>
              <a:rPr sz="1800">
                <a:solidFill>
                  <a:srgbClr val="D4D4D4"/>
                </a:solidFill>
                <a:latin typeface="Consolas"/>
              </a:rPr>
              <a:t> </a:t>
            </a:r>
            <a:r>
              <a:rPr sz="1800">
                <a:solidFill>
                  <a:srgbClr val="B5CEA8"/>
                </a:solidFill>
                <a:latin typeface="Consolas"/>
              </a:rPr>
              <a:t>100</a:t>
            </a:r>
          </a:p>
          <a:p>
            <a:pPr>
              <a:lnSpc>
                <a:spcPct val="110000"/>
              </a:lnSpc>
            </a:pPr>
            <a:r>
              <a:rPr sz="1800">
                <a:solidFill>
                  <a:srgbClr val="D4D4D4"/>
                </a:solidFill>
                <a:latin typeface="Consolas"/>
              </a:rPr>
              <a:t>    </a:t>
            </a:r>
            <a:r>
              <a:rPr sz="1800">
                <a:solidFill>
                  <a:srgbClr val="9CDCFE"/>
                </a:solidFill>
                <a:latin typeface="Consolas"/>
              </a:rPr>
              <a:t>zoe</a:t>
            </a:r>
            <a:r>
              <a:rPr sz="1800">
                <a:solidFill>
                  <a:srgbClr val="D4D4D4"/>
                </a:solidFill>
                <a:latin typeface="Consolas"/>
              </a:rPr>
              <a:t>.</a:t>
            </a:r>
            <a:r>
              <a:rPr sz="1800">
                <a:solidFill>
                  <a:srgbClr val="9CDCFE"/>
                </a:solidFill>
                <a:latin typeface="Consolas"/>
              </a:rPr>
              <a:t>save</a:t>
            </a:r>
            <a:r>
              <a:rPr sz="1800">
                <a:solidFill>
                  <a:srgbClr val="D4D4D4"/>
                </a:solidFill>
                <a:latin typeface="Consolas"/>
              </a:rPr>
              <a:t>(</a:t>
            </a:r>
            <a:r>
              <a:rPr sz="1800">
                <a:solidFill>
                  <a:srgbClr val="D4D4D4"/>
                </a:solidFill>
                <a:latin typeface="Consolas"/>
              </a:rPr>
              <a:t>)</a:t>
            </a:r>
          </a:p>
          <a:p>
            <a:pPr>
              <a:lnSpc>
                <a:spcPct val="110000"/>
              </a:lnSpc>
            </a:pPr>
            <a:r>
              <a:rPr sz="1800">
                <a:solidFill>
                  <a:srgbClr val="6A9955"/>
                </a:solidFill>
                <a:latin typeface="Consolas"/>
              </a:rPr>
              <a:t># the lock on Zoe's row is released here</a:t>
            </a:r>
          </a:p>
          <a:p>
            <a:pPr>
              <a:lnSpc>
                <a:spcPct val="110000"/>
              </a:lnSpc>
            </a:pP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8A4F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0"/>
            <a:ext cx="10911535" cy="274320"/>
          </a:xfrm>
          <a:prstGeom prst="rect">
            <a:avLst/>
          </a:prstGeom>
          <a:noFill/>
        </p:spPr>
        <p:txBody>
          <a:bodyPr wrap="square" anchor="t" lIns="0" rIns="0" tIns="0" bIns="0">
            <a:spAutoFit/>
          </a:bodyPr>
          <a:lstStyle/>
          <a:p>
            <a:pPr>
              <a:spcAft>
                <a:spcPts val="600"/>
              </a:spcAft>
            </a:pPr>
            <a:r>
              <a:rPr sz="1100" b="0">
                <a:solidFill>
                  <a:srgbClr val="5D6778"/>
                </a:solidFill>
                <a:latin typeface="Segoe UI"/>
              </a:rPr>
              <a:t>Backend Lab  ·  Exercise 13  ·  All or nothing: transactions</a:t>
            </a:r>
          </a:p>
        </p:txBody>
      </p:sp>
      <p:sp>
        <p:nvSpPr>
          <p:cNvPr id="4" name="TextBox 3"/>
          <p:cNvSpPr txBox="1"/>
          <p:nvPr/>
        </p:nvSpPr>
        <p:spPr>
          <a:xfrm>
            <a:off x="10637215" y="6400800"/>
            <a:ext cx="914400" cy="274320"/>
          </a:xfrm>
          <a:prstGeom prst="rect">
            <a:avLst/>
          </a:prstGeom>
          <a:noFill/>
        </p:spPr>
        <p:txBody>
          <a:bodyPr wrap="square" anchor="t" lIns="0" rIns="0" tIns="0" bIns="0">
            <a:spAutoFit/>
          </a:bodyPr>
          <a:lstStyle/>
          <a:p>
            <a:pPr algn="r">
              <a:spcAft>
                <a:spcPts val="600"/>
              </a:spcAft>
            </a:pPr>
            <a:r>
              <a:rPr sz="1100" b="0">
                <a:solidFill>
                  <a:srgbClr val="5D6778"/>
                </a:solidFill>
                <a:latin typeface="Segoe UI"/>
              </a:rPr>
              <a:t>10</a:t>
            </a:r>
          </a:p>
        </p:txBody>
      </p:sp>
      <p:sp>
        <p:nvSpPr>
          <p:cNvPr id="5" name="TextBox 4"/>
          <p:cNvSpPr txBox="1"/>
          <p:nvPr/>
        </p:nvSpPr>
        <p:spPr>
          <a:xfrm>
            <a:off x="640080" y="411480"/>
            <a:ext cx="10911535" cy="822960"/>
          </a:xfrm>
          <a:prstGeom prst="rect">
            <a:avLst/>
          </a:prstGeom>
          <a:noFill/>
        </p:spPr>
        <p:txBody>
          <a:bodyPr wrap="square" anchor="ctr" lIns="0" rIns="0" tIns="0" bIns="0">
            <a:spAutoFit/>
          </a:bodyPr>
          <a:lstStyle/>
          <a:p>
            <a:pPr>
              <a:spcAft>
                <a:spcPts val="600"/>
              </a:spcAft>
            </a:pPr>
            <a:r>
              <a:rPr sz="3200" b="1">
                <a:solidFill>
                  <a:srgbClr val="1C2330"/>
                </a:solidFill>
                <a:latin typeface="Segoe UI"/>
              </a:rPr>
              <a:t>Your task, step by step</a:t>
            </a:r>
          </a:p>
        </p:txBody>
      </p:sp>
      <p:sp>
        <p:nvSpPr>
          <p:cNvPr id="6" name="Oval 5"/>
          <p:cNvSpPr/>
          <p:nvPr/>
        </p:nvSpPr>
        <p:spPr>
          <a:xfrm>
            <a:off x="640080" y="1609997"/>
            <a:ext cx="457200" cy="457200"/>
          </a:xfrm>
          <a:prstGeom prst="ellipse">
            <a:avLst/>
          </a:prstGeom>
          <a:solidFill>
            <a:srgbClr val="8A4F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rPr>
              <a:t>1</a:t>
            </a:r>
          </a:p>
        </p:txBody>
      </p:sp>
      <p:sp>
        <p:nvSpPr>
          <p:cNvPr id="7" name="TextBox 6"/>
          <p:cNvSpPr txBox="1"/>
          <p:nvPr/>
        </p:nvSpPr>
        <p:spPr>
          <a:xfrm>
            <a:off x="1325880" y="1508760"/>
            <a:ext cx="8259775" cy="659674"/>
          </a:xfrm>
          <a:prstGeom prst="rect">
            <a:avLst/>
          </a:prstGeom>
          <a:noFill/>
        </p:spPr>
        <p:txBody>
          <a:bodyPr wrap="square" anchor="ctr" lIns="0" rIns="0" tIns="0" bIns="0">
            <a:spAutoFit/>
          </a:bodyPr>
          <a:lstStyle/>
          <a:p>
            <a:pPr>
              <a:spcAft>
                <a:spcPts val="600"/>
              </a:spcAft>
            </a:pPr>
            <a:r>
              <a:rPr sz="1900" b="0">
                <a:solidFill>
                  <a:srgbClr val="1C2330"/>
                </a:solidFill>
                <a:latin typeface="Segoe UI"/>
              </a:rPr>
              <a:t>If </a:t>
            </a:r>
            <a:r>
              <a:rPr sz="1900" b="0">
                <a:solidFill>
                  <a:srgbClr val="6A3FC0"/>
                </a:solidFill>
                <a:latin typeface="Consolas"/>
              </a:rPr>
              <a:t>amount</a:t>
            </a:r>
            <a:r>
              <a:rPr sz="1900" b="0">
                <a:solidFill>
                  <a:srgbClr val="1C2330"/>
                </a:solidFill>
                <a:latin typeface="Segoe UI"/>
              </a:rPr>
              <a:t> isn't an </a:t>
            </a:r>
            <a:r>
              <a:rPr sz="1900" b="0">
                <a:solidFill>
                  <a:srgbClr val="6A3FC0"/>
                </a:solidFill>
                <a:latin typeface="Consolas"/>
              </a:rPr>
              <a:t>int</a:t>
            </a:r>
            <a:r>
              <a:rPr sz="1900" b="0">
                <a:solidFill>
                  <a:srgbClr val="1C2330"/>
                </a:solidFill>
                <a:latin typeface="Segoe UI"/>
              </a:rPr>
              <a:t>, or is 0 or less, raise </a:t>
            </a:r>
            <a:r>
              <a:rPr sz="1900" b="0">
                <a:solidFill>
                  <a:srgbClr val="6A3FC0"/>
                </a:solidFill>
                <a:latin typeface="Consolas"/>
              </a:rPr>
              <a:t>ValueError</a:t>
            </a:r>
          </a:p>
        </p:txBody>
      </p:sp>
      <p:sp>
        <p:nvSpPr>
          <p:cNvPr id="8" name="TextBox 7"/>
          <p:cNvSpPr txBox="1"/>
          <p:nvPr/>
        </p:nvSpPr>
        <p:spPr>
          <a:xfrm>
            <a:off x="9722815" y="1508760"/>
            <a:ext cx="1828800" cy="659674"/>
          </a:xfrm>
          <a:prstGeom prst="rect">
            <a:avLst/>
          </a:prstGeom>
          <a:noFill/>
        </p:spPr>
        <p:txBody>
          <a:bodyPr wrap="square" anchor="ctr" lIns="0" rIns="0" tIns="0" bIns="0">
            <a:spAutoFit/>
          </a:bodyPr>
          <a:lstStyle/>
          <a:p>
            <a:pPr algn="r">
              <a:spcAft>
                <a:spcPts val="600"/>
              </a:spcAft>
            </a:pPr>
            <a:r>
              <a:rPr sz="1500" b="1">
                <a:solidFill>
                  <a:srgbClr val="2F6FDF"/>
                </a:solidFill>
                <a:latin typeface="Segoe UI"/>
              </a:rPr>
              <a:t>→ test 3</a:t>
            </a:r>
          </a:p>
        </p:txBody>
      </p:sp>
      <p:sp>
        <p:nvSpPr>
          <p:cNvPr id="9" name="Oval 8"/>
          <p:cNvSpPr/>
          <p:nvPr/>
        </p:nvSpPr>
        <p:spPr>
          <a:xfrm>
            <a:off x="640080" y="2269671"/>
            <a:ext cx="457200" cy="457200"/>
          </a:xfrm>
          <a:prstGeom prst="ellipse">
            <a:avLst/>
          </a:prstGeom>
          <a:solidFill>
            <a:srgbClr val="8A4F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rPr>
              <a:t>2</a:t>
            </a:r>
          </a:p>
        </p:txBody>
      </p:sp>
      <p:sp>
        <p:nvSpPr>
          <p:cNvPr id="10" name="TextBox 9"/>
          <p:cNvSpPr txBox="1"/>
          <p:nvPr/>
        </p:nvSpPr>
        <p:spPr>
          <a:xfrm>
            <a:off x="1325880" y="2168434"/>
            <a:ext cx="8259775" cy="659674"/>
          </a:xfrm>
          <a:prstGeom prst="rect">
            <a:avLst/>
          </a:prstGeom>
          <a:noFill/>
        </p:spPr>
        <p:txBody>
          <a:bodyPr wrap="square" anchor="ctr" lIns="0" rIns="0" tIns="0" bIns="0">
            <a:spAutoFit/>
          </a:bodyPr>
          <a:lstStyle/>
          <a:p>
            <a:pPr>
              <a:spcAft>
                <a:spcPts val="600"/>
              </a:spcAft>
            </a:pPr>
            <a:r>
              <a:rPr sz="1900" b="0">
                <a:solidFill>
                  <a:srgbClr val="1C2330"/>
                </a:solidFill>
                <a:latin typeface="Segoe UI"/>
              </a:rPr>
              <a:t>If </a:t>
            </a:r>
            <a:r>
              <a:rPr sz="1900" b="0">
                <a:solidFill>
                  <a:srgbClr val="6A3FC0"/>
                </a:solidFill>
                <a:latin typeface="Consolas"/>
              </a:rPr>
              <a:t>source_id == destination_id</a:t>
            </a:r>
            <a:r>
              <a:rPr sz="1900" b="0">
                <a:solidFill>
                  <a:srgbClr val="1C2330"/>
                </a:solidFill>
                <a:latin typeface="Segoe UI"/>
              </a:rPr>
              <a:t>, raise </a:t>
            </a:r>
            <a:r>
              <a:rPr sz="1900" b="0">
                <a:solidFill>
                  <a:srgbClr val="6A3FC0"/>
                </a:solidFill>
                <a:latin typeface="Consolas"/>
              </a:rPr>
              <a:t>ValueError</a:t>
            </a:r>
          </a:p>
        </p:txBody>
      </p:sp>
      <p:sp>
        <p:nvSpPr>
          <p:cNvPr id="11" name="TextBox 10"/>
          <p:cNvSpPr txBox="1"/>
          <p:nvPr/>
        </p:nvSpPr>
        <p:spPr>
          <a:xfrm>
            <a:off x="9722815" y="2168434"/>
            <a:ext cx="1828800" cy="659674"/>
          </a:xfrm>
          <a:prstGeom prst="rect">
            <a:avLst/>
          </a:prstGeom>
          <a:noFill/>
        </p:spPr>
        <p:txBody>
          <a:bodyPr wrap="square" anchor="ctr" lIns="0" rIns="0" tIns="0" bIns="0">
            <a:spAutoFit/>
          </a:bodyPr>
          <a:lstStyle/>
          <a:p>
            <a:pPr algn="r">
              <a:spcAft>
                <a:spcPts val="600"/>
              </a:spcAft>
            </a:pPr>
            <a:r>
              <a:rPr sz="1500" b="1">
                <a:solidFill>
                  <a:srgbClr val="2F6FDF"/>
                </a:solidFill>
                <a:latin typeface="Segoe UI"/>
              </a:rPr>
              <a:t>→ test 4</a:t>
            </a:r>
          </a:p>
        </p:txBody>
      </p:sp>
      <p:sp>
        <p:nvSpPr>
          <p:cNvPr id="12" name="Oval 11"/>
          <p:cNvSpPr/>
          <p:nvPr/>
        </p:nvSpPr>
        <p:spPr>
          <a:xfrm>
            <a:off x="640080" y="2929345"/>
            <a:ext cx="457200" cy="457200"/>
          </a:xfrm>
          <a:prstGeom prst="ellipse">
            <a:avLst/>
          </a:prstGeom>
          <a:solidFill>
            <a:srgbClr val="8A4F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rPr>
              <a:t>3</a:t>
            </a:r>
          </a:p>
        </p:txBody>
      </p:sp>
      <p:sp>
        <p:nvSpPr>
          <p:cNvPr id="13" name="TextBox 12"/>
          <p:cNvSpPr txBox="1"/>
          <p:nvPr/>
        </p:nvSpPr>
        <p:spPr>
          <a:xfrm>
            <a:off x="1325880" y="2828108"/>
            <a:ext cx="8259775" cy="659674"/>
          </a:xfrm>
          <a:prstGeom prst="rect">
            <a:avLst/>
          </a:prstGeom>
          <a:noFill/>
        </p:spPr>
        <p:txBody>
          <a:bodyPr wrap="square" anchor="ctr" lIns="0" rIns="0" tIns="0" bIns="0">
            <a:spAutoFit/>
          </a:bodyPr>
          <a:lstStyle/>
          <a:p>
            <a:pPr>
              <a:spcAft>
                <a:spcPts val="600"/>
              </a:spcAft>
            </a:pPr>
            <a:r>
              <a:rPr sz="1900" b="0">
                <a:solidFill>
                  <a:srgbClr val="1C2330"/>
                </a:solidFill>
                <a:latin typeface="Segoe UI"/>
              </a:rPr>
              <a:t>Move all the database code inside </a:t>
            </a:r>
            <a:r>
              <a:rPr sz="1900" b="0">
                <a:solidFill>
                  <a:srgbClr val="6A3FC0"/>
                </a:solidFill>
                <a:latin typeface="Consolas"/>
              </a:rPr>
              <a:t>with transaction.atomic():</a:t>
            </a:r>
          </a:p>
        </p:txBody>
      </p:sp>
      <p:sp>
        <p:nvSpPr>
          <p:cNvPr id="14" name="TextBox 13"/>
          <p:cNvSpPr txBox="1"/>
          <p:nvPr/>
        </p:nvSpPr>
        <p:spPr>
          <a:xfrm>
            <a:off x="9722815" y="2828108"/>
            <a:ext cx="1828800" cy="659674"/>
          </a:xfrm>
          <a:prstGeom prst="rect">
            <a:avLst/>
          </a:prstGeom>
          <a:noFill/>
        </p:spPr>
        <p:txBody>
          <a:bodyPr wrap="square" anchor="ctr" lIns="0" rIns="0" tIns="0" bIns="0">
            <a:spAutoFit/>
          </a:bodyPr>
          <a:lstStyle/>
          <a:p>
            <a:pPr algn="r">
              <a:spcAft>
                <a:spcPts val="600"/>
              </a:spcAft>
            </a:pPr>
            <a:r>
              <a:rPr sz="1500" b="1">
                <a:solidFill>
                  <a:srgbClr val="2F6FDF"/>
                </a:solidFill>
                <a:latin typeface="Segoe UI"/>
              </a:rPr>
              <a:t>→ test 7</a:t>
            </a:r>
          </a:p>
        </p:txBody>
      </p:sp>
      <p:sp>
        <p:nvSpPr>
          <p:cNvPr id="15" name="Oval 14"/>
          <p:cNvSpPr/>
          <p:nvPr/>
        </p:nvSpPr>
        <p:spPr>
          <a:xfrm>
            <a:off x="640080" y="3589019"/>
            <a:ext cx="457200" cy="457200"/>
          </a:xfrm>
          <a:prstGeom prst="ellipse">
            <a:avLst/>
          </a:prstGeom>
          <a:solidFill>
            <a:srgbClr val="8A4F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rPr>
              <a:t>4</a:t>
            </a:r>
          </a:p>
        </p:txBody>
      </p:sp>
      <p:sp>
        <p:nvSpPr>
          <p:cNvPr id="16" name="TextBox 15"/>
          <p:cNvSpPr txBox="1"/>
          <p:nvPr/>
        </p:nvSpPr>
        <p:spPr>
          <a:xfrm>
            <a:off x="1325880" y="3487782"/>
            <a:ext cx="8259775" cy="659674"/>
          </a:xfrm>
          <a:prstGeom prst="rect">
            <a:avLst/>
          </a:prstGeom>
          <a:noFill/>
        </p:spPr>
        <p:txBody>
          <a:bodyPr wrap="square" anchor="ctr" lIns="0" rIns="0" tIns="0" bIns="0">
            <a:spAutoFit/>
          </a:bodyPr>
          <a:lstStyle/>
          <a:p>
            <a:pPr>
              <a:spcAft>
                <a:spcPts val="600"/>
              </a:spcAft>
            </a:pPr>
            <a:r>
              <a:rPr sz="1900" b="0">
                <a:solidFill>
                  <a:srgbClr val="1C2330"/>
                </a:solidFill>
                <a:latin typeface="Segoe UI"/>
              </a:rPr>
              <a:t>Fetch both accounts first with </a:t>
            </a:r>
            <a:r>
              <a:rPr sz="1900" b="0">
                <a:solidFill>
                  <a:srgbClr val="6A3FC0"/>
                </a:solidFill>
                <a:latin typeface="Consolas"/>
              </a:rPr>
              <a:t>select_for_update().get(pk=...)</a:t>
            </a:r>
          </a:p>
        </p:txBody>
      </p:sp>
      <p:sp>
        <p:nvSpPr>
          <p:cNvPr id="17" name="TextBox 16"/>
          <p:cNvSpPr txBox="1"/>
          <p:nvPr/>
        </p:nvSpPr>
        <p:spPr>
          <a:xfrm>
            <a:off x="9722815" y="3487782"/>
            <a:ext cx="1828800" cy="659674"/>
          </a:xfrm>
          <a:prstGeom prst="rect">
            <a:avLst/>
          </a:prstGeom>
          <a:noFill/>
        </p:spPr>
        <p:txBody>
          <a:bodyPr wrap="square" anchor="ctr" lIns="0" rIns="0" tIns="0" bIns="0">
            <a:spAutoFit/>
          </a:bodyPr>
          <a:lstStyle/>
          <a:p>
            <a:pPr algn="r">
              <a:spcAft>
                <a:spcPts val="600"/>
              </a:spcAft>
            </a:pPr>
            <a:r>
              <a:rPr sz="1500" b="1">
                <a:solidFill>
                  <a:srgbClr val="2F6FDF"/>
                </a:solidFill>
                <a:latin typeface="Segoe UI"/>
              </a:rPr>
              <a:t>→ test 6</a:t>
            </a:r>
          </a:p>
        </p:txBody>
      </p:sp>
      <p:sp>
        <p:nvSpPr>
          <p:cNvPr id="18" name="Oval 17"/>
          <p:cNvSpPr/>
          <p:nvPr/>
        </p:nvSpPr>
        <p:spPr>
          <a:xfrm>
            <a:off x="640080" y="4248693"/>
            <a:ext cx="457200" cy="457200"/>
          </a:xfrm>
          <a:prstGeom prst="ellipse">
            <a:avLst/>
          </a:prstGeom>
          <a:solidFill>
            <a:srgbClr val="8A4F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rPr>
              <a:t>5</a:t>
            </a:r>
          </a:p>
        </p:txBody>
      </p:sp>
      <p:sp>
        <p:nvSpPr>
          <p:cNvPr id="19" name="TextBox 18"/>
          <p:cNvSpPr txBox="1"/>
          <p:nvPr/>
        </p:nvSpPr>
        <p:spPr>
          <a:xfrm>
            <a:off x="1325880" y="4147456"/>
            <a:ext cx="8259775" cy="659674"/>
          </a:xfrm>
          <a:prstGeom prst="rect">
            <a:avLst/>
          </a:prstGeom>
          <a:noFill/>
        </p:spPr>
        <p:txBody>
          <a:bodyPr wrap="square" anchor="ctr" lIns="0" rIns="0" tIns="0" bIns="0">
            <a:spAutoFit/>
          </a:bodyPr>
          <a:lstStyle/>
          <a:p>
            <a:pPr>
              <a:spcAft>
                <a:spcPts val="600"/>
              </a:spcAft>
            </a:pPr>
            <a:r>
              <a:rPr sz="1900" b="0">
                <a:solidFill>
                  <a:srgbClr val="1C2330"/>
                </a:solidFill>
                <a:latin typeface="Segoe UI"/>
              </a:rPr>
              <a:t>If </a:t>
            </a:r>
            <a:r>
              <a:rPr sz="1900" b="0">
                <a:solidFill>
                  <a:srgbClr val="6A3FC0"/>
                </a:solidFill>
                <a:latin typeface="Consolas"/>
              </a:rPr>
              <a:t>source.balance &lt; amount</a:t>
            </a:r>
            <a:r>
              <a:rPr sz="1900" b="0">
                <a:solidFill>
                  <a:srgbClr val="1C2330"/>
                </a:solidFill>
                <a:latin typeface="Segoe UI"/>
              </a:rPr>
              <a:t>, raise </a:t>
            </a:r>
            <a:r>
              <a:rPr sz="1900" b="0">
                <a:solidFill>
                  <a:srgbClr val="6A3FC0"/>
                </a:solidFill>
                <a:latin typeface="Consolas"/>
              </a:rPr>
              <a:t>InsufficientFunds</a:t>
            </a:r>
          </a:p>
        </p:txBody>
      </p:sp>
      <p:sp>
        <p:nvSpPr>
          <p:cNvPr id="20" name="TextBox 19"/>
          <p:cNvSpPr txBox="1"/>
          <p:nvPr/>
        </p:nvSpPr>
        <p:spPr>
          <a:xfrm>
            <a:off x="9722815" y="4147456"/>
            <a:ext cx="1828800" cy="659674"/>
          </a:xfrm>
          <a:prstGeom prst="rect">
            <a:avLst/>
          </a:prstGeom>
          <a:noFill/>
        </p:spPr>
        <p:txBody>
          <a:bodyPr wrap="square" anchor="ctr" lIns="0" rIns="0" tIns="0" bIns="0">
            <a:spAutoFit/>
          </a:bodyPr>
          <a:lstStyle/>
          <a:p>
            <a:pPr algn="r">
              <a:spcAft>
                <a:spcPts val="600"/>
              </a:spcAft>
            </a:pPr>
            <a:r>
              <a:rPr sz="1500" b="1">
                <a:solidFill>
                  <a:srgbClr val="2F6FDF"/>
                </a:solidFill>
                <a:latin typeface="Segoe UI"/>
              </a:rPr>
              <a:t>→ test 5</a:t>
            </a:r>
          </a:p>
        </p:txBody>
      </p:sp>
      <p:sp>
        <p:nvSpPr>
          <p:cNvPr id="21" name="Oval 20"/>
          <p:cNvSpPr/>
          <p:nvPr/>
        </p:nvSpPr>
        <p:spPr>
          <a:xfrm>
            <a:off x="640080" y="4908367"/>
            <a:ext cx="457200" cy="457200"/>
          </a:xfrm>
          <a:prstGeom prst="ellipse">
            <a:avLst/>
          </a:prstGeom>
          <a:solidFill>
            <a:srgbClr val="8A4F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rPr>
              <a:t>6</a:t>
            </a:r>
          </a:p>
        </p:txBody>
      </p:sp>
      <p:sp>
        <p:nvSpPr>
          <p:cNvPr id="22" name="TextBox 21"/>
          <p:cNvSpPr txBox="1"/>
          <p:nvPr/>
        </p:nvSpPr>
        <p:spPr>
          <a:xfrm>
            <a:off x="1325880" y="4807130"/>
            <a:ext cx="8259775" cy="659674"/>
          </a:xfrm>
          <a:prstGeom prst="rect">
            <a:avLst/>
          </a:prstGeom>
          <a:noFill/>
        </p:spPr>
        <p:txBody>
          <a:bodyPr wrap="square" anchor="ctr" lIns="0" rIns="0" tIns="0" bIns="0">
            <a:spAutoFit/>
          </a:bodyPr>
          <a:lstStyle/>
          <a:p>
            <a:pPr>
              <a:spcAft>
                <a:spcPts val="600"/>
              </a:spcAft>
            </a:pPr>
            <a:r>
              <a:rPr sz="1900" b="0">
                <a:solidFill>
                  <a:srgbClr val="1C2330"/>
                </a:solidFill>
                <a:latin typeface="Segoe UI"/>
              </a:rPr>
              <a:t>Subtract, add, and </a:t>
            </a:r>
            <a:r>
              <a:rPr sz="1900" b="0">
                <a:solidFill>
                  <a:srgbClr val="6A3FC0"/>
                </a:solidFill>
                <a:latin typeface="Consolas"/>
              </a:rPr>
              <a:t>.save()</a:t>
            </a:r>
            <a:r>
              <a:rPr sz="1900" b="0">
                <a:solidFill>
                  <a:srgbClr val="1C2330"/>
                </a:solidFill>
                <a:latin typeface="Segoe UI"/>
              </a:rPr>
              <a:t> both accounts</a:t>
            </a:r>
          </a:p>
        </p:txBody>
      </p:sp>
      <p:sp>
        <p:nvSpPr>
          <p:cNvPr id="23" name="TextBox 22"/>
          <p:cNvSpPr txBox="1"/>
          <p:nvPr/>
        </p:nvSpPr>
        <p:spPr>
          <a:xfrm>
            <a:off x="9722815" y="4807130"/>
            <a:ext cx="1828800" cy="659674"/>
          </a:xfrm>
          <a:prstGeom prst="rect">
            <a:avLst/>
          </a:prstGeom>
          <a:noFill/>
        </p:spPr>
        <p:txBody>
          <a:bodyPr wrap="square" anchor="ctr" lIns="0" rIns="0" tIns="0" bIns="0">
            <a:spAutoFit/>
          </a:bodyPr>
          <a:lstStyle/>
          <a:p>
            <a:pPr algn="r">
              <a:spcAft>
                <a:spcPts val="600"/>
              </a:spcAft>
            </a:pPr>
            <a:r>
              <a:rPr sz="1500" b="1">
                <a:solidFill>
                  <a:srgbClr val="2F6FDF"/>
                </a:solidFill>
                <a:latin typeface="Segoe UI"/>
              </a:rPr>
              <a:t>→ test 1</a:t>
            </a:r>
          </a:p>
        </p:txBody>
      </p:sp>
      <p:sp>
        <p:nvSpPr>
          <p:cNvPr id="24" name="Oval 23"/>
          <p:cNvSpPr/>
          <p:nvPr/>
        </p:nvSpPr>
        <p:spPr>
          <a:xfrm>
            <a:off x="640080" y="5568041"/>
            <a:ext cx="457200" cy="457200"/>
          </a:xfrm>
          <a:prstGeom prst="ellipse">
            <a:avLst/>
          </a:prstGeom>
          <a:solidFill>
            <a:srgbClr val="8A4F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rPr>
              <a:t>7</a:t>
            </a:r>
          </a:p>
        </p:txBody>
      </p:sp>
      <p:sp>
        <p:nvSpPr>
          <p:cNvPr id="25" name="TextBox 24"/>
          <p:cNvSpPr txBox="1"/>
          <p:nvPr/>
        </p:nvSpPr>
        <p:spPr>
          <a:xfrm>
            <a:off x="1325880" y="5466804"/>
            <a:ext cx="8259775" cy="659674"/>
          </a:xfrm>
          <a:prstGeom prst="rect">
            <a:avLst/>
          </a:prstGeom>
          <a:noFill/>
        </p:spPr>
        <p:txBody>
          <a:bodyPr wrap="square" anchor="ctr" lIns="0" rIns="0" tIns="0" bIns="0">
            <a:spAutoFit/>
          </a:bodyPr>
          <a:lstStyle/>
          <a:p>
            <a:pPr>
              <a:spcAft>
                <a:spcPts val="600"/>
              </a:spcAft>
            </a:pPr>
            <a:r>
              <a:rPr sz="1900" b="0">
                <a:solidFill>
                  <a:srgbClr val="1C2330"/>
                </a:solidFill>
                <a:latin typeface="Segoe UI"/>
              </a:rPr>
              <a:t>Keep </a:t>
            </a:r>
            <a:r>
              <a:rPr sz="1900" b="0">
                <a:solidFill>
                  <a:srgbClr val="6A3FC0"/>
                </a:solidFill>
                <a:latin typeface="Consolas"/>
              </a:rPr>
              <a:t>return TransferLog.objects.create(...)</a:t>
            </a:r>
            <a:r>
              <a:rPr sz="1900" b="0">
                <a:solidFill>
                  <a:srgbClr val="1C2330"/>
                </a:solidFill>
                <a:latin typeface="Segoe UI"/>
              </a:rPr>
              <a:t> inside the block</a:t>
            </a:r>
          </a:p>
        </p:txBody>
      </p:sp>
      <p:sp>
        <p:nvSpPr>
          <p:cNvPr id="26" name="TextBox 25"/>
          <p:cNvSpPr txBox="1"/>
          <p:nvPr/>
        </p:nvSpPr>
        <p:spPr>
          <a:xfrm>
            <a:off x="9722815" y="5466804"/>
            <a:ext cx="1828800" cy="659674"/>
          </a:xfrm>
          <a:prstGeom prst="rect">
            <a:avLst/>
          </a:prstGeom>
          <a:noFill/>
        </p:spPr>
        <p:txBody>
          <a:bodyPr wrap="square" anchor="ctr" lIns="0" rIns="0" tIns="0" bIns="0">
            <a:spAutoFit/>
          </a:bodyPr>
          <a:lstStyle/>
          <a:p>
            <a:pPr algn="r">
              <a:spcAft>
                <a:spcPts val="600"/>
              </a:spcAft>
            </a:pPr>
            <a:r>
              <a:rPr sz="1500" b="1">
                <a:solidFill>
                  <a:srgbClr val="2F6FDF"/>
                </a:solidFill>
                <a:latin typeface="Segoe UI"/>
              </a:rPr>
              <a:t>→ tests 2, 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8A4F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0"/>
            <a:ext cx="10911535" cy="274320"/>
          </a:xfrm>
          <a:prstGeom prst="rect">
            <a:avLst/>
          </a:prstGeom>
          <a:noFill/>
        </p:spPr>
        <p:txBody>
          <a:bodyPr wrap="square" anchor="t" lIns="0" rIns="0" tIns="0" bIns="0">
            <a:spAutoFit/>
          </a:bodyPr>
          <a:lstStyle/>
          <a:p>
            <a:pPr>
              <a:spcAft>
                <a:spcPts val="600"/>
              </a:spcAft>
            </a:pPr>
            <a:r>
              <a:rPr sz="1100" b="0">
                <a:solidFill>
                  <a:srgbClr val="5D6778"/>
                </a:solidFill>
                <a:latin typeface="Segoe UI"/>
              </a:rPr>
              <a:t>Backend Lab  ·  Exercise 13  ·  All or nothing: transactions</a:t>
            </a:r>
          </a:p>
        </p:txBody>
      </p:sp>
      <p:sp>
        <p:nvSpPr>
          <p:cNvPr id="4" name="TextBox 3"/>
          <p:cNvSpPr txBox="1"/>
          <p:nvPr/>
        </p:nvSpPr>
        <p:spPr>
          <a:xfrm>
            <a:off x="10637215" y="6400800"/>
            <a:ext cx="914400" cy="274320"/>
          </a:xfrm>
          <a:prstGeom prst="rect">
            <a:avLst/>
          </a:prstGeom>
          <a:noFill/>
        </p:spPr>
        <p:txBody>
          <a:bodyPr wrap="square" anchor="t" lIns="0" rIns="0" tIns="0" bIns="0">
            <a:spAutoFit/>
          </a:bodyPr>
          <a:lstStyle/>
          <a:p>
            <a:pPr algn="r">
              <a:spcAft>
                <a:spcPts val="600"/>
              </a:spcAft>
            </a:pPr>
            <a:r>
              <a:rPr sz="1100" b="0">
                <a:solidFill>
                  <a:srgbClr val="5D6778"/>
                </a:solidFill>
                <a:latin typeface="Segoe UI"/>
              </a:rPr>
              <a:t>11</a:t>
            </a:r>
          </a:p>
        </p:txBody>
      </p:sp>
      <p:sp>
        <p:nvSpPr>
          <p:cNvPr id="5" name="TextBox 4"/>
          <p:cNvSpPr txBox="1"/>
          <p:nvPr/>
        </p:nvSpPr>
        <p:spPr>
          <a:xfrm>
            <a:off x="640080" y="411480"/>
            <a:ext cx="10911535" cy="822960"/>
          </a:xfrm>
          <a:prstGeom prst="rect">
            <a:avLst/>
          </a:prstGeom>
          <a:noFill/>
        </p:spPr>
        <p:txBody>
          <a:bodyPr wrap="square" anchor="ctr" lIns="0" rIns="0" tIns="0" bIns="0">
            <a:spAutoFit/>
          </a:bodyPr>
          <a:lstStyle/>
          <a:p>
            <a:pPr>
              <a:spcAft>
                <a:spcPts val="600"/>
              </a:spcAft>
            </a:pPr>
            <a:r>
              <a:rPr sz="3200" b="1">
                <a:solidFill>
                  <a:srgbClr val="1C2330"/>
                </a:solidFill>
                <a:latin typeface="Segoe UI"/>
              </a:rPr>
              <a:t>Common mistakes</a:t>
            </a:r>
          </a:p>
        </p:txBody>
      </p:sp>
      <p:sp>
        <p:nvSpPr>
          <p:cNvPr id="6" name="TextBox 5"/>
          <p:cNvSpPr txBox="1"/>
          <p:nvPr/>
        </p:nvSpPr>
        <p:spPr>
          <a:xfrm>
            <a:off x="640080" y="1600200"/>
            <a:ext cx="10911535" cy="4526280"/>
          </a:xfrm>
          <a:prstGeom prst="rect">
            <a:avLst/>
          </a:prstGeom>
          <a:noFill/>
        </p:spPr>
        <p:txBody>
          <a:bodyPr wrap="square" anchor="t" lIns="0" rIns="0" tIns="0" bIns="0">
            <a:spAutoFit/>
          </a:bodyPr>
          <a:lstStyle/>
          <a:p>
            <a:pPr>
              <a:spcAft>
                <a:spcPts val="1600"/>
              </a:spcAft>
            </a:pPr>
            <a:r>
              <a:rPr sz="2400" b="0">
                <a:solidFill>
                  <a:srgbClr val="1C2330"/>
                </a:solidFill>
                <a:latin typeface="Segoe UI"/>
              </a:rPr>
              <a:t>•  Leaving some </a:t>
            </a:r>
            <a:r>
              <a:rPr sz="2400" b="0">
                <a:solidFill>
                  <a:srgbClr val="6A3FC0"/>
                </a:solidFill>
                <a:latin typeface="Consolas"/>
              </a:rPr>
              <a:t>save()</a:t>
            </a:r>
            <a:r>
              <a:rPr sz="2400" b="0">
                <a:solidFill>
                  <a:srgbClr val="1C2330"/>
                </a:solidFill>
                <a:latin typeface="Segoe UI"/>
              </a:rPr>
              <a:t> lines outside the </a:t>
            </a:r>
            <a:r>
              <a:rPr sz="2400" b="0">
                <a:solidFill>
                  <a:srgbClr val="6A3FC0"/>
                </a:solidFill>
                <a:latin typeface="Consolas"/>
              </a:rPr>
              <a:t>with</a:t>
            </a:r>
            <a:r>
              <a:rPr sz="2400" b="0">
                <a:solidFill>
                  <a:srgbClr val="1C2330"/>
                </a:solidFill>
                <a:latin typeface="Segoe UI"/>
              </a:rPr>
              <a:t> block (not indented)</a:t>
            </a:r>
          </a:p>
          <a:p>
            <a:pPr>
              <a:spcAft>
                <a:spcPts val="1600"/>
              </a:spcAft>
            </a:pPr>
            <a:r>
              <a:rPr sz="2400" b="0">
                <a:solidFill>
                  <a:srgbClr val="1C2330"/>
                </a:solidFill>
                <a:latin typeface="Segoe UI"/>
              </a:rPr>
              <a:t>•  Wrapping it in </a:t>
            </a:r>
            <a:r>
              <a:rPr sz="2400" b="0">
                <a:solidFill>
                  <a:srgbClr val="6A3FC0"/>
                </a:solidFill>
                <a:latin typeface="Consolas"/>
              </a:rPr>
              <a:t>try</a:t>
            </a:r>
            <a:r>
              <a:rPr sz="2400" b="0">
                <a:solidFill>
                  <a:srgbClr val="1C2330"/>
                </a:solidFill>
                <a:latin typeface="Segoe UI"/>
              </a:rPr>
              <a:t> / </a:t>
            </a:r>
            <a:r>
              <a:rPr sz="2400" b="0">
                <a:solidFill>
                  <a:srgbClr val="6A3FC0"/>
                </a:solidFill>
                <a:latin typeface="Consolas"/>
              </a:rPr>
              <a:t>except</a:t>
            </a:r>
            <a:r>
              <a:rPr sz="2400" b="0">
                <a:solidFill>
                  <a:srgbClr val="1C2330"/>
                </a:solidFill>
                <a:latin typeface="Segoe UI"/>
              </a:rPr>
              <a:t> and hiding the error</a:t>
            </a:r>
          </a:p>
          <a:p>
            <a:pPr>
              <a:spcAft>
                <a:spcPts val="1600"/>
              </a:spcAft>
            </a:pPr>
            <a:r>
              <a:rPr sz="2400" b="0">
                <a:solidFill>
                  <a:srgbClr val="1C2330"/>
                </a:solidFill>
                <a:latin typeface="Segoe UI"/>
              </a:rPr>
              <a:t>•  Using </a:t>
            </a:r>
            <a:r>
              <a:rPr sz="2400" b="0">
                <a:solidFill>
                  <a:srgbClr val="6A3FC0"/>
                </a:solidFill>
                <a:latin typeface="Consolas"/>
              </a:rPr>
              <a:t>int(amount)</a:t>
            </a:r>
            <a:r>
              <a:rPr sz="2400" b="0">
                <a:solidFill>
                  <a:srgbClr val="1C2330"/>
                </a:solidFill>
                <a:latin typeface="Segoe UI"/>
              </a:rPr>
              <a:t>: </a:t>
            </a:r>
            <a:r>
              <a:rPr sz="2400" b="0">
                <a:solidFill>
                  <a:srgbClr val="6A3FC0"/>
                </a:solidFill>
                <a:latin typeface="Consolas"/>
              </a:rPr>
              <a:t>12.5</a:t>
            </a:r>
            <a:r>
              <a:rPr sz="2400" b="0">
                <a:solidFill>
                  <a:srgbClr val="1C2330"/>
                </a:solidFill>
                <a:latin typeface="Segoe UI"/>
              </a:rPr>
              <a:t> and </a:t>
            </a:r>
            <a:r>
              <a:rPr sz="2400" b="0">
                <a:solidFill>
                  <a:srgbClr val="6A3FC0"/>
                </a:solidFill>
                <a:latin typeface="Consolas"/>
              </a:rPr>
              <a:t>"100"</a:t>
            </a:r>
            <a:r>
              <a:rPr sz="2400" b="0">
                <a:solidFill>
                  <a:srgbClr val="1C2330"/>
                </a:solidFill>
                <a:latin typeface="Segoe UI"/>
              </a:rPr>
              <a:t> must be rejected</a:t>
            </a:r>
          </a:p>
          <a:p>
            <a:pPr>
              <a:spcAft>
                <a:spcPts val="1600"/>
              </a:spcAft>
            </a:pPr>
            <a:r>
              <a:rPr sz="2400" b="0">
                <a:solidFill>
                  <a:srgbClr val="1C2330"/>
                </a:solidFill>
                <a:latin typeface="Segoe UI"/>
              </a:rPr>
              <a:t>•  Checking the balance </a:t>
            </a:r>
            <a:r>
              <a:rPr sz="2400" b="1">
                <a:solidFill>
                  <a:srgbClr val="1C2330"/>
                </a:solidFill>
                <a:latin typeface="Segoe UI"/>
              </a:rPr>
              <a:t>after</a:t>
            </a:r>
            <a:r>
              <a:rPr sz="2400" b="0">
                <a:solidFill>
                  <a:srgbClr val="1C2330"/>
                </a:solidFill>
                <a:latin typeface="Segoe UI"/>
              </a:rPr>
              <a:t> subtracting</a:t>
            </a:r>
          </a:p>
          <a:p>
            <a:pPr>
              <a:spcAft>
                <a:spcPts val="1600"/>
              </a:spcAft>
            </a:pPr>
            <a:r>
              <a:rPr sz="2400" b="0">
                <a:solidFill>
                  <a:srgbClr val="1C2330"/>
                </a:solidFill>
                <a:latin typeface="Segoe UI"/>
              </a:rPr>
              <a:t>•  Using </a:t>
            </a:r>
            <a:r>
              <a:rPr sz="2400" b="0">
                <a:solidFill>
                  <a:srgbClr val="6A3FC0"/>
                </a:solidFill>
                <a:latin typeface="Consolas"/>
              </a:rPr>
              <a:t>TransferLog(...).save()</a:t>
            </a:r>
            <a:r>
              <a:rPr sz="2400" b="0">
                <a:solidFill>
                  <a:srgbClr val="1C2330"/>
                </a:solidFill>
                <a:latin typeface="Segoe UI"/>
              </a:rPr>
              <a:t>: test 7 needs </a:t>
            </a:r>
            <a:r>
              <a:rPr sz="2400" b="0">
                <a:solidFill>
                  <a:srgbClr val="6A3FC0"/>
                </a:solidFill>
                <a:latin typeface="Consolas"/>
              </a:rPr>
              <a:t>objects.create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8A4F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0"/>
            <a:ext cx="10911535" cy="274320"/>
          </a:xfrm>
          <a:prstGeom prst="rect">
            <a:avLst/>
          </a:prstGeom>
          <a:noFill/>
        </p:spPr>
        <p:txBody>
          <a:bodyPr wrap="square" anchor="t" lIns="0" rIns="0" tIns="0" bIns="0">
            <a:spAutoFit/>
          </a:bodyPr>
          <a:lstStyle/>
          <a:p>
            <a:pPr>
              <a:spcAft>
                <a:spcPts val="600"/>
              </a:spcAft>
            </a:pPr>
            <a:r>
              <a:rPr sz="1100" b="0">
                <a:solidFill>
                  <a:srgbClr val="5D6778"/>
                </a:solidFill>
                <a:latin typeface="Segoe UI"/>
              </a:rPr>
              <a:t>Backend Lab  ·  Exercise 13  ·  All or nothing: transactions</a:t>
            </a:r>
          </a:p>
        </p:txBody>
      </p:sp>
      <p:sp>
        <p:nvSpPr>
          <p:cNvPr id="4" name="TextBox 3"/>
          <p:cNvSpPr txBox="1"/>
          <p:nvPr/>
        </p:nvSpPr>
        <p:spPr>
          <a:xfrm>
            <a:off x="10637215" y="6400800"/>
            <a:ext cx="914400" cy="274320"/>
          </a:xfrm>
          <a:prstGeom prst="rect">
            <a:avLst/>
          </a:prstGeom>
          <a:noFill/>
        </p:spPr>
        <p:txBody>
          <a:bodyPr wrap="square" anchor="t" lIns="0" rIns="0" tIns="0" bIns="0">
            <a:spAutoFit/>
          </a:bodyPr>
          <a:lstStyle/>
          <a:p>
            <a:pPr algn="r">
              <a:spcAft>
                <a:spcPts val="600"/>
              </a:spcAft>
            </a:pPr>
            <a:r>
              <a:rPr sz="1100" b="0">
                <a:solidFill>
                  <a:srgbClr val="5D6778"/>
                </a:solidFill>
                <a:latin typeface="Segoe UI"/>
              </a:rPr>
              <a:t>12</a:t>
            </a:r>
          </a:p>
        </p:txBody>
      </p:sp>
      <p:sp>
        <p:nvSpPr>
          <p:cNvPr id="5" name="TextBox 4"/>
          <p:cNvSpPr txBox="1"/>
          <p:nvPr/>
        </p:nvSpPr>
        <p:spPr>
          <a:xfrm>
            <a:off x="640080" y="411480"/>
            <a:ext cx="10911535" cy="822960"/>
          </a:xfrm>
          <a:prstGeom prst="rect">
            <a:avLst/>
          </a:prstGeom>
          <a:noFill/>
        </p:spPr>
        <p:txBody>
          <a:bodyPr wrap="square" anchor="ctr" lIns="0" rIns="0" tIns="0" bIns="0">
            <a:spAutoFit/>
          </a:bodyPr>
          <a:lstStyle/>
          <a:p>
            <a:pPr>
              <a:spcAft>
                <a:spcPts val="600"/>
              </a:spcAft>
            </a:pPr>
            <a:r>
              <a:rPr sz="3200" b="1">
                <a:solidFill>
                  <a:srgbClr val="1C2330"/>
                </a:solidFill>
                <a:latin typeface="Segoe UI"/>
              </a:rPr>
              <a:t>Where you'll use this</a:t>
            </a:r>
          </a:p>
        </p:txBody>
      </p:sp>
      <p:sp>
        <p:nvSpPr>
          <p:cNvPr id="6" name="Rounded Rectangle 5"/>
          <p:cNvSpPr/>
          <p:nvPr/>
        </p:nvSpPr>
        <p:spPr>
          <a:xfrm>
            <a:off x="640080" y="1508760"/>
            <a:ext cx="10911535" cy="1554480"/>
          </a:xfrm>
          <a:prstGeom prst="roundRect">
            <a:avLst>
              <a:gd name="adj" fmla="val 6000"/>
            </a:avLst>
          </a:prstGeom>
          <a:solidFill>
            <a:srgbClr val="E3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645920"/>
            <a:ext cx="10180015" cy="1280160"/>
          </a:xfrm>
          <a:prstGeom prst="rect">
            <a:avLst/>
          </a:prstGeom>
          <a:noFill/>
        </p:spPr>
        <p:txBody>
          <a:bodyPr wrap="square" anchor="ctr" lIns="0" rIns="0" tIns="0" bIns="0">
            <a:spAutoFit/>
          </a:bodyPr>
          <a:lstStyle/>
          <a:p>
            <a:pPr>
              <a:spcAft>
                <a:spcPts val="600"/>
              </a:spcAft>
            </a:pPr>
            <a:r>
              <a:rPr sz="2100" b="0">
                <a:solidFill>
                  <a:srgbClr val="1C2330"/>
                </a:solidFill>
                <a:latin typeface="Segoe UI"/>
              </a:rPr>
              <a:t>A shop places an order and reduces the stock. If the stock update fails, the order must not exist either, or you sell things you don't have.</a:t>
            </a:r>
          </a:p>
        </p:txBody>
      </p:sp>
      <p:sp>
        <p:nvSpPr>
          <p:cNvPr id="8" name="TextBox 7"/>
          <p:cNvSpPr txBox="1"/>
          <p:nvPr/>
        </p:nvSpPr>
        <p:spPr>
          <a:xfrm>
            <a:off x="640080" y="3337560"/>
            <a:ext cx="10911535" cy="2743200"/>
          </a:xfrm>
          <a:prstGeom prst="rect">
            <a:avLst/>
          </a:prstGeom>
          <a:noFill/>
        </p:spPr>
        <p:txBody>
          <a:bodyPr wrap="square" anchor="t" lIns="0" rIns="0" tIns="0" bIns="0">
            <a:spAutoFit/>
          </a:bodyPr>
          <a:lstStyle/>
          <a:p>
            <a:pPr>
              <a:spcAft>
                <a:spcPts val="1200"/>
              </a:spcAft>
            </a:pPr>
            <a:r>
              <a:rPr sz="2000" b="0">
                <a:solidFill>
                  <a:srgbClr val="1C2330"/>
                </a:solidFill>
                <a:latin typeface="Segoe UI"/>
              </a:rPr>
              <a:t>•  Any action writing to several rows needs to be all-or-nothing</a:t>
            </a:r>
          </a:p>
          <a:p>
            <a:pPr>
              <a:spcAft>
                <a:spcPts val="1200"/>
              </a:spcAft>
            </a:pPr>
            <a:r>
              <a:rPr sz="2000" b="0">
                <a:solidFill>
                  <a:srgbClr val="1C2330"/>
                </a:solidFill>
                <a:latin typeface="Segoe UI"/>
              </a:rPr>
              <a:t>•  In a Django view, wrap that work in </a:t>
            </a:r>
            <a:r>
              <a:rPr sz="2000" b="0">
                <a:solidFill>
                  <a:srgbClr val="6A3FC0"/>
                </a:solidFill>
                <a:latin typeface="Consolas"/>
              </a:rPr>
              <a:t>transaction.atomic()</a:t>
            </a:r>
          </a:p>
          <a:p>
            <a:pPr>
              <a:spcAft>
                <a:spcPts val="1200"/>
              </a:spcAft>
            </a:pPr>
            <a:r>
              <a:rPr sz="2000" b="0">
                <a:solidFill>
                  <a:srgbClr val="1C2330"/>
                </a:solidFill>
                <a:latin typeface="Segoe UI"/>
              </a:rPr>
              <a:t>•  </a:t>
            </a:r>
            <a:r>
              <a:rPr sz="2000" b="0">
                <a:solidFill>
                  <a:srgbClr val="6A3FC0"/>
                </a:solidFill>
                <a:latin typeface="Consolas"/>
              </a:rPr>
              <a:t>ATOMIC_REQUESTS</a:t>
            </a:r>
            <a:r>
              <a:rPr sz="2000" b="0">
                <a:solidFill>
                  <a:srgbClr val="1C2330"/>
                </a:solidFill>
                <a:latin typeface="Segoe UI"/>
              </a:rPr>
              <a:t> makes every request one transaction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8A4F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0"/>
            <a:ext cx="10911535" cy="274320"/>
          </a:xfrm>
          <a:prstGeom prst="rect">
            <a:avLst/>
          </a:prstGeom>
          <a:noFill/>
        </p:spPr>
        <p:txBody>
          <a:bodyPr wrap="square" anchor="t" lIns="0" rIns="0" tIns="0" bIns="0">
            <a:spAutoFit/>
          </a:bodyPr>
          <a:lstStyle/>
          <a:p>
            <a:pPr>
              <a:spcAft>
                <a:spcPts val="600"/>
              </a:spcAft>
            </a:pPr>
            <a:r>
              <a:rPr sz="1100" b="0">
                <a:solidFill>
                  <a:srgbClr val="5D6778"/>
                </a:solidFill>
                <a:latin typeface="Segoe UI"/>
              </a:rPr>
              <a:t>Backend Lab  ·  Exercise 13  ·  All or nothing: transactions</a:t>
            </a:r>
          </a:p>
        </p:txBody>
      </p:sp>
      <p:sp>
        <p:nvSpPr>
          <p:cNvPr id="4" name="TextBox 3"/>
          <p:cNvSpPr txBox="1"/>
          <p:nvPr/>
        </p:nvSpPr>
        <p:spPr>
          <a:xfrm>
            <a:off x="10637215" y="6400800"/>
            <a:ext cx="914400" cy="274320"/>
          </a:xfrm>
          <a:prstGeom prst="rect">
            <a:avLst/>
          </a:prstGeom>
          <a:noFill/>
        </p:spPr>
        <p:txBody>
          <a:bodyPr wrap="square" anchor="t" lIns="0" rIns="0" tIns="0" bIns="0">
            <a:spAutoFit/>
          </a:bodyPr>
          <a:lstStyle/>
          <a:p>
            <a:pPr algn="r">
              <a:spcAft>
                <a:spcPts val="600"/>
              </a:spcAft>
            </a:pPr>
            <a:r>
              <a:rPr sz="1100" b="0">
                <a:solidFill>
                  <a:srgbClr val="5D6778"/>
                </a:solidFill>
                <a:latin typeface="Segoe UI"/>
              </a:rPr>
              <a:t>13</a:t>
            </a:r>
          </a:p>
        </p:txBody>
      </p:sp>
      <p:sp>
        <p:nvSpPr>
          <p:cNvPr id="5" name="TextBox 4"/>
          <p:cNvSpPr txBox="1"/>
          <p:nvPr/>
        </p:nvSpPr>
        <p:spPr>
          <a:xfrm>
            <a:off x="640080" y="411480"/>
            <a:ext cx="10911535" cy="822960"/>
          </a:xfrm>
          <a:prstGeom prst="rect">
            <a:avLst/>
          </a:prstGeom>
          <a:noFill/>
        </p:spPr>
        <p:txBody>
          <a:bodyPr wrap="square" anchor="ctr" lIns="0" rIns="0" tIns="0" bIns="0">
            <a:spAutoFit/>
          </a:bodyPr>
          <a:lstStyle/>
          <a:p>
            <a:pPr>
              <a:spcAft>
                <a:spcPts val="600"/>
              </a:spcAft>
            </a:pPr>
            <a:r>
              <a:rPr sz="3200" b="1">
                <a:solidFill>
                  <a:srgbClr val="1C2330"/>
                </a:solidFill>
                <a:latin typeface="Segoe UI"/>
              </a:rPr>
              <a:t>Check yourself</a:t>
            </a:r>
          </a:p>
        </p:txBody>
      </p:sp>
      <p:sp>
        <p:nvSpPr>
          <p:cNvPr id="6" name="TextBox 5"/>
          <p:cNvSpPr txBox="1"/>
          <p:nvPr/>
        </p:nvSpPr>
        <p:spPr>
          <a:xfrm>
            <a:off x="640080" y="1600200"/>
            <a:ext cx="10911535" cy="4526280"/>
          </a:xfrm>
          <a:prstGeom prst="rect">
            <a:avLst/>
          </a:prstGeom>
          <a:noFill/>
        </p:spPr>
        <p:txBody>
          <a:bodyPr wrap="square" anchor="t" lIns="0" rIns="0" tIns="0" bIns="0">
            <a:spAutoFit/>
          </a:bodyPr>
          <a:lstStyle/>
          <a:p>
            <a:pPr>
              <a:spcAft>
                <a:spcPts val="1800"/>
              </a:spcAft>
            </a:pPr>
            <a:r>
              <a:rPr sz="2300" b="0">
                <a:solidFill>
                  <a:srgbClr val="1C2330"/>
                </a:solidFill>
                <a:latin typeface="Segoe UI"/>
              </a:rPr>
              <a:t>1.  What happens to earlier saves when an exception leaves an </a:t>
            </a:r>
            <a:r>
              <a:rPr sz="2300" b="0">
                <a:solidFill>
                  <a:srgbClr val="6A3FC0"/>
                </a:solidFill>
                <a:latin typeface="Consolas"/>
              </a:rPr>
              <a:t>atomic</a:t>
            </a:r>
            <a:r>
              <a:rPr sz="2300" b="0">
                <a:solidFill>
                  <a:srgbClr val="1C2330"/>
                </a:solidFill>
                <a:latin typeface="Segoe UI"/>
              </a:rPr>
              <a:t> block?</a:t>
            </a:r>
          </a:p>
          <a:p>
            <a:pPr>
              <a:spcAft>
                <a:spcPts val="1800"/>
              </a:spcAft>
            </a:pPr>
            <a:r>
              <a:rPr sz="2300" b="0">
                <a:solidFill>
                  <a:srgbClr val="1C2330"/>
                </a:solidFill>
                <a:latin typeface="Segoe UI"/>
              </a:rPr>
              <a:t>2.  Why check </a:t>
            </a:r>
            <a:r>
              <a:rPr sz="2300" b="0">
                <a:solidFill>
                  <a:srgbClr val="6A3FC0"/>
                </a:solidFill>
                <a:latin typeface="Consolas"/>
              </a:rPr>
              <a:t>isinstance(amount, int)</a:t>
            </a:r>
            <a:r>
              <a:rPr sz="2300" b="0">
                <a:solidFill>
                  <a:srgbClr val="1C2330"/>
                </a:solidFill>
                <a:latin typeface="Segoe UI"/>
              </a:rPr>
              <a:t> before </a:t>
            </a:r>
            <a:r>
              <a:rPr sz="2300" b="0">
                <a:solidFill>
                  <a:srgbClr val="6A3FC0"/>
                </a:solidFill>
                <a:latin typeface="Consolas"/>
              </a:rPr>
              <a:t>amount &lt;= 0</a:t>
            </a:r>
            <a:r>
              <a:rPr sz="2300" b="0">
                <a:solidFill>
                  <a:srgbClr val="1C2330"/>
                </a:solidFill>
                <a:latin typeface="Segoe UI"/>
              </a:rPr>
              <a:t>?</a:t>
            </a:r>
          </a:p>
          <a:p>
            <a:pPr>
              <a:spcAft>
                <a:spcPts val="1800"/>
              </a:spcAft>
            </a:pPr>
            <a:r>
              <a:rPr sz="2300" b="0">
                <a:solidFill>
                  <a:srgbClr val="1C2330"/>
                </a:solidFill>
                <a:latin typeface="Segoe UI"/>
              </a:rPr>
              <a:t>3.  Why not catch the error inside </a:t>
            </a:r>
            <a:r>
              <a:rPr sz="2300" b="0">
                <a:solidFill>
                  <a:srgbClr val="6A3FC0"/>
                </a:solidFill>
                <a:latin typeface="Consolas"/>
              </a:rPr>
              <a:t>transfer</a:t>
            </a:r>
            <a:r>
              <a:rPr sz="2300" b="0">
                <a:solidFill>
                  <a:srgbClr val="1C2330"/>
                </a:solidFill>
                <a:latin typeface="Segoe UI"/>
              </a:rPr>
              <a:t>?</a:t>
            </a:r>
          </a:p>
          <a:p>
            <a:pPr>
              <a:spcAft>
                <a:spcPts val="1800"/>
              </a:spcAft>
            </a:pPr>
            <a:r>
              <a:rPr sz="2300" b="0">
                <a:solidFill>
                  <a:srgbClr val="1C2330"/>
                </a:solidFill>
                <a:latin typeface="Segoe UI"/>
              </a:rPr>
              <a:t>4.  What problem does </a:t>
            </a:r>
            <a:r>
              <a:rPr sz="2300" b="0">
                <a:solidFill>
                  <a:srgbClr val="6A3FC0"/>
                </a:solidFill>
                <a:latin typeface="Consolas"/>
              </a:rPr>
              <a:t>select_for_update()</a:t>
            </a:r>
            <a:r>
              <a:rPr sz="2300" b="0">
                <a:solidFill>
                  <a:srgbClr val="1C2330"/>
                </a:solidFill>
                <a:latin typeface="Segoe UI"/>
              </a:rPr>
              <a:t> prevent?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8A4F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0"/>
            <a:ext cx="10911535" cy="274320"/>
          </a:xfrm>
          <a:prstGeom prst="rect">
            <a:avLst/>
          </a:prstGeom>
          <a:noFill/>
        </p:spPr>
        <p:txBody>
          <a:bodyPr wrap="square" anchor="t" lIns="0" rIns="0" tIns="0" bIns="0">
            <a:spAutoFit/>
          </a:bodyPr>
          <a:lstStyle/>
          <a:p>
            <a:pPr>
              <a:spcAft>
                <a:spcPts val="600"/>
              </a:spcAft>
            </a:pPr>
            <a:r>
              <a:rPr sz="1100" b="0">
                <a:solidFill>
                  <a:srgbClr val="5D6778"/>
                </a:solidFill>
                <a:latin typeface="Segoe UI"/>
              </a:rPr>
              <a:t>Backend Lab  ·  Exercise 13  ·  All or nothing: transactions</a:t>
            </a:r>
          </a:p>
        </p:txBody>
      </p:sp>
      <p:sp>
        <p:nvSpPr>
          <p:cNvPr id="4" name="TextBox 3"/>
          <p:cNvSpPr txBox="1"/>
          <p:nvPr/>
        </p:nvSpPr>
        <p:spPr>
          <a:xfrm>
            <a:off x="10637215" y="6400800"/>
            <a:ext cx="914400" cy="274320"/>
          </a:xfrm>
          <a:prstGeom prst="rect">
            <a:avLst/>
          </a:prstGeom>
          <a:noFill/>
        </p:spPr>
        <p:txBody>
          <a:bodyPr wrap="square" anchor="t" lIns="0" rIns="0" tIns="0" bIns="0">
            <a:spAutoFit/>
          </a:bodyPr>
          <a:lstStyle/>
          <a:p>
            <a:pPr algn="r">
              <a:spcAft>
                <a:spcPts val="600"/>
              </a:spcAft>
            </a:pPr>
            <a:r>
              <a:rPr sz="1100" b="0">
                <a:solidFill>
                  <a:srgbClr val="5D6778"/>
                </a:solidFill>
                <a:latin typeface="Segoe UI"/>
              </a:rPr>
              <a:t>14</a:t>
            </a:r>
          </a:p>
        </p:txBody>
      </p:sp>
      <p:sp>
        <p:nvSpPr>
          <p:cNvPr id="5" name="TextBox 4"/>
          <p:cNvSpPr txBox="1"/>
          <p:nvPr/>
        </p:nvSpPr>
        <p:spPr>
          <a:xfrm>
            <a:off x="640080" y="411480"/>
            <a:ext cx="10911535" cy="822960"/>
          </a:xfrm>
          <a:prstGeom prst="rect">
            <a:avLst/>
          </a:prstGeom>
          <a:noFill/>
        </p:spPr>
        <p:txBody>
          <a:bodyPr wrap="square" anchor="ctr" lIns="0" rIns="0" tIns="0" bIns="0">
            <a:spAutoFit/>
          </a:bodyPr>
          <a:lstStyle/>
          <a:p>
            <a:pPr>
              <a:spcAft>
                <a:spcPts val="600"/>
              </a:spcAft>
            </a:pPr>
            <a:r>
              <a:rPr sz="3200" b="1">
                <a:solidFill>
                  <a:srgbClr val="1C2330"/>
                </a:solidFill>
                <a:latin typeface="Segoe UI"/>
              </a:rPr>
              <a:t>Keep learning</a:t>
            </a:r>
          </a:p>
        </p:txBody>
      </p:sp>
      <p:sp>
        <p:nvSpPr>
          <p:cNvPr id="6" name="TextBox 5"/>
          <p:cNvSpPr txBox="1"/>
          <p:nvPr/>
        </p:nvSpPr>
        <p:spPr>
          <a:xfrm>
            <a:off x="640080" y="1463040"/>
            <a:ext cx="10911535" cy="4663440"/>
          </a:xfrm>
          <a:prstGeom prst="rect">
            <a:avLst/>
          </a:prstGeom>
          <a:noFill/>
        </p:spPr>
        <p:txBody>
          <a:bodyPr wrap="square" anchor="t" lIns="0" rIns="0" tIns="0" bIns="0">
            <a:spAutoFit/>
          </a:bodyPr>
          <a:lstStyle/>
          <a:p>
            <a:pPr>
              <a:spcAft>
                <a:spcPts val="200"/>
              </a:spcAft>
            </a:pPr>
            <a:r>
              <a:rPr sz="2000" b="1">
                <a:solidFill>
                  <a:srgbClr val="2F6FDF"/>
                </a:solidFill>
                <a:latin typeface="Segoe UI"/>
                <a:hlinkClick r:id="rId2"/>
              </a:rPr>
              <a:t>ACID Databases – Atomicity, Consistency, Isolation &amp; Durability Explained</a:t>
            </a:r>
          </a:p>
          <a:p>
            <a:pPr>
              <a:spcAft>
                <a:spcPts val="1200"/>
              </a:spcAft>
            </a:pPr>
            <a:r>
              <a:rPr sz="1500" b="0">
                <a:solidFill>
                  <a:srgbClr val="5D6778"/>
                </a:solidFill>
                <a:latin typeface="Segoe UI"/>
              </a:rPr>
              <a:t>freeCodeCamp · article · beginner. Start here: restaurant analogies that make 'all or nothing' (atomicity) and isolation easy to picture.</a:t>
            </a:r>
          </a:p>
          <a:p>
            <a:pPr>
              <a:spcAft>
                <a:spcPts val="200"/>
              </a:spcAft>
            </a:pPr>
            <a:r>
              <a:rPr sz="2000" b="1">
                <a:solidFill>
                  <a:srgbClr val="2F6FDF"/>
                </a:solidFill>
                <a:latin typeface="Segoe UI"/>
                <a:hlinkClick r:id="rId3"/>
              </a:rPr>
              <a:t>PostgreSQL tutorial: Transactions</a:t>
            </a:r>
          </a:p>
          <a:p>
            <a:pPr>
              <a:spcAft>
                <a:spcPts val="1200"/>
              </a:spcAft>
            </a:pPr>
            <a:r>
              <a:rPr sz="1500" b="0">
                <a:solidFill>
                  <a:srgbClr val="5D6778"/>
                </a:solidFill>
                <a:latin typeface="Segoe UI"/>
              </a:rPr>
              <a:t>PostgreSQL docs · tutorial · beginner. A short bank-transfer example in plain SQL showing BEGIN, COMMIT and rollback, the same scenario as this exercise.</a:t>
            </a:r>
          </a:p>
          <a:p>
            <a:pPr>
              <a:spcAft>
                <a:spcPts val="200"/>
              </a:spcAft>
            </a:pPr>
            <a:r>
              <a:rPr sz="2000" b="1">
                <a:solidFill>
                  <a:srgbClr val="2F6FDF"/>
                </a:solidFill>
                <a:latin typeface="Segoe UI"/>
                <a:hlinkClick r:id="rId4"/>
              </a:rPr>
              <a:t>Errors and Exceptions: user-defined exceptions</a:t>
            </a:r>
          </a:p>
          <a:p>
            <a:pPr>
              <a:spcAft>
                <a:spcPts val="1200"/>
              </a:spcAft>
            </a:pPr>
            <a:r>
              <a:rPr sz="1500" b="0">
                <a:solidFill>
                  <a:srgbClr val="5D6778"/>
                </a:solidFill>
                <a:latin typeface="Segoe UI"/>
              </a:rPr>
              <a:t>Python docs · docs · beginner. How to make your own exception class like InsufficientFunds, which triggers the rollback when raised.</a:t>
            </a:r>
          </a:p>
          <a:p>
            <a:pPr>
              <a:spcAft>
                <a:spcPts val="200"/>
              </a:spcAft>
            </a:pPr>
            <a:r>
              <a:rPr sz="2000" b="1">
                <a:solidFill>
                  <a:srgbClr val="2F6FDF"/>
                </a:solidFill>
                <a:latin typeface="Segoe UI"/>
                <a:hlinkClick r:id="rId5"/>
              </a:rPr>
              <a:t>Database transactions: controlling transactions explicitly</a:t>
            </a:r>
          </a:p>
          <a:p>
            <a:pPr>
              <a:spcAft>
                <a:spcPts val="1200"/>
              </a:spcAft>
            </a:pPr>
            <a:r>
              <a:rPr sz="1500" b="0">
                <a:solidFill>
                  <a:srgbClr val="5D6778"/>
                </a:solidFill>
                <a:latin typeface="Segoe UI"/>
              </a:rPr>
              <a:t>Django docs · docs · intermediate. Official reference for transaction.atomic() and how an exception inside the with block undoes every change.</a:t>
            </a:r>
          </a:p>
          <a:p>
            <a:pPr>
              <a:spcAft>
                <a:spcPts val="200"/>
              </a:spcAft>
            </a:pPr>
            <a:r>
              <a:rPr sz="2000" b="1">
                <a:solidFill>
                  <a:srgbClr val="2F6FDF"/>
                </a:solidFill>
                <a:latin typeface="Segoe UI"/>
                <a:hlinkClick r:id="rId6"/>
              </a:rPr>
              <a:t>QuerySet API reference: select_for_update</a:t>
            </a:r>
          </a:p>
          <a:p>
            <a:pPr>
              <a:spcAft>
                <a:spcPts val="1200"/>
              </a:spcAft>
            </a:pPr>
            <a:r>
              <a:rPr sz="1500" b="0">
                <a:solidFill>
                  <a:srgbClr val="5D6778"/>
                </a:solidFill>
                <a:latin typeface="Segoe UI"/>
              </a:rPr>
              <a:t>Django docs · docs · intermediate. Explains row locking so two transfers cannot change the same account at the same time.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