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2. By the end you should be able to write a view that reads a query or a JSON body, checks it, and replies with JSON and a fitting status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data work: before you do maths on a column, you check it exists and holds numbers. A view does the same with what the client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RequestFactory makes request objects without running a server. Inside greet, request is a GET whose query has name set to Ada. Inside add, the body is the text {"a": 2, "b": 3.5}.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name of only spaces also gets the 400. For add, {"a": 1} (b missing) and {"a": null, "b": 2} get the same 'must be numbers' error. null is JSON's way of writing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Codes starting with 4 mean the client made a mistake. Codes starting with 5 mean the server broke. A user's typo should never cause a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request.GET["city"] with square brackets crashes when the parameter is missing. The value is always text, so .strip() works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b'...' means bytes: raw text ready to send over the network. You don't need to do anything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brackets: @require_GET, not @require_GET(). The Console also logs 'Method Not Allowed (GET): /ping/'. That's Django noting the 405, not 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json.loads is a function: it turns JSON text or bytes into Python. Broken JSON raises an error, which would be a 500. try / except catches it so you can reply with a polite 400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request.POST is a trap: it only holds HTML form data, not JSON. For JSON, always use json.loads(request.body).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isinstance(value, (int, float)) asks 'is it any of these types?'. The text "3" and None both give False. Use or: the error is needed if either value is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1-4 are greet, steps 5-8 are add. if not name: catches both a missing name and one made only of spaces, because an empty string counts as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utorial.djangogirls.org/en/django_views/" TargetMode="External"/><Relationship Id="rId3" Type="http://schemas.openxmlformats.org/officeDocument/2006/relationships/hyperlink" Target="https://developer.mozilla.org/en-US/docs/Web/HTTP/Reference/Status" TargetMode="External"/><Relationship Id="rId4" Type="http://schemas.openxmlformats.org/officeDocument/2006/relationships/hyperlink" Target="https://docs.python.org/3/library/json.html" TargetMode="External"/><Relationship Id="rId5" Type="http://schemas.openxmlformats.org/officeDocument/2006/relationships/hyperlink" Target="https://docs.djangoproject.com/en/5.2/ref/request-response/#jsonresponse-objects" TargetMode="External"/><Relationship Id="rId6" Type="http://schemas.openxmlformats.org/officeDocument/2006/relationships/hyperlink" Target="https://docs.djangoproject.com/en/5.2/topics/http/decorators/#allowed-http-method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1  ·  EXERCISE 02  ·  DJANGO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Your first JSON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Write Django views that read what the client sent and answer with JSON and the right status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In exercise 1 you split a raw request by hand. Django does that for you, then </a:t>
            </a:r>
            <a:r>
              <a:rPr sz="2400" b="1">
                <a:solidFill>
                  <a:srgbClr val="1C2330"/>
                </a:solidFill>
                <a:latin typeface="Segoe UI"/>
              </a:rPr>
              <a:t>calls a function you wrote</a:t>
            </a:r>
            <a:r>
              <a:rPr sz="2400" b="0">
                <a:solidFill>
                  <a:srgbClr val="1C2330"/>
                </a:solidFill>
                <a:latin typeface="Segoe UI"/>
              </a:rPr>
              <a:t> and passes the request in. That function is a </a:t>
            </a:r>
            <a:r>
              <a:rPr sz="2400" b="1">
                <a:solidFill>
                  <a:srgbClr val="1C2330"/>
                </a:solidFill>
                <a:latin typeface="Segoe UI"/>
              </a:rPr>
              <a:t>view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 view is like a clerk at a counter: take the form, check it, hand back a reply slip with a stamp on top: "OK", "filled in wrong" or "wrong counter". The stamp is the </a:t>
            </a:r>
            <a:r>
              <a:rPr sz="2400" b="1">
                <a:solidFill>
                  <a:srgbClr val="1C2330"/>
                </a:solidFill>
                <a:latin typeface="Segoe UI"/>
              </a:rPr>
              <a:t>status code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send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You don't build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</a:t>
            </a:r>
            <a:r>
              <a:rPr sz="2000" b="0">
                <a:solidFill>
                  <a:srgbClr val="1C2330"/>
                </a:solidFill>
                <a:latin typeface="Segoe UI"/>
              </a:rPr>
              <a:t> yourself: the tests make a fake one and call your view with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factory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RequestFactory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greet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factory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/greet/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Ada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like GET /greet/?name=Ada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add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factory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post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/add/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'</a:t>
            </a:r>
            <a:r>
              <a:rPr sz="1800">
                <a:solidFill>
                  <a:srgbClr val="CE9178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: 2,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: 3.5}</a:t>
            </a:r>
            <a:r>
              <a:rPr sz="1800">
                <a:solidFill>
                  <a:srgbClr val="CE9178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         </a:t>
            </a:r>
            <a:r>
              <a:rPr sz="1800">
                <a:solidFill>
                  <a:srgbClr val="9CDCFE"/>
                </a:solidFill>
                <a:latin typeface="Consolas"/>
              </a:rPr>
              <a:t>content_type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application/json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a POST with a JSON body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views must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tests check the status code and the JSON. Error messages must match exactly.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greet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9CDCFE"/>
                </a:solidFill>
                <a:latin typeface="Consolas"/>
              </a:rPr>
              <a:t>Ada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800">
                <a:solidFill>
                  <a:srgbClr val="B5CEA8"/>
                </a:solidFill>
                <a:latin typeface="Consolas"/>
              </a:rPr>
              <a:t>200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message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Hello, Ada!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greet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?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9CDCFE"/>
                </a:solidFill>
                <a:latin typeface="Consolas"/>
              </a:rPr>
              <a:t>Grace</a:t>
            </a:r>
            <a:r>
              <a:rPr sz="1800">
                <a:solidFill>
                  <a:srgbClr val="D4D4D4"/>
                </a:solidFill>
                <a:latin typeface="Consolas"/>
              </a:rPr>
              <a:t>       </a:t>
            </a:r>
            <a:r>
              <a:rPr sz="1800">
                <a:solidFill>
                  <a:srgbClr val="B5CEA8"/>
                </a:solidFill>
                <a:latin typeface="Consolas"/>
              </a:rPr>
              <a:t>200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message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Hello, Grace!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greet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no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error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name is required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POST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greet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</a:t>
            </a:r>
            <a:r>
              <a:rPr sz="1800">
                <a:solidFill>
                  <a:srgbClr val="B5CEA8"/>
                </a:solidFill>
                <a:latin typeface="Consolas"/>
              </a:rPr>
              <a:t>405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Django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fills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this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POST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add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3.5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B5CEA8"/>
                </a:solidFill>
                <a:latin typeface="Consolas"/>
              </a:rPr>
              <a:t>200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result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5.5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POST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add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json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error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invalid JSON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POST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add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1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error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 and b must be numbers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9CDCFE"/>
                </a:solidFill>
                <a:latin typeface="Consolas"/>
              </a:rPr>
              <a:t>add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  </a:t>
            </a:r>
            <a:r>
              <a:rPr sz="1800">
                <a:solidFill>
                  <a:srgbClr val="B5CEA8"/>
                </a:solidFill>
                <a:latin typeface="Consolas"/>
              </a:rPr>
              <a:t>405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Django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fills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this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function that receives a request and returns a response.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request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request, already split up: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request.method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request.GET</a:t>
            </a:r>
            <a:r>
              <a:rPr sz="1900" b="0">
                <a:solidFill>
                  <a:srgbClr val="1C2330"/>
                </a:solidFill>
                <a:latin typeface="Segoe UI"/>
              </a:rPr>
              <a:t>, ...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Text data that looks like a dict: </a:t>
            </a:r>
            <a:r>
              <a:rPr sz="1900" b="0">
                <a:solidFill>
                  <a:srgbClr val="6A3FC0"/>
                </a:solidFill>
                <a:latin typeface="Consolas"/>
              </a:rPr>
              <a:t>{"message": "Hello"}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status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200</a:t>
            </a:r>
            <a:r>
              <a:rPr sz="1900" b="0">
                <a:solidFill>
                  <a:srgbClr val="1C2330"/>
                </a:solidFill>
                <a:latin typeface="Segoe UI"/>
              </a:rPr>
              <a:t> OK,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400</a:t>
            </a:r>
            <a:r>
              <a:rPr sz="1900" b="0">
                <a:solidFill>
                  <a:srgbClr val="1C2330"/>
                </a:solidFill>
                <a:latin typeface="Segoe UI"/>
              </a:rPr>
              <a:t> client sent something wrong, </a:t>
            </a:r>
            <a:r>
              <a:rPr sz="1900" b="0">
                <a:solidFill>
                  <a:srgbClr val="6A3FC0"/>
                </a:solidFill>
                <a:latin typeface="Consolas"/>
              </a:rPr>
              <a:t>405</a:t>
            </a:r>
            <a:r>
              <a:rPr sz="1900" b="0">
                <a:solidFill>
                  <a:srgbClr val="1C2330"/>
                </a:solidFill>
                <a:latin typeface="Segoe UI"/>
              </a:rPr>
              <a:t> wrong method.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query / 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Values in the address after </a:t>
            </a:r>
            <a:r>
              <a:rPr sz="1900" b="0">
                <a:solidFill>
                  <a:srgbClr val="6A3FC0"/>
                </a:solidFill>
                <a:latin typeface="Consolas"/>
              </a:rPr>
              <a:t>?</a:t>
            </a:r>
            <a:r>
              <a:rPr sz="1900" b="0">
                <a:solidFill>
                  <a:srgbClr val="1C2330"/>
                </a:solidFill>
                <a:latin typeface="Segoe UI"/>
              </a:rPr>
              <a:t> / data sent inside the request.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decorator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An </a:t>
            </a:r>
            <a:r>
              <a:rPr sz="1900" b="0">
                <a:solidFill>
                  <a:srgbClr val="6A3FC0"/>
                </a:solidFill>
                <a:latin typeface="Consolas"/>
              </a:rPr>
              <a:t>@</a:t>
            </a:r>
            <a:r>
              <a:rPr sz="1900" b="0">
                <a:solidFill>
                  <a:srgbClr val="1C2330"/>
                </a:solidFill>
                <a:latin typeface="Segoe UI"/>
              </a:rPr>
              <a:t> line just above </a:t>
            </a:r>
            <a:r>
              <a:rPr sz="1900" b="0">
                <a:solidFill>
                  <a:srgbClr val="6A3FC0"/>
                </a:solidFill>
                <a:latin typeface="Consolas"/>
              </a:rPr>
              <a:t>def</a:t>
            </a:r>
            <a:r>
              <a:rPr sz="1900" b="0">
                <a:solidFill>
                  <a:srgbClr val="1C2330"/>
                </a:solidFill>
                <a:latin typeface="Segoe UI"/>
              </a:rPr>
              <a:t> that adds behaviour.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request.GET.get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request.GET</a:t>
            </a:r>
            <a:r>
              <a:rPr sz="2000" b="0">
                <a:solidFill>
                  <a:srgbClr val="1C2330"/>
                </a:solidFill>
                <a:latin typeface="Segoe UI"/>
              </a:rPr>
              <a:t> holds the query. </a:t>
            </a:r>
            <a:r>
              <a:rPr sz="2000" b="0">
                <a:solidFill>
                  <a:srgbClr val="6A3FC0"/>
                </a:solidFill>
                <a:latin typeface="Consolas"/>
              </a:rPr>
              <a:t>.get(name, default)</a:t>
            </a:r>
            <a:r>
              <a:rPr sz="2000" b="0">
                <a:solidFill>
                  <a:srgbClr val="1C2330"/>
                </a:solidFill>
                <a:latin typeface="Segoe UI"/>
              </a:rPr>
              <a:t> gives the default instead of crashing.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198424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RequestFactory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/weather/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city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 Paris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method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city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country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unknown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city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strip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GET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D4D4D4"/>
                </a:solidFill>
                <a:latin typeface="Consolas"/>
              </a:rPr>
              <a:t>Paris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unknown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Paris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JsonResponse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 class you call like a function. The status is 200 unless you pass </a:t>
            </a:r>
            <a:r>
              <a:rPr sz="2000" b="0">
                <a:solidFill>
                  <a:srgbClr val="6A3FC0"/>
                </a:solidFill>
                <a:latin typeface="Consolas"/>
              </a:rPr>
              <a:t>status=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response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JsonResponse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error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city is required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status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400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response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response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content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JsonResponse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temp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21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400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b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error</a:t>
            </a:r>
            <a:r>
              <a:rPr sz="1800">
                <a:solidFill>
                  <a:srgbClr val="D4D4D4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D4D4D4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city is required</a:t>
            </a:r>
            <a:r>
              <a:rPr sz="1800">
                <a:solidFill>
                  <a:srgbClr val="D4D4D4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200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@require_POST and @require_GET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Write it on the line directly above </a:t>
            </a:r>
            <a:r>
              <a:rPr sz="2000" b="0">
                <a:solidFill>
                  <a:srgbClr val="6A3FC0"/>
                </a:solidFill>
                <a:latin typeface="Consolas"/>
              </a:rPr>
              <a:t>def</a:t>
            </a:r>
            <a:r>
              <a:rPr sz="2000" b="0">
                <a:solidFill>
                  <a:srgbClr val="1C2330"/>
                </a:solidFill>
                <a:latin typeface="Segoe UI"/>
              </a:rPr>
              <a:t>. A wrong method gets a 405 and your code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5694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DCDCAA"/>
                </a:solidFill>
                <a:latin typeface="Consolas"/>
              </a:rPr>
              <a:t>@require_POST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def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ping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586C0"/>
                </a:solidFill>
                <a:latin typeface="Consolas"/>
              </a:rPr>
              <a:t>return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JsonResponse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pong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ping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RequestFactory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post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/ping/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ping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RequestFactory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/ping/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status_code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200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405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json.loads and try / except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1455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body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b</a:t>
            </a:r>
            <a:r>
              <a:rPr sz="1600">
                <a:solidFill>
                  <a:srgbClr val="CE9178"/>
                </a:solidFill>
                <a:latin typeface="Consolas"/>
              </a:rPr>
              <a:t>'</a:t>
            </a:r>
            <a:r>
              <a:rPr sz="1600">
                <a:solidFill>
                  <a:srgbClr val="CE9178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item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tea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qty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: 2}</a:t>
            </a:r>
            <a:r>
              <a:rPr sz="1600">
                <a:solidFill>
                  <a:srgbClr val="CE9178"/>
                </a:solidFill>
                <a:latin typeface="Consolas"/>
              </a:rPr>
              <a:t>'</a:t>
            </a:r>
            <a:r>
              <a:rPr sz="1600">
                <a:solidFill>
                  <a:srgbClr val="D4D4D4"/>
                </a:solidFill>
                <a:latin typeface="Consolas"/>
              </a:rPr>
              <a:t>     </a:t>
            </a:r>
            <a:r>
              <a:rPr sz="1600">
                <a:solidFill>
                  <a:srgbClr val="6A9955"/>
                </a:solidFill>
                <a:latin typeface="Consolas"/>
              </a:rPr>
              <a:t># what request.body looks like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json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loads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body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qty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*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data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get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price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try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json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loads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{</a:t>
            </a:r>
            <a:r>
              <a:rPr sz="1600">
                <a:solidFill>
                  <a:srgbClr val="CE9178"/>
                </a:solidFill>
                <a:latin typeface="Consolas"/>
              </a:rPr>
              <a:t>oops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except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json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JSONDecodeError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That was not valid JSON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20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None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That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was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valid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JSON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Query vs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request.GET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Values in the </a:t>
            </a:r>
            <a:r>
              <a:rPr sz="1900" b="1">
                <a:solidFill>
                  <a:srgbClr val="1C2330"/>
                </a:solidFill>
                <a:latin typeface="Segoe UI"/>
              </a:rPr>
              <a:t>address</a:t>
            </a:r>
            <a:r>
              <a:rPr sz="1900" b="0">
                <a:solidFill>
                  <a:srgbClr val="1C2330"/>
                </a:solidFill>
                <a:latin typeface="Segoe UI"/>
              </a:rPr>
              <a:t>, after </a:t>
            </a:r>
            <a:r>
              <a:rPr sz="1900" b="0">
                <a:solidFill>
                  <a:srgbClr val="6A3FC0"/>
                </a:solidFill>
                <a:latin typeface="Consolas"/>
              </a:rPr>
              <a:t>?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Already split up for you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Always </a:t>
            </a:r>
            <a:r>
              <a:rPr sz="1900" b="1">
                <a:solidFill>
                  <a:srgbClr val="1C2330"/>
                </a:solidFill>
                <a:latin typeface="Segoe UI"/>
              </a:rPr>
              <a:t>text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Read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.get("name", "")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Used by </a:t>
            </a:r>
            <a:r>
              <a:rPr sz="1900" b="0">
                <a:solidFill>
                  <a:srgbClr val="6A3FC0"/>
                </a:solidFill>
                <a:latin typeface="Consolas"/>
              </a:rPr>
              <a:t>greet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request.body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Data sent </a:t>
            </a:r>
            <a:r>
              <a:rPr sz="1900" b="1">
                <a:solidFill>
                  <a:srgbClr val="1C2330"/>
                </a:solidFill>
                <a:latin typeface="Segoe UI"/>
              </a:rPr>
              <a:t>inside</a:t>
            </a:r>
            <a:r>
              <a:rPr sz="1900" b="0">
                <a:solidFill>
                  <a:srgbClr val="1C2330"/>
                </a:solidFill>
                <a:latin typeface="Segoe UI"/>
              </a:rPr>
              <a:t> the request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Raw </a:t>
            </a:r>
            <a:r>
              <a:rPr sz="1900" b="1">
                <a:solidFill>
                  <a:srgbClr val="1C2330"/>
                </a:solidFill>
                <a:latin typeface="Segoe UI"/>
              </a:rPr>
              <a:t>bytes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Parse it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json.loads(...)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Numbers stay numbers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Used by </a:t>
            </a:r>
            <a:r>
              <a:rPr sz="1900" b="0">
                <a:solidFill>
                  <a:srgbClr val="6A3FC0"/>
                </a:solidFill>
                <a:latin typeface="Consolas"/>
              </a:rPr>
              <a:t>add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check, then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same shape you need in </a:t>
            </a:r>
            <a:r>
              <a:rPr sz="2000" b="0">
                <a:solidFill>
                  <a:srgbClr val="6A3FC0"/>
                </a:solidFill>
                <a:latin typeface="Consolas"/>
              </a:rPr>
              <a:t>add</a:t>
            </a:r>
            <a:r>
              <a:rPr sz="2000" b="0">
                <a:solidFill>
                  <a:srgbClr val="1C2330"/>
                </a:solidFill>
                <a:latin typeface="Segoe UI"/>
              </a:rPr>
              <a:t>, on different data (just the logic, not a view):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8620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width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height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tall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w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h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width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data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height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if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isinstance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w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int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float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isinstance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h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int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float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width and height must be numbers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else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w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*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h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376672"/>
            <a:ext cx="10911535" cy="79552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width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and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height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must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be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numbers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56876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Put </a:t>
            </a:r>
            <a:r>
              <a:rPr sz="1900" b="0">
                <a:solidFill>
                  <a:srgbClr val="6A3FC0"/>
                </a:solidFill>
                <a:latin typeface="Consolas"/>
              </a:rPr>
              <a:t>@require_GET</a:t>
            </a:r>
            <a:r>
              <a:rPr sz="1900" b="0">
                <a:solidFill>
                  <a:srgbClr val="1C2330"/>
                </a:solidFill>
                <a:latin typeface="Segoe UI"/>
              </a:rPr>
              <a:t> directly above </a:t>
            </a:r>
            <a:r>
              <a:rPr sz="1900" b="0">
                <a:solidFill>
                  <a:srgbClr val="6A3FC0"/>
                </a:solidFill>
                <a:latin typeface="Consolas"/>
              </a:rPr>
              <a:t>def greet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4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45982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85975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Read the name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request.GET.get("name", "").strip()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2319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63190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If the name is empty, return the error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status=400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2663190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3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00412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40405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Otherwise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{"message": f"Hello, {name}!"}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3240405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1-2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87762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17620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Put </a:t>
            </a:r>
            <a:r>
              <a:rPr sz="1900" b="0">
                <a:solidFill>
                  <a:srgbClr val="6A3FC0"/>
                </a:solidFill>
                <a:latin typeface="Consolas"/>
              </a:rPr>
              <a:t>@require_POST</a:t>
            </a:r>
            <a:r>
              <a:rPr sz="1900" b="0">
                <a:solidFill>
                  <a:srgbClr val="1C2330"/>
                </a:solidFill>
                <a:latin typeface="Segoe UI"/>
              </a:rPr>
              <a:t> directly above </a:t>
            </a:r>
            <a:r>
              <a:rPr sz="1900" b="0">
                <a:solidFill>
                  <a:srgbClr val="6A3FC0"/>
                </a:solidFill>
                <a:latin typeface="Consolas"/>
              </a:rPr>
              <a:t>def add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3817620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8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454842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94835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json.loads(request.body)</a:t>
            </a:r>
            <a:r>
              <a:rPr sz="1900" b="0">
                <a:solidFill>
                  <a:srgbClr val="1C2330"/>
                </a:solidFill>
                <a:latin typeface="Segoe UI"/>
              </a:rPr>
              <a:t> inside </a:t>
            </a:r>
            <a:r>
              <a:rPr sz="1900" b="0">
                <a:solidFill>
                  <a:srgbClr val="6A3FC0"/>
                </a:solidFill>
                <a:latin typeface="Consolas"/>
              </a:rPr>
              <a:t>try</a:t>
            </a:r>
            <a:r>
              <a:rPr sz="1900" b="0">
                <a:solidFill>
                  <a:srgbClr val="1C2330"/>
                </a:solidFill>
                <a:latin typeface="Segoe UI"/>
              </a:rPr>
              <a:t>; bad JSON gives a 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4394835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032057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72050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If </a:t>
            </a:r>
            <a:r>
              <a:rPr sz="1900" b="0">
                <a:solidFill>
                  <a:srgbClr val="6A3FC0"/>
                </a:solidFill>
                <a:latin typeface="Consolas"/>
              </a:rPr>
              <a:t>a</a:t>
            </a:r>
            <a:r>
              <a:rPr sz="1900" b="0">
                <a:solidFill>
                  <a:srgbClr val="1C2330"/>
                </a:solidFill>
                <a:latin typeface="Segoe UI"/>
              </a:rPr>
              <a:t> or </a:t>
            </a:r>
            <a:r>
              <a:rPr sz="1900" b="0">
                <a:solidFill>
                  <a:srgbClr val="6A3FC0"/>
                </a:solidFill>
                <a:latin typeface="Consolas"/>
              </a:rPr>
              <a:t>b</a:t>
            </a:r>
            <a:r>
              <a:rPr sz="1900" b="0">
                <a:solidFill>
                  <a:srgbClr val="1C2330"/>
                </a:solidFill>
                <a:latin typeface="Segoe UI"/>
              </a:rPr>
              <a:t> is not an int or float, return a 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2815" y="4972050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7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609272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549265"/>
            <a:ext cx="8259775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{"result": ...}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the 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2815" y="5549265"/>
            <a:ext cx="1828800" cy="5772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Error dict without </a:t>
            </a:r>
            <a:r>
              <a:rPr sz="2400" b="0">
                <a:solidFill>
                  <a:srgbClr val="6A3FC0"/>
                </a:solidFill>
                <a:latin typeface="Consolas"/>
              </a:rPr>
              <a:t>status=400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JSON looks right, the status is 200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request.POST</a:t>
            </a:r>
            <a:r>
              <a:rPr sz="2400" b="0">
                <a:solidFill>
                  <a:srgbClr val="1C2330"/>
                </a:solidFill>
                <a:latin typeface="Segoe UI"/>
              </a:rPr>
              <a:t> for JSON: it only holds form data; use </a:t>
            </a:r>
            <a:r>
              <a:rPr sz="2400" b="0">
                <a:solidFill>
                  <a:srgbClr val="6A3FC0"/>
                </a:solidFill>
                <a:latin typeface="Consolas"/>
              </a:rPr>
              <a:t>request.body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if a and b:</a:t>
            </a:r>
            <a:r>
              <a:rPr sz="2400" b="0">
                <a:solidFill>
                  <a:srgbClr val="1C2330"/>
                </a:solidFill>
                <a:latin typeface="Segoe UI"/>
              </a:rPr>
              <a:t> isn't a number check: </a:t>
            </a:r>
            <a:r>
              <a:rPr sz="2400" b="0">
                <a:solidFill>
                  <a:srgbClr val="6A3FC0"/>
                </a:solidFill>
                <a:latin typeface="Consolas"/>
              </a:rPr>
              <a:t>"1"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true, </a:t>
            </a:r>
            <a:r>
              <a:rPr sz="2400" b="0">
                <a:solidFill>
                  <a:srgbClr val="6A3FC0"/>
                </a:solidFill>
                <a:latin typeface="Consolas"/>
              </a:rPr>
              <a:t>0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false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and</a:t>
            </a:r>
            <a:r>
              <a:rPr sz="2400" b="0">
                <a:solidFill>
                  <a:srgbClr val="1C2330"/>
                </a:solidFill>
                <a:latin typeface="Segoe UI"/>
              </a:rPr>
              <a:t> instead of </a:t>
            </a:r>
            <a:r>
              <a:rPr sz="2400" b="0">
                <a:solidFill>
                  <a:srgbClr val="6A3FC0"/>
                </a:solidFill>
                <a:latin typeface="Consolas"/>
              </a:rPr>
              <a:t>or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error is needed if </a:t>
            </a:r>
            <a:r>
              <a:rPr sz="2400" b="1">
                <a:solidFill>
                  <a:srgbClr val="1C2330"/>
                </a:solidFill>
                <a:latin typeface="Segoe UI"/>
              </a:rPr>
              <a:t>either</a:t>
            </a:r>
            <a:r>
              <a:rPr sz="2400" b="0">
                <a:solidFill>
                  <a:srgbClr val="1C2330"/>
                </a:solidFill>
                <a:latin typeface="Segoe UI"/>
              </a:rPr>
              <a:t> value is bad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A typo like </a:t>
            </a:r>
            <a:r>
              <a:rPr sz="2400" b="0">
                <a:solidFill>
                  <a:srgbClr val="6A3FC0"/>
                </a:solidFill>
                <a:latin typeface="Consolas"/>
              </a:rPr>
              <a:t>"Name is required"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tests compare text exactly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shop's mobile app sends </a:t>
            </a:r>
            <a:r>
              <a:rPr sz="2100" b="0">
                <a:solidFill>
                  <a:srgbClr val="6A3FC0"/>
                </a:solidFill>
                <a:latin typeface="Consolas"/>
              </a:rPr>
              <a:t>POST /api/cart/</a:t>
            </a:r>
            <a:r>
              <a:rPr sz="21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2100" b="0">
                <a:solidFill>
                  <a:srgbClr val="6A3FC0"/>
                </a:solidFill>
                <a:latin typeface="Consolas"/>
              </a:rPr>
              <a:t>{"item": 42, "qty": "two"}</a:t>
            </a:r>
            <a:r>
              <a:rPr sz="2100" b="0">
                <a:solidFill>
                  <a:srgbClr val="1C2330"/>
                </a:solidFill>
                <a:latin typeface="Segoe UI"/>
              </a:rPr>
              <a:t>. Your view must spot the bad quantity and reply </a:t>
            </a:r>
            <a:r>
              <a:rPr sz="2100" b="1">
                <a:solidFill>
                  <a:srgbClr val="1C2330"/>
                </a:solidFill>
                <a:latin typeface="Segoe UI"/>
              </a:rPr>
              <a:t>400</a:t>
            </a:r>
            <a:r>
              <a:rPr sz="2100" b="0">
                <a:solidFill>
                  <a:srgbClr val="1C2330"/>
                </a:solidFill>
                <a:latin typeface="Segoe UI"/>
              </a:rPr>
              <a:t> with a clear message, not crash with a </a:t>
            </a:r>
            <a:r>
              <a:rPr sz="2100" b="1">
                <a:solidFill>
                  <a:srgbClr val="1C2330"/>
                </a:solidFill>
                <a:latin typeface="Segoe UI"/>
              </a:rPr>
              <a:t>500</a:t>
            </a:r>
            <a:r>
              <a:rPr sz="21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Every Django API endpoint is a view: read, validate, return JSON and a status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The app shows your error message to the user, so it must be clear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Django REST Framework later does the parsing and checking for you, in the same pattern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What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request.GET.get("name", "")</a:t>
            </a:r>
            <a:r>
              <a:rPr sz="2300" b="0">
                <a:solidFill>
                  <a:srgbClr val="1C2330"/>
                </a:solidFill>
                <a:latin typeface="Segoe UI"/>
              </a:rPr>
              <a:t> give when the name is missing?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Which status fits a missing name: 200, 400, 405 or 500? Why?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Where is a JSON body in a plain Django view, and how do you read it?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is </a:t>
            </a:r>
            <a:r>
              <a:rPr sz="2300" b="0">
                <a:solidFill>
                  <a:srgbClr val="6A3FC0"/>
                </a:solidFill>
                <a:latin typeface="Consolas"/>
              </a:rPr>
              <a:t>isinstance(value, (int, float))</a:t>
            </a:r>
            <a:r>
              <a:rPr sz="2300" b="0">
                <a:solidFill>
                  <a:srgbClr val="1C2330"/>
                </a:solidFill>
                <a:latin typeface="Segoe UI"/>
              </a:rPr>
              <a:t> safer than </a:t>
            </a:r>
            <a:r>
              <a:rPr sz="2300" b="0">
                <a:solidFill>
                  <a:srgbClr val="6A3FC0"/>
                </a:solidFill>
                <a:latin typeface="Consolas"/>
              </a:rPr>
              <a:t>if value: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02  ·  Your first JSON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Django views – time to create!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Girls Tutorial · tutorial · beginner. Start here: a gentle first look at what a view is (a function that takes a request and returns a response).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HTTP response status codes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docs · beginner. Look up what 200, 400 and 405 mean so you pick the right status for each response.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json: JSON encoder and decoder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Python docs · docs · beginner. The reference for json.loads, which turns the request body into a Python dict, and the error it raises on bad input.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Request and response objects (JsonResponse)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The official reference for request.GET, request.body and JsonResponse, the exact tools your views use.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View decorators: allowed HTTP methods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Explains require_GET and require_POST, which reject the wrong method with a 405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