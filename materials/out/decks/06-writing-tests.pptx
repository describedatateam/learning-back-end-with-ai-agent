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goes with exercise 6. By the end you should be able to write a unittest test class and choose inputs that expose a specific bug.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backends have hundreds or thousands of tests. They let a team change code without being afraid of breaking something that used to 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slug is the tidy, URL-friendly version of a title, as in /blog/hello-world/. Each line here is one behaviour your tests should check.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don't call your tests yourself. The grader loads your class and runs it five times, each time with a different make_slug swapped in. For runs 2-5, a failing test is good news: it spotted the bug.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Shape of a good test: set up the input, call the code once, check the result. One behaviour per test, so the name tells you what broke. Every method takes self, and checks are called as self.assertEqual.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check fails, and the error shows both values. That's what a failing test looks like.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is new syntax: the line ends in a colon and the code to check is indented underneath, like the body of an if. On its own int("twelve") would crash; inside assertRaises that crash is exactly what was expected.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Indentation decides what is inside the with block, exactly like an if. Only the indented line is watched for the error.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test pokes one behaviour with an input chosen to show it: capitals for lower-casing, blank text for the error. Both pass on this correct code. If someone removed .lower(), test_lowercases would fail and catch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every method a different name starting with test_. The starter's example uses "hello world": no capitals, no symbols, short. It passes on all five versions, so it catches none of the bugs.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test 2 fails, one of your tests is wrong about what the correct code does. The message names the test.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reecodecamp.org/news/unit-testing-in-python/" TargetMode="External"/><Relationship Id="rId3" Type="http://schemas.openxmlformats.org/officeDocument/2006/relationships/hyperlink" Target="https://docs.djangoproject.com/en/5.2/intro/tutorial05/" TargetMode="External"/><Relationship Id="rId4" Type="http://schemas.openxmlformats.org/officeDocument/2006/relationships/hyperlink" Target="https://docs.python.org/3/library/unittest.html" TargetMode="External"/><Relationship Id="rId5" Type="http://schemas.openxmlformats.org/officeDocument/2006/relationships/hyperlink" Target="https://docs.djangoproject.com/en/5.2/topics/testing/overview/"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51C"/>
        </a:solidFill>
        <a:effectLst/>
      </p:bgPr>
    </p:bg>
    <p:spTree>
      <p:nvGrpSpPr>
        <p:cNvPr id="1" name=""/>
        <p:cNvGrpSpPr/>
        <p:nvPr/>
      </p:nvGrpSpPr>
      <p:grpSpPr/>
      <p:sp>
        <p:nvSpPr>
          <p:cNvPr id="2" name="TextBox 1"/>
          <p:cNvSpPr txBox="1"/>
          <p:nvPr/>
        </p:nvSpPr>
        <p:spPr>
          <a:xfrm>
            <a:off x="640080" y="1554480"/>
            <a:ext cx="8229600" cy="365760"/>
          </a:xfrm>
          <a:prstGeom prst="rect">
            <a:avLst/>
          </a:prstGeom>
          <a:noFill/>
        </p:spPr>
        <p:txBody>
          <a:bodyPr wrap="square" anchor="t" lIns="0" rIns="0" tIns="0" bIns="0">
            <a:spAutoFit/>
          </a:bodyPr>
          <a:lstStyle/>
          <a:p>
            <a:pPr>
              <a:spcAft>
                <a:spcPts val="600"/>
              </a:spcAft>
            </a:pPr>
            <a:r>
              <a:rPr sz="1400" b="1">
                <a:solidFill>
                  <a:srgbClr val="B38CFF"/>
                </a:solidFill>
                <a:latin typeface="Segoe UI"/>
              </a:rPr>
              <a:t>WEEK 1  ·  EXERCISE 06  ·  TESTING</a:t>
            </a:r>
          </a:p>
        </p:txBody>
      </p:sp>
      <p:sp>
        <p:nvSpPr>
          <p:cNvPr id="3" name="TextBox 2"/>
          <p:cNvSpPr txBox="1"/>
          <p:nvPr/>
        </p:nvSpPr>
        <p:spPr>
          <a:xfrm>
            <a:off x="640080" y="2103120"/>
            <a:ext cx="10911535" cy="2011680"/>
          </a:xfrm>
          <a:prstGeom prst="rect">
            <a:avLst/>
          </a:prstGeom>
          <a:noFill/>
        </p:spPr>
        <p:txBody>
          <a:bodyPr wrap="square" anchor="t" lIns="0" rIns="0" tIns="0" bIns="0">
            <a:spAutoFit/>
          </a:bodyPr>
          <a:lstStyle/>
          <a:p>
            <a:pPr>
              <a:spcAft>
                <a:spcPts val="600"/>
              </a:spcAft>
            </a:pPr>
            <a:r>
              <a:rPr sz="5400" b="1">
                <a:solidFill>
                  <a:srgbClr val="FFFFFF"/>
                </a:solidFill>
                <a:latin typeface="Segoe UI"/>
              </a:rPr>
              <a:t>Write tests that catch bugs</a:t>
            </a:r>
          </a:p>
        </p:txBody>
      </p:sp>
      <p:sp>
        <p:nvSpPr>
          <p:cNvPr id="4" name="Rectangle 3"/>
          <p:cNvSpPr/>
          <p:nvPr/>
        </p:nvSpPr>
        <p:spPr>
          <a:xfrm>
            <a:off x="640080" y="4160520"/>
            <a:ext cx="1280160" cy="73152"/>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480560"/>
            <a:ext cx="10911535" cy="1097280"/>
          </a:xfrm>
          <a:prstGeom prst="rect">
            <a:avLst/>
          </a:prstGeom>
          <a:noFill/>
        </p:spPr>
        <p:txBody>
          <a:bodyPr wrap="square" anchor="t" lIns="0" rIns="0" tIns="0" bIns="0">
            <a:spAutoFit/>
          </a:bodyPr>
          <a:lstStyle/>
          <a:p>
            <a:pPr>
              <a:spcAft>
                <a:spcPts val="600"/>
              </a:spcAft>
            </a:pPr>
            <a:r>
              <a:rPr sz="2200" b="0">
                <a:solidFill>
                  <a:srgbClr val="C9D1DE"/>
                </a:solidFill>
                <a:latin typeface="Segoe UI"/>
              </a:rPr>
              <a:t>Swap roles: write the tests yourself, and make them catch planted bugs.</a:t>
            </a:r>
          </a:p>
        </p:txBody>
      </p:sp>
      <p:sp>
        <p:nvSpPr>
          <p:cNvPr id="6" name="TextBox 5"/>
          <p:cNvSpPr txBox="1"/>
          <p:nvPr/>
        </p:nvSpPr>
        <p:spPr>
          <a:xfrm>
            <a:off x="640080" y="6035040"/>
            <a:ext cx="5486400" cy="365760"/>
          </a:xfrm>
          <a:prstGeom prst="rect">
            <a:avLst/>
          </a:prstGeom>
          <a:noFill/>
        </p:spPr>
        <p:txBody>
          <a:bodyPr wrap="square" anchor="t" lIns="0" rIns="0" tIns="0" bIns="0">
            <a:spAutoFit/>
          </a:bodyPr>
          <a:lstStyle/>
          <a:p>
            <a:pPr>
              <a:spcAft>
                <a:spcPts val="600"/>
              </a:spcAft>
            </a:pPr>
            <a:r>
              <a:rPr sz="1400" b="1">
                <a:solidFill>
                  <a:srgbClr val="9AA4B5"/>
                </a:solidFill>
                <a:latin typeface="Segoe UI"/>
              </a:rPr>
              <a:t>Backend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06  ·  Write tests that catch bugs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2</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The big idea</a:t>
            </a:r>
          </a:p>
        </p:txBody>
      </p:sp>
      <p:sp>
        <p:nvSpPr>
          <p:cNvPr id="6" name="Rounded Rectangle 5"/>
          <p:cNvSpPr/>
          <p:nvPr/>
        </p:nvSpPr>
        <p:spPr>
          <a:xfrm>
            <a:off x="640080" y="1554480"/>
            <a:ext cx="10911535" cy="4206240"/>
          </a:xfrm>
          <a:prstGeom prst="roundRect">
            <a:avLst>
              <a:gd name="adj" fmla="val 6000"/>
            </a:avLst>
          </a:prstGeom>
          <a:solidFill>
            <a:srgbClr val="F3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37360"/>
            <a:ext cx="9997135" cy="3840480"/>
          </a:xfrm>
          <a:prstGeom prst="rect">
            <a:avLst/>
          </a:prstGeom>
          <a:noFill/>
        </p:spPr>
        <p:txBody>
          <a:bodyPr wrap="square" anchor="ctr" lIns="0" rIns="0" tIns="0" bIns="0">
            <a:spAutoFit/>
          </a:bodyPr>
          <a:lstStyle/>
          <a:p>
            <a:pPr>
              <a:spcAft>
                <a:spcPts val="1400"/>
              </a:spcAft>
            </a:pPr>
            <a:r>
              <a:rPr sz="2400" b="0">
                <a:solidFill>
                  <a:srgbClr val="1C2330"/>
                </a:solidFill>
                <a:latin typeface="Segoe UI"/>
              </a:rPr>
              <a:t>Until now, </a:t>
            </a:r>
            <a:r>
              <a:rPr sz="2400" b="1">
                <a:solidFill>
                  <a:srgbClr val="1C2330"/>
                </a:solidFill>
                <a:latin typeface="Segoe UI"/>
              </a:rPr>
              <a:t>the tests checked your code</a:t>
            </a:r>
            <a:r>
              <a:rPr sz="2400" b="0">
                <a:solidFill>
                  <a:srgbClr val="1C2330"/>
                </a:solidFill>
                <a:latin typeface="Segoe UI"/>
              </a:rPr>
              <a:t>. This time you </a:t>
            </a:r>
            <a:r>
              <a:rPr sz="2400" b="1">
                <a:solidFill>
                  <a:srgbClr val="1C2330"/>
                </a:solidFill>
                <a:latin typeface="Segoe UI"/>
              </a:rPr>
              <a:t>write the tests</a:t>
            </a:r>
            <a:r>
              <a:rPr sz="2400" b="0">
                <a:solidFill>
                  <a:srgbClr val="1C2330"/>
                </a:solidFill>
                <a:latin typeface="Segoe UI"/>
              </a:rPr>
              <a:t>, for a function someone else wrote.</a:t>
            </a:r>
          </a:p>
          <a:p>
            <a:pPr>
              <a:spcAft>
                <a:spcPts val="1400"/>
              </a:spcAft>
            </a:pPr>
            <a:r>
              <a:rPr sz="2400" b="0">
                <a:solidFill>
                  <a:srgbClr val="1C2330"/>
                </a:solidFill>
                <a:latin typeface="Segoe UI"/>
              </a:rPr>
              <a:t>A test says: "call this with </a:t>
            </a:r>
            <a:r>
              <a:rPr sz="2400" b="1">
                <a:solidFill>
                  <a:srgbClr val="1C2330"/>
                </a:solidFill>
                <a:latin typeface="Segoe UI"/>
              </a:rPr>
              <a:t>this</a:t>
            </a:r>
            <a:r>
              <a:rPr sz="2400" b="0">
                <a:solidFill>
                  <a:srgbClr val="1C2330"/>
                </a:solidFill>
                <a:latin typeface="Segoe UI"/>
              </a:rPr>
              <a:t>, expect </a:t>
            </a:r>
            <a:r>
              <a:rPr sz="2400" b="1">
                <a:solidFill>
                  <a:srgbClr val="1C2330"/>
                </a:solidFill>
                <a:latin typeface="Segoe UI"/>
              </a:rPr>
              <a:t>that</a:t>
            </a:r>
            <a:r>
              <a:rPr sz="2400" b="0">
                <a:solidFill>
                  <a:srgbClr val="1C2330"/>
                </a:solidFill>
                <a:latin typeface="Segoe UI"/>
              </a:rPr>
              <a:t> back". It's like </a:t>
            </a:r>
            <a:r>
              <a:rPr sz="2400" b="0">
                <a:solidFill>
                  <a:srgbClr val="6A3FC0"/>
                </a:solidFill>
                <a:latin typeface="Consolas"/>
              </a:rPr>
              <a:t>assert df["price"].min() &gt;= 0</a:t>
            </a:r>
            <a:r>
              <a:rPr sz="2400" b="0">
                <a:solidFill>
                  <a:srgbClr val="1C2330"/>
                </a:solidFill>
                <a:latin typeface="Segoe UI"/>
              </a:rPr>
              <a:t> in a notebook, kept in its own file and re-run every time the code changes.</a:t>
            </a:r>
          </a:p>
          <a:p>
            <a:pPr>
              <a:spcAft>
                <a:spcPts val="1400"/>
              </a:spcAft>
            </a:pPr>
            <a:r>
              <a:rPr sz="2400" b="0">
                <a:solidFill>
                  <a:srgbClr val="1C2330"/>
                </a:solidFill>
                <a:latin typeface="Segoe UI"/>
              </a:rPr>
              <a:t>A test is only useful if it </a:t>
            </a:r>
            <a:r>
              <a:rPr sz="2400" b="1">
                <a:solidFill>
                  <a:srgbClr val="1C2330"/>
                </a:solidFill>
                <a:latin typeface="Segoe UI"/>
              </a:rPr>
              <a:t>fails when the code is wrong</a:t>
            </a:r>
            <a:r>
              <a:rPr sz="2400" b="0">
                <a:solidFill>
                  <a:srgbClr val="1C2330"/>
                </a:solidFill>
                <a:latin typeface="Segoe UI"/>
              </a:rPr>
              <a:t>. A smoke alarm that never beeps protects nothing.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06  ·  Write tests that catch bugs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3</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The function you'll test</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6A3FC0"/>
                </a:solidFill>
                <a:latin typeface="Consolas"/>
              </a:rPr>
              <a:t>make_slug(text)</a:t>
            </a:r>
            <a:r>
              <a:rPr sz="2000" b="0">
                <a:solidFill>
                  <a:srgbClr val="1C2330"/>
                </a:solidFill>
                <a:latin typeface="Segoe UI"/>
              </a:rPr>
              <a:t> lives in </a:t>
            </a:r>
            <a:r>
              <a:rPr sz="2000" b="0">
                <a:solidFill>
                  <a:srgbClr val="6A3FC0"/>
                </a:solidFill>
                <a:latin typeface="Consolas"/>
              </a:rPr>
              <a:t>slugs.py</a:t>
            </a:r>
            <a:r>
              <a:rPr sz="2000" b="0">
                <a:solidFill>
                  <a:srgbClr val="1C2330"/>
                </a:solidFill>
                <a:latin typeface="Segoe UI"/>
              </a:rPr>
              <a:t>, next to your file. You don't write or change it.</a:t>
            </a:r>
          </a:p>
        </p:txBody>
      </p:sp>
      <p:sp>
        <p:nvSpPr>
          <p:cNvPr id="7" name="Rounded Rectangle 6"/>
          <p:cNvSpPr/>
          <p:nvPr/>
        </p:nvSpPr>
        <p:spPr>
          <a:xfrm>
            <a:off x="640080" y="2331720"/>
            <a:ext cx="10911535" cy="3840480"/>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3474720"/>
          </a:xfrm>
          <a:prstGeom prst="rect">
            <a:avLst/>
          </a:prstGeom>
          <a:noFill/>
        </p:spPr>
        <p:txBody>
          <a:bodyPr wrap="square" anchor="t" lIns="0" rIns="0" tIns="0" bIns="0">
            <a:spAutoFit/>
          </a:bodyPr>
          <a:lstStyle/>
          <a:p>
            <a:pPr>
              <a:lnSpc>
                <a:spcPct val="110000"/>
              </a:lnSpc>
            </a:pPr>
            <a:r>
              <a:rPr sz="1800">
                <a:solidFill>
                  <a:srgbClr val="9CDCFE"/>
                </a:solidFill>
                <a:latin typeface="Consolas"/>
              </a:rPr>
              <a:t>make_slug</a:t>
            </a:r>
            <a:r>
              <a:rPr sz="1800">
                <a:solidFill>
                  <a:srgbClr val="D4D4D4"/>
                </a:solidFill>
                <a:latin typeface="Consolas"/>
              </a:rPr>
              <a:t>(</a:t>
            </a:r>
            <a:r>
              <a:rPr sz="1800">
                <a:solidFill>
                  <a:srgbClr val="CE9178"/>
                </a:solidFill>
                <a:latin typeface="Consolas"/>
              </a:rPr>
              <a:t>"</a:t>
            </a:r>
            <a:r>
              <a:rPr sz="1800">
                <a:solidFill>
                  <a:srgbClr val="CE9178"/>
                </a:solidFill>
                <a:latin typeface="Consolas"/>
              </a:rPr>
              <a:t>hello world</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6A9955"/>
                </a:solidFill>
                <a:latin typeface="Consolas"/>
              </a:rPr>
              <a:t># "hello-world"</a:t>
            </a:r>
          </a:p>
          <a:p>
            <a:pPr>
              <a:lnSpc>
                <a:spcPct val="110000"/>
              </a:lnSpc>
            </a:pPr>
            <a:r>
              <a:rPr sz="1800">
                <a:solidFill>
                  <a:srgbClr val="9CDCFE"/>
                </a:solidFill>
                <a:latin typeface="Consolas"/>
              </a:rPr>
              <a:t>make_slug</a:t>
            </a:r>
            <a:r>
              <a:rPr sz="1800">
                <a:solidFill>
                  <a:srgbClr val="D4D4D4"/>
                </a:solidFill>
                <a:latin typeface="Consolas"/>
              </a:rPr>
              <a:t>(</a:t>
            </a:r>
            <a:r>
              <a:rPr sz="1800">
                <a:solidFill>
                  <a:srgbClr val="CE9178"/>
                </a:solidFill>
                <a:latin typeface="Consolas"/>
              </a:rPr>
              <a:t>"</a:t>
            </a:r>
            <a:r>
              <a:rPr sz="1800">
                <a:solidFill>
                  <a:srgbClr val="CE9178"/>
                </a:solidFill>
                <a:latin typeface="Consolas"/>
              </a:rPr>
              <a:t>  Hello, World!  </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6A9955"/>
                </a:solidFill>
                <a:latin typeface="Consolas"/>
              </a:rPr>
              <a:t># "hello-world"     lower-case, ends trimmed</a:t>
            </a:r>
          </a:p>
          <a:p>
            <a:pPr>
              <a:lnSpc>
                <a:spcPct val="110000"/>
              </a:lnSpc>
            </a:pPr>
            <a:r>
              <a:rPr sz="1800">
                <a:solidFill>
                  <a:srgbClr val="9CDCFE"/>
                </a:solidFill>
                <a:latin typeface="Consolas"/>
              </a:rPr>
              <a:t>make_slug</a:t>
            </a:r>
            <a:r>
              <a:rPr sz="1800">
                <a:solidFill>
                  <a:srgbClr val="D4D4D4"/>
                </a:solidFill>
                <a:latin typeface="Consolas"/>
              </a:rPr>
              <a:t>(</a:t>
            </a:r>
            <a:r>
              <a:rPr sz="1800">
                <a:solidFill>
                  <a:srgbClr val="CE9178"/>
                </a:solidFill>
                <a:latin typeface="Consolas"/>
              </a:rPr>
              <a:t>"</a:t>
            </a:r>
            <a:r>
              <a:rPr sz="1800">
                <a:solidFill>
                  <a:srgbClr val="CE9178"/>
                </a:solidFill>
                <a:latin typeface="Consolas"/>
              </a:rPr>
              <a:t>Django &amp; DRF 101</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6A9955"/>
                </a:solidFill>
                <a:latin typeface="Consolas"/>
              </a:rPr>
              <a:t># "django-drf-101"  a run of symbols = ONE "-"</a:t>
            </a:r>
          </a:p>
          <a:p>
            <a:pPr>
              <a:lnSpc>
                <a:spcPct val="110000"/>
              </a:lnSpc>
            </a:pPr>
            <a:r>
              <a:rPr sz="1800">
                <a:solidFill>
                  <a:srgbClr val="9CDCFE"/>
                </a:solidFill>
                <a:latin typeface="Consolas"/>
              </a:rPr>
              <a:t>make_slug</a:t>
            </a:r>
            <a:r>
              <a:rPr sz="1800">
                <a:solidFill>
                  <a:srgbClr val="D4D4D4"/>
                </a:solidFill>
                <a:latin typeface="Consolas"/>
              </a:rPr>
              <a:t>(</a:t>
            </a:r>
            <a:r>
              <a:rPr sz="1800">
                <a:solidFill>
                  <a:srgbClr val="CE9178"/>
                </a:solidFill>
                <a:latin typeface="Consolas"/>
              </a:rPr>
              <a:t>"</a:t>
            </a:r>
            <a:r>
              <a:rPr sz="1800">
                <a:solidFill>
                  <a:srgbClr val="CE9178"/>
                </a:solidFill>
                <a:latin typeface="Consolas"/>
              </a:rPr>
              <a:t>word </a:t>
            </a:r>
            <a:r>
              <a:rPr sz="1800">
                <a:solidFill>
                  <a:srgbClr val="CE9178"/>
                </a:solidFill>
                <a:latin typeface="Consolas"/>
              </a:rPr>
              <a:t>"</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B5CEA8"/>
                </a:solidFill>
                <a:latin typeface="Consolas"/>
              </a:rPr>
              <a:t>30</a:t>
            </a:r>
            <a:r>
              <a:rPr sz="1800">
                <a:solidFill>
                  <a:srgbClr val="D4D4D4"/>
                </a:solidFill>
                <a:latin typeface="Consolas"/>
              </a:rPr>
              <a:t>)</a:t>
            </a:r>
            <a:r>
              <a:rPr sz="1800">
                <a:solidFill>
                  <a:srgbClr val="D4D4D4"/>
                </a:solidFill>
                <a:latin typeface="Consolas"/>
              </a:rPr>
              <a:t>           </a:t>
            </a:r>
            <a:r>
              <a:rPr sz="1800">
                <a:solidFill>
                  <a:srgbClr val="6A9955"/>
                </a:solidFill>
                <a:latin typeface="Consolas"/>
              </a:rPr>
              <a:t># at most 50 characters, never ends with "-"</a:t>
            </a:r>
          </a:p>
          <a:p>
            <a:pPr>
              <a:lnSpc>
                <a:spcPct val="110000"/>
              </a:lnSpc>
            </a:pPr>
            <a:r>
              <a:rPr sz="1800">
                <a:solidFill>
                  <a:srgbClr val="9CDCFE"/>
                </a:solidFill>
                <a:latin typeface="Consolas"/>
              </a:rPr>
              <a:t>make_slug</a:t>
            </a:r>
            <a:r>
              <a:rPr sz="1800">
                <a:solidFill>
                  <a:srgbClr val="D4D4D4"/>
                </a:solidFill>
                <a:latin typeface="Consolas"/>
              </a:rPr>
              <a:t>(</a:t>
            </a:r>
            <a:r>
              <a:rPr sz="1800">
                <a:solidFill>
                  <a:srgbClr val="CE9178"/>
                </a:solidFill>
                <a:latin typeface="Consolas"/>
              </a:rPr>
              <a:t>"</a:t>
            </a:r>
            <a:r>
              <a:rPr sz="1800">
                <a:solidFill>
                  <a:srgbClr val="CE9178"/>
                </a:solidFill>
                <a:latin typeface="Consolas"/>
              </a:rPr>
              <a:t>!!!</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6A9955"/>
                </a:solidFill>
                <a:latin typeface="Consolas"/>
              </a:rPr>
              <a:t># raises ValueError: nothing usable is left</a:t>
            </a:r>
          </a:p>
          <a:p>
            <a:pPr>
              <a:lnSpc>
                <a:spcPct val="110000"/>
              </a:lnSpc>
            </a:p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06  ·  Write tests that catch bugs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4</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How the grader runs your tests</a:t>
            </a:r>
          </a:p>
        </p:txBody>
      </p:sp>
      <p:sp>
        <p:nvSpPr>
          <p:cNvPr id="6" name="Rounded Rectangle 5"/>
          <p:cNvSpPr/>
          <p:nvPr/>
        </p:nvSpPr>
        <p:spPr>
          <a:xfrm>
            <a:off x="640080" y="1508760"/>
            <a:ext cx="5272887" cy="4389120"/>
          </a:xfrm>
          <a:prstGeom prst="roundRect">
            <a:avLst>
              <a:gd name="adj" fmla="val 6000"/>
            </a:avLst>
          </a:prstGeom>
          <a:solidFill>
            <a:srgbClr val="F3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37360"/>
            <a:ext cx="4632807" cy="4023360"/>
          </a:xfrm>
          <a:prstGeom prst="rect">
            <a:avLst/>
          </a:prstGeom>
          <a:noFill/>
        </p:spPr>
        <p:txBody>
          <a:bodyPr wrap="square" anchor="t" lIns="0" rIns="0" tIns="0" bIns="0">
            <a:spAutoFit/>
          </a:bodyPr>
          <a:lstStyle/>
          <a:p>
            <a:pPr>
              <a:spcAft>
                <a:spcPts val="1400"/>
              </a:spcAft>
            </a:pPr>
            <a:r>
              <a:rPr sz="2400" b="1">
                <a:solidFill>
                  <a:srgbClr val="8A4FE0"/>
                </a:solidFill>
                <a:latin typeface="Segoe UI"/>
              </a:rPr>
              <a:t>Run 1: the correct make_slug</a:t>
            </a:r>
          </a:p>
          <a:p>
            <a:pPr>
              <a:spcAft>
                <a:spcPts val="1000"/>
              </a:spcAft>
            </a:pPr>
            <a:r>
              <a:rPr sz="1900" b="0">
                <a:solidFill>
                  <a:srgbClr val="1C2330"/>
                </a:solidFill>
                <a:latin typeface="Segoe UI"/>
              </a:rPr>
              <a:t>•  The grader runs </a:t>
            </a:r>
            <a:r>
              <a:rPr sz="1900" b="1">
                <a:solidFill>
                  <a:srgbClr val="1C2330"/>
                </a:solidFill>
                <a:latin typeface="Segoe UI"/>
              </a:rPr>
              <a:t>all</a:t>
            </a:r>
            <a:r>
              <a:rPr sz="1900" b="0">
                <a:solidFill>
                  <a:srgbClr val="1C2330"/>
                </a:solidFill>
                <a:latin typeface="Segoe UI"/>
              </a:rPr>
              <a:t> your test methods</a:t>
            </a:r>
          </a:p>
          <a:p>
            <a:pPr>
              <a:spcAft>
                <a:spcPts val="1000"/>
              </a:spcAft>
            </a:pPr>
            <a:r>
              <a:rPr sz="1900" b="0">
                <a:solidFill>
                  <a:srgbClr val="1C2330"/>
                </a:solidFill>
                <a:latin typeface="Segoe UI"/>
              </a:rPr>
              <a:t>•  Every one must </a:t>
            </a:r>
            <a:r>
              <a:rPr sz="1900" b="1">
                <a:solidFill>
                  <a:srgbClr val="1C2330"/>
                </a:solidFill>
                <a:latin typeface="Segoe UI"/>
              </a:rPr>
              <a:t>pass</a:t>
            </a:r>
            <a:r>
              <a:rPr sz="1900" b="0">
                <a:solidFill>
                  <a:srgbClr val="1C2330"/>
                </a:solidFill>
                <a:latin typeface="Segoe UI"/>
              </a:rPr>
              <a:t> (test 2)</a:t>
            </a:r>
          </a:p>
          <a:p>
            <a:pPr>
              <a:spcAft>
                <a:spcPts val="1000"/>
              </a:spcAft>
            </a:pPr>
            <a:r>
              <a:rPr sz="1900" b="0">
                <a:solidFill>
                  <a:srgbClr val="1C2330"/>
                </a:solidFill>
                <a:latin typeface="Segoe UI"/>
              </a:rPr>
              <a:t>•  Fails here? Your expected value is wrong</a:t>
            </a:r>
          </a:p>
          <a:p>
            <a:pPr>
              <a:spcAft>
                <a:spcPts val="1000"/>
              </a:spcAft>
            </a:pPr>
            <a:r>
              <a:rPr sz="1900" b="0">
                <a:solidFill>
                  <a:srgbClr val="1C2330"/>
                </a:solidFill>
                <a:latin typeface="Segoe UI"/>
              </a:rPr>
              <a:t>•  You need at least </a:t>
            </a:r>
            <a:r>
              <a:rPr sz="1900" b="1">
                <a:solidFill>
                  <a:srgbClr val="1C2330"/>
                </a:solidFill>
                <a:latin typeface="Segoe UI"/>
              </a:rPr>
              <a:t>4</a:t>
            </a:r>
            <a:r>
              <a:rPr sz="1900" b="0">
                <a:solidFill>
                  <a:srgbClr val="1C2330"/>
                </a:solidFill>
                <a:latin typeface="Segoe UI"/>
              </a:rPr>
              <a:t> test methods (test 1)</a:t>
            </a:r>
          </a:p>
        </p:txBody>
      </p:sp>
      <p:sp>
        <p:nvSpPr>
          <p:cNvPr id="8" name="Rounded Rectangle 7"/>
          <p:cNvSpPr/>
          <p:nvPr/>
        </p:nvSpPr>
        <p:spPr>
          <a:xfrm>
            <a:off x="6278727" y="1508760"/>
            <a:ext cx="5272887" cy="4389120"/>
          </a:xfrm>
          <a:prstGeom prst="roundRect">
            <a:avLst>
              <a:gd name="adj" fmla="val 6000"/>
            </a:avLst>
          </a:prstGeom>
          <a:solidFill>
            <a:srgbClr val="E5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98767" y="1737360"/>
            <a:ext cx="4632807" cy="4023360"/>
          </a:xfrm>
          <a:prstGeom prst="rect">
            <a:avLst/>
          </a:prstGeom>
          <a:noFill/>
        </p:spPr>
        <p:txBody>
          <a:bodyPr wrap="square" anchor="t" lIns="0" rIns="0" tIns="0" bIns="0">
            <a:spAutoFit/>
          </a:bodyPr>
          <a:lstStyle/>
          <a:p>
            <a:pPr>
              <a:spcAft>
                <a:spcPts val="1400"/>
              </a:spcAft>
            </a:pPr>
            <a:r>
              <a:rPr sz="2400" b="1">
                <a:solidFill>
                  <a:srgbClr val="2F6FDF"/>
                </a:solidFill>
                <a:latin typeface="Segoe UI"/>
              </a:rPr>
              <a:t>Runs 2-5: one planted bug each</a:t>
            </a:r>
          </a:p>
          <a:p>
            <a:pPr>
              <a:spcAft>
                <a:spcPts val="1000"/>
              </a:spcAft>
            </a:pPr>
            <a:r>
              <a:rPr sz="1900" b="0">
                <a:solidFill>
                  <a:srgbClr val="1C2330"/>
                </a:solidFill>
                <a:latin typeface="Segoe UI"/>
              </a:rPr>
              <a:t>•  No lower-case: </a:t>
            </a:r>
            <a:r>
              <a:rPr sz="1900" b="0">
                <a:solidFill>
                  <a:srgbClr val="6A3FC0"/>
                </a:solidFill>
                <a:latin typeface="Consolas"/>
              </a:rPr>
              <a:t>"Hello-World"</a:t>
            </a:r>
            <a:r>
              <a:rPr sz="1900" b="0">
                <a:solidFill>
                  <a:srgbClr val="1C2330"/>
                </a:solidFill>
                <a:latin typeface="Segoe UI"/>
              </a:rPr>
              <a:t> (test 3)</a:t>
            </a:r>
          </a:p>
          <a:p>
            <a:pPr>
              <a:spcAft>
                <a:spcPts val="1000"/>
              </a:spcAft>
            </a:pPr>
            <a:r>
              <a:rPr sz="1900" b="0">
                <a:solidFill>
                  <a:srgbClr val="1C2330"/>
                </a:solidFill>
                <a:latin typeface="Segoe UI"/>
              </a:rPr>
              <a:t>•  No collapse: </a:t>
            </a:r>
            <a:r>
              <a:rPr sz="1900" b="0">
                <a:solidFill>
                  <a:srgbClr val="6A3FC0"/>
                </a:solidFill>
                <a:latin typeface="Consolas"/>
              </a:rPr>
              <a:t>"django---drf"</a:t>
            </a:r>
            <a:r>
              <a:rPr sz="1900" b="0">
                <a:solidFill>
                  <a:srgbClr val="1C2330"/>
                </a:solidFill>
                <a:latin typeface="Segoe UI"/>
              </a:rPr>
              <a:t> (test 4)</a:t>
            </a:r>
          </a:p>
          <a:p>
            <a:pPr>
              <a:spcAft>
                <a:spcPts val="1000"/>
              </a:spcAft>
            </a:pPr>
            <a:r>
              <a:rPr sz="1900" b="0">
                <a:solidFill>
                  <a:srgbClr val="1C2330"/>
                </a:solidFill>
                <a:latin typeface="Segoe UI"/>
              </a:rPr>
              <a:t>•  No length limit: 149 characters (test 5)</a:t>
            </a:r>
          </a:p>
          <a:p>
            <a:pPr>
              <a:spcAft>
                <a:spcPts val="1000"/>
              </a:spcAft>
            </a:pPr>
            <a:r>
              <a:rPr sz="1900" b="0">
                <a:solidFill>
                  <a:srgbClr val="1C2330"/>
                </a:solidFill>
                <a:latin typeface="Segoe UI"/>
              </a:rPr>
              <a:t>•  No error: </a:t>
            </a:r>
            <a:r>
              <a:rPr sz="1900" b="0">
                <a:solidFill>
                  <a:srgbClr val="6A3FC0"/>
                </a:solidFill>
                <a:latin typeface="Consolas"/>
              </a:rPr>
              <a:t>"!!!"</a:t>
            </a:r>
            <a:r>
              <a:rPr sz="1900" b="0">
                <a:solidFill>
                  <a:srgbClr val="1C2330"/>
                </a:solidFill>
                <a:latin typeface="Segoe UI"/>
              </a:rPr>
              <a:t> gives </a:t>
            </a:r>
            <a:r>
              <a:rPr sz="1900" b="0">
                <a:solidFill>
                  <a:srgbClr val="6A3FC0"/>
                </a:solidFill>
                <a:latin typeface="Consolas"/>
              </a:rPr>
              <a:t>""</a:t>
            </a:r>
            <a:r>
              <a:rPr sz="1900" b="0">
                <a:solidFill>
                  <a:srgbClr val="1C2330"/>
                </a:solidFill>
                <a:latin typeface="Segoe UI"/>
              </a:rPr>
              <a:t> (test 6)</a:t>
            </a:r>
          </a:p>
          <a:p>
            <a:pPr>
              <a:spcAft>
                <a:spcPts val="1000"/>
              </a:spcAft>
            </a:pPr>
            <a:r>
              <a:rPr sz="1900" b="0">
                <a:solidFill>
                  <a:srgbClr val="1C2330"/>
                </a:solidFill>
                <a:latin typeface="Segoe UI"/>
              </a:rPr>
              <a:t>•  At least one of your tests must </a:t>
            </a:r>
            <a:r>
              <a:rPr sz="1900" b="1">
                <a:solidFill>
                  <a:srgbClr val="1C2330"/>
                </a:solidFill>
                <a:latin typeface="Segoe UI"/>
              </a:rPr>
              <a:t>fail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06  ·  Write tests that catch bugs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5</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New words</a:t>
            </a:r>
          </a:p>
        </p:txBody>
      </p:sp>
      <p:sp>
        <p:nvSpPr>
          <p:cNvPr id="6" name="TextBox 5"/>
          <p:cNvSpPr txBox="1"/>
          <p:nvPr/>
        </p:nvSpPr>
        <p:spPr>
          <a:xfrm>
            <a:off x="640080" y="1508760"/>
            <a:ext cx="3017520" cy="7620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test</a:t>
            </a:r>
          </a:p>
        </p:txBody>
      </p:sp>
      <p:sp>
        <p:nvSpPr>
          <p:cNvPr id="7" name="TextBox 6"/>
          <p:cNvSpPr txBox="1"/>
          <p:nvPr/>
        </p:nvSpPr>
        <p:spPr>
          <a:xfrm>
            <a:off x="3840480" y="1508760"/>
            <a:ext cx="7711135" cy="7620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A small function that calls some code and checks the result.</a:t>
            </a:r>
          </a:p>
        </p:txBody>
      </p:sp>
      <p:sp>
        <p:nvSpPr>
          <p:cNvPr id="8" name="TextBox 7"/>
          <p:cNvSpPr txBox="1"/>
          <p:nvPr/>
        </p:nvSpPr>
        <p:spPr>
          <a:xfrm>
            <a:off x="640080" y="2270760"/>
            <a:ext cx="3017520" cy="7620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unittest</a:t>
            </a:r>
          </a:p>
        </p:txBody>
      </p:sp>
      <p:sp>
        <p:nvSpPr>
          <p:cNvPr id="9" name="TextBox 8"/>
          <p:cNvSpPr txBox="1"/>
          <p:nvPr/>
        </p:nvSpPr>
        <p:spPr>
          <a:xfrm>
            <a:off x="3840480" y="2270760"/>
            <a:ext cx="7711135" cy="7620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Python's built-in testing library.</a:t>
            </a:r>
          </a:p>
        </p:txBody>
      </p:sp>
      <p:cxnSp>
        <p:nvCxnSpPr>
          <p:cNvPr id="10" name="Connector 9"/>
          <p:cNvCxnSpPr/>
          <p:nvPr/>
        </p:nvCxnSpPr>
        <p:spPr>
          <a:xfrm>
            <a:off x="640080" y="22707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0080" y="3032760"/>
            <a:ext cx="3017520" cy="7620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test case class</a:t>
            </a:r>
          </a:p>
        </p:txBody>
      </p:sp>
      <p:sp>
        <p:nvSpPr>
          <p:cNvPr id="12" name="TextBox 11"/>
          <p:cNvSpPr txBox="1"/>
          <p:nvPr/>
        </p:nvSpPr>
        <p:spPr>
          <a:xfrm>
            <a:off x="3840480" y="3032760"/>
            <a:ext cx="7711135" cy="7620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Inherits from </a:t>
            </a:r>
            <a:r>
              <a:rPr sz="1900" b="0">
                <a:solidFill>
                  <a:srgbClr val="6A3FC0"/>
                </a:solidFill>
                <a:latin typeface="Consolas"/>
              </a:rPr>
              <a:t>unittest.TestCase</a:t>
            </a:r>
            <a:r>
              <a:rPr sz="1900" b="0">
                <a:solidFill>
                  <a:srgbClr val="1C2330"/>
                </a:solidFill>
                <a:latin typeface="Segoe UI"/>
              </a:rPr>
              <a:t>; each </a:t>
            </a:r>
            <a:r>
              <a:rPr sz="1900" b="0">
                <a:solidFill>
                  <a:srgbClr val="6A3FC0"/>
                </a:solidFill>
                <a:latin typeface="Consolas"/>
              </a:rPr>
              <a:t>test...</a:t>
            </a:r>
            <a:r>
              <a:rPr sz="1900" b="0">
                <a:solidFill>
                  <a:srgbClr val="1C2330"/>
                </a:solidFill>
                <a:latin typeface="Segoe UI"/>
              </a:rPr>
              <a:t> method is one test.</a:t>
            </a:r>
          </a:p>
        </p:txBody>
      </p:sp>
      <p:cxnSp>
        <p:nvCxnSpPr>
          <p:cNvPr id="13" name="Connector 12"/>
          <p:cNvCxnSpPr/>
          <p:nvPr/>
        </p:nvCxnSpPr>
        <p:spPr>
          <a:xfrm>
            <a:off x="640080" y="30327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0080" y="3794760"/>
            <a:ext cx="3017520" cy="7620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assertion</a:t>
            </a:r>
          </a:p>
        </p:txBody>
      </p:sp>
      <p:sp>
        <p:nvSpPr>
          <p:cNvPr id="15" name="TextBox 14"/>
          <p:cNvSpPr txBox="1"/>
          <p:nvPr/>
        </p:nvSpPr>
        <p:spPr>
          <a:xfrm>
            <a:off x="3840480" y="3794760"/>
            <a:ext cx="7711135" cy="7620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A check like </a:t>
            </a:r>
            <a:r>
              <a:rPr sz="1900" b="0">
                <a:solidFill>
                  <a:srgbClr val="6A3FC0"/>
                </a:solidFill>
                <a:latin typeface="Consolas"/>
              </a:rPr>
              <a:t>self.assertEqual(a, b)</a:t>
            </a:r>
            <a:r>
              <a:rPr sz="1900" b="0">
                <a:solidFill>
                  <a:srgbClr val="1C2330"/>
                </a:solidFill>
                <a:latin typeface="Segoe UI"/>
              </a:rPr>
              <a:t>. If it's false, the test fails.</a:t>
            </a:r>
          </a:p>
        </p:txBody>
      </p:sp>
      <p:cxnSp>
        <p:nvCxnSpPr>
          <p:cNvPr id="16" name="Connector 15"/>
          <p:cNvCxnSpPr/>
          <p:nvPr/>
        </p:nvCxnSpPr>
        <p:spPr>
          <a:xfrm>
            <a:off x="640080" y="37947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0080" y="4556760"/>
            <a:ext cx="3017520" cy="7620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bug / mutant</a:t>
            </a:r>
          </a:p>
        </p:txBody>
      </p:sp>
      <p:sp>
        <p:nvSpPr>
          <p:cNvPr id="18" name="TextBox 17"/>
          <p:cNvSpPr txBox="1"/>
          <p:nvPr/>
        </p:nvSpPr>
        <p:spPr>
          <a:xfrm>
            <a:off x="3840480" y="4556760"/>
            <a:ext cx="7711135" cy="7620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A copy of the function with one small mistake planted in it.</a:t>
            </a:r>
          </a:p>
        </p:txBody>
      </p:sp>
      <p:cxnSp>
        <p:nvCxnSpPr>
          <p:cNvPr id="19" name="Connector 18"/>
          <p:cNvCxnSpPr/>
          <p:nvPr/>
        </p:nvCxnSpPr>
        <p:spPr>
          <a:xfrm>
            <a:off x="640080" y="45567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 y="5318760"/>
            <a:ext cx="3017520" cy="762000"/>
          </a:xfrm>
          <a:prstGeom prst="rect">
            <a:avLst/>
          </a:prstGeom>
          <a:noFill/>
        </p:spPr>
        <p:txBody>
          <a:bodyPr wrap="square" anchor="ctr" lIns="0" rIns="0" tIns="0" bIns="0">
            <a:spAutoFit/>
          </a:bodyPr>
          <a:lstStyle/>
          <a:p>
            <a:pPr>
              <a:spcAft>
                <a:spcPts val="600"/>
              </a:spcAft>
            </a:pPr>
            <a:r>
              <a:rPr sz="2200" b="1">
                <a:solidFill>
                  <a:srgbClr val="8A4FE0"/>
                </a:solidFill>
                <a:latin typeface="Segoe UI"/>
              </a:rPr>
              <a:t>raise an error</a:t>
            </a:r>
          </a:p>
        </p:txBody>
      </p:sp>
      <p:sp>
        <p:nvSpPr>
          <p:cNvPr id="21" name="TextBox 20"/>
          <p:cNvSpPr txBox="1"/>
          <p:nvPr/>
        </p:nvSpPr>
        <p:spPr>
          <a:xfrm>
            <a:off x="3840480" y="5318760"/>
            <a:ext cx="7711135" cy="76200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The function stops and reports a problem, like </a:t>
            </a:r>
            <a:r>
              <a:rPr sz="1900" b="0">
                <a:solidFill>
                  <a:srgbClr val="6A3FC0"/>
                </a:solidFill>
                <a:latin typeface="Consolas"/>
              </a:rPr>
              <a:t>ValueError</a:t>
            </a:r>
            <a:r>
              <a:rPr sz="1900" b="0">
                <a:solidFill>
                  <a:srgbClr val="1C2330"/>
                </a:solidFill>
                <a:latin typeface="Segoe UI"/>
              </a:rPr>
              <a:t>.</a:t>
            </a:r>
          </a:p>
        </p:txBody>
      </p:sp>
      <p:cxnSp>
        <p:nvCxnSpPr>
          <p:cNvPr id="22" name="Connector 21"/>
          <p:cNvCxnSpPr/>
          <p:nvPr/>
        </p:nvCxnSpPr>
        <p:spPr>
          <a:xfrm>
            <a:off x="640080" y="5318760"/>
            <a:ext cx="10911535" cy="0"/>
          </a:xfrm>
          <a:prstGeom prst="line">
            <a:avLst/>
          </a:prstGeom>
          <a:ln>
            <a:solidFill>
              <a:srgbClr val="DDE1E7"/>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06  ·  Write tests that catch bugs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6</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Tool: a test case class</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1C2330"/>
                </a:solidFill>
                <a:latin typeface="Segoe UI"/>
              </a:rPr>
              <a:t>Inherit from </a:t>
            </a:r>
            <a:r>
              <a:rPr sz="2000" b="0">
                <a:solidFill>
                  <a:srgbClr val="6A3FC0"/>
                </a:solidFill>
                <a:latin typeface="Consolas"/>
              </a:rPr>
              <a:t>unittest.TestCase</a:t>
            </a:r>
            <a:r>
              <a:rPr sz="2000" b="0">
                <a:solidFill>
                  <a:srgbClr val="1C2330"/>
                </a:solidFill>
                <a:latin typeface="Segoe UI"/>
              </a:rPr>
              <a:t>; every method whose name starts with </a:t>
            </a:r>
            <a:r>
              <a:rPr sz="2000" b="0">
                <a:solidFill>
                  <a:srgbClr val="6A3FC0"/>
                </a:solidFill>
                <a:latin typeface="Consolas"/>
              </a:rPr>
              <a:t>test</a:t>
            </a:r>
            <a:r>
              <a:rPr sz="2000" b="0">
                <a:solidFill>
                  <a:srgbClr val="1C2330"/>
                </a:solidFill>
                <a:latin typeface="Segoe UI"/>
              </a:rPr>
              <a:t> is one test.</a:t>
            </a:r>
          </a:p>
        </p:txBody>
      </p:sp>
      <p:sp>
        <p:nvSpPr>
          <p:cNvPr id="7" name="Rounded Rectangle 6"/>
          <p:cNvSpPr/>
          <p:nvPr/>
        </p:nvSpPr>
        <p:spPr>
          <a:xfrm>
            <a:off x="640080" y="2331720"/>
            <a:ext cx="10911535" cy="3840480"/>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3474720"/>
          </a:xfrm>
          <a:prstGeom prst="rect">
            <a:avLst/>
          </a:prstGeom>
          <a:noFill/>
        </p:spPr>
        <p:txBody>
          <a:bodyPr wrap="square" anchor="t" lIns="0" rIns="0" tIns="0" bIns="0">
            <a:spAutoFit/>
          </a:bodyPr>
          <a:lstStyle/>
          <a:p>
            <a:pPr>
              <a:lnSpc>
                <a:spcPct val="110000"/>
              </a:lnSpc>
            </a:pPr>
            <a:r>
              <a:rPr sz="1800">
                <a:solidFill>
                  <a:srgbClr val="C586C0"/>
                </a:solidFill>
                <a:latin typeface="Consolas"/>
              </a:rPr>
              <a:t>import</a:t>
            </a:r>
            <a:r>
              <a:rPr sz="1800">
                <a:solidFill>
                  <a:srgbClr val="D4D4D4"/>
                </a:solidFill>
                <a:latin typeface="Consolas"/>
              </a:rPr>
              <a:t> </a:t>
            </a:r>
            <a:r>
              <a:rPr sz="1800">
                <a:solidFill>
                  <a:srgbClr val="9CDCFE"/>
                </a:solidFill>
                <a:latin typeface="Consolas"/>
              </a:rPr>
              <a:t>unittest</a:t>
            </a:r>
          </a:p>
          <a:p>
            <a:pPr>
              <a:lnSpc>
                <a:spcPct val="110000"/>
              </a:lnSpc>
            </a:pPr>
          </a:p>
          <a:p>
            <a:pPr>
              <a:lnSpc>
                <a:spcPct val="110000"/>
              </a:lnSpc>
            </a:pPr>
            <a:r>
              <a:rPr sz="1800">
                <a:solidFill>
                  <a:srgbClr val="C586C0"/>
                </a:solidFill>
                <a:latin typeface="Consolas"/>
              </a:rPr>
              <a:t>class</a:t>
            </a:r>
            <a:r>
              <a:rPr sz="1800">
                <a:solidFill>
                  <a:srgbClr val="D4D4D4"/>
                </a:solidFill>
                <a:latin typeface="Consolas"/>
              </a:rPr>
              <a:t> </a:t>
            </a:r>
            <a:r>
              <a:rPr sz="1800">
                <a:solidFill>
                  <a:srgbClr val="4EC9B0"/>
                </a:solidFill>
                <a:latin typeface="Consolas"/>
              </a:rPr>
              <a:t>ShoutTests</a:t>
            </a:r>
            <a:r>
              <a:rPr sz="1800">
                <a:solidFill>
                  <a:srgbClr val="D4D4D4"/>
                </a:solidFill>
                <a:latin typeface="Consolas"/>
              </a:rPr>
              <a:t>(</a:t>
            </a:r>
            <a:r>
              <a:rPr sz="1800">
                <a:solidFill>
                  <a:srgbClr val="9CDCFE"/>
                </a:solidFill>
                <a:latin typeface="Consolas"/>
              </a:rPr>
              <a:t>unittest</a:t>
            </a:r>
            <a:r>
              <a:rPr sz="1800">
                <a:solidFill>
                  <a:srgbClr val="D4D4D4"/>
                </a:solidFill>
                <a:latin typeface="Consolas"/>
              </a:rPr>
              <a:t>.</a:t>
            </a:r>
            <a:r>
              <a:rPr sz="1800">
                <a:solidFill>
                  <a:srgbClr val="9CDCFE"/>
                </a:solidFill>
                <a:latin typeface="Consolas"/>
              </a:rPr>
              <a:t>TestCase</a:t>
            </a:r>
            <a:r>
              <a:rPr sz="1800">
                <a:solidFill>
                  <a:srgbClr val="D4D4D4"/>
                </a:solidFill>
                <a:latin typeface="Consolas"/>
              </a:rPr>
              <a:t>)</a:t>
            </a:r>
            <a:r>
              <a:rPr sz="1800">
                <a:solidFill>
                  <a:srgbClr val="D4D4D4"/>
                </a:solidFill>
                <a:latin typeface="Consolas"/>
              </a:rPr>
              <a:t>:</a:t>
            </a:r>
          </a:p>
          <a:p>
            <a:pPr>
              <a:lnSpc>
                <a:spcPct val="110000"/>
              </a:lnSpc>
            </a:pPr>
            <a:r>
              <a:rPr sz="1800">
                <a:solidFill>
                  <a:srgbClr val="D4D4D4"/>
                </a:solidFill>
                <a:latin typeface="Consolas"/>
              </a:rPr>
              <a:t>    </a:t>
            </a:r>
            <a:r>
              <a:rPr sz="1800">
                <a:solidFill>
                  <a:srgbClr val="C586C0"/>
                </a:solidFill>
                <a:latin typeface="Consolas"/>
              </a:rPr>
              <a:t>def</a:t>
            </a:r>
            <a:r>
              <a:rPr sz="1800">
                <a:solidFill>
                  <a:srgbClr val="D4D4D4"/>
                </a:solidFill>
                <a:latin typeface="Consolas"/>
              </a:rPr>
              <a:t> </a:t>
            </a:r>
            <a:r>
              <a:rPr sz="1800">
                <a:solidFill>
                  <a:srgbClr val="DCDCAA"/>
                </a:solidFill>
                <a:latin typeface="Consolas"/>
              </a:rPr>
              <a:t>test_makes_upper_case</a:t>
            </a:r>
            <a:r>
              <a:rPr sz="1800">
                <a:solidFill>
                  <a:srgbClr val="D4D4D4"/>
                </a:solidFill>
                <a:latin typeface="Consolas"/>
              </a:rPr>
              <a:t>(</a:t>
            </a:r>
            <a:r>
              <a:rPr sz="1800">
                <a:solidFill>
                  <a:srgbClr val="4EC9B0"/>
                </a:solidFill>
                <a:latin typeface="Consolas"/>
              </a:rPr>
              <a:t>self</a:t>
            </a:r>
            <a:r>
              <a:rPr sz="1800">
                <a:solidFill>
                  <a:srgbClr val="D4D4D4"/>
                </a:solidFill>
                <a:latin typeface="Consolas"/>
              </a:rPr>
              <a:t>)</a:t>
            </a:r>
            <a:r>
              <a:rPr sz="1800">
                <a:solidFill>
                  <a:srgbClr val="D4D4D4"/>
                </a:solidFill>
                <a:latin typeface="Consolas"/>
              </a:rPr>
              <a:t>:</a:t>
            </a:r>
          </a:p>
          <a:p>
            <a:pPr>
              <a:lnSpc>
                <a:spcPct val="110000"/>
              </a:lnSpc>
            </a:pPr>
            <a:r>
              <a:rPr sz="1800">
                <a:solidFill>
                  <a:srgbClr val="D4D4D4"/>
                </a:solidFill>
                <a:latin typeface="Consolas"/>
              </a:rPr>
              <a:t>        </a:t>
            </a:r>
            <a:r>
              <a:rPr sz="1800">
                <a:solidFill>
                  <a:srgbClr val="9CDCFE"/>
                </a:solidFill>
                <a:latin typeface="Consolas"/>
              </a:rPr>
              <a:t>result</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tea</a:t>
            </a:r>
            <a:r>
              <a:rPr sz="1800">
                <a:solidFill>
                  <a:srgbClr val="CE9178"/>
                </a:solidFill>
                <a:latin typeface="Consolas"/>
              </a:rPr>
              <a:t>"</a:t>
            </a:r>
            <a:r>
              <a:rPr sz="1800">
                <a:solidFill>
                  <a:srgbClr val="D4D4D4"/>
                </a:solidFill>
                <a:latin typeface="Consolas"/>
              </a:rPr>
              <a:t>.</a:t>
            </a:r>
            <a:r>
              <a:rPr sz="1800">
                <a:solidFill>
                  <a:srgbClr val="9CDCFE"/>
                </a:solidFill>
                <a:latin typeface="Consolas"/>
              </a:rPr>
              <a:t>upper</a:t>
            </a:r>
            <a:r>
              <a:rPr sz="1800">
                <a:solidFill>
                  <a:srgbClr val="D4D4D4"/>
                </a:solidFill>
                <a:latin typeface="Consolas"/>
              </a:rPr>
              <a:t>(</a:t>
            </a:r>
            <a:r>
              <a:rPr sz="1800">
                <a:solidFill>
                  <a:srgbClr val="D4D4D4"/>
                </a:solidFill>
                <a:latin typeface="Consolas"/>
              </a:rPr>
              <a:t>)</a:t>
            </a:r>
            <a:r>
              <a:rPr sz="1800">
                <a:solidFill>
                  <a:srgbClr val="D4D4D4"/>
                </a:solidFill>
                <a:latin typeface="Consolas"/>
              </a:rPr>
              <a:t>           </a:t>
            </a:r>
            <a:r>
              <a:rPr sz="1800">
                <a:solidFill>
                  <a:srgbClr val="6A9955"/>
                </a:solidFill>
                <a:latin typeface="Consolas"/>
              </a:rPr>
              <a:t># 1. call the code</a:t>
            </a:r>
          </a:p>
          <a:p>
            <a:pPr>
              <a:lnSpc>
                <a:spcPct val="110000"/>
              </a:lnSpc>
            </a:pPr>
            <a:r>
              <a:rPr sz="1800">
                <a:solidFill>
                  <a:srgbClr val="D4D4D4"/>
                </a:solidFill>
                <a:latin typeface="Consolas"/>
              </a:rPr>
              <a:t>        </a:t>
            </a:r>
            <a:r>
              <a:rPr sz="1800">
                <a:solidFill>
                  <a:srgbClr val="4EC9B0"/>
                </a:solidFill>
                <a:latin typeface="Consolas"/>
              </a:rPr>
              <a:t>self</a:t>
            </a:r>
            <a:r>
              <a:rPr sz="1800">
                <a:solidFill>
                  <a:srgbClr val="D4D4D4"/>
                </a:solidFill>
                <a:latin typeface="Consolas"/>
              </a:rPr>
              <a:t>.</a:t>
            </a:r>
            <a:r>
              <a:rPr sz="1800">
                <a:solidFill>
                  <a:srgbClr val="9CDCFE"/>
                </a:solidFill>
                <a:latin typeface="Consolas"/>
              </a:rPr>
              <a:t>assertEqual</a:t>
            </a:r>
            <a:r>
              <a:rPr sz="1800">
                <a:solidFill>
                  <a:srgbClr val="D4D4D4"/>
                </a:solidFill>
                <a:latin typeface="Consolas"/>
              </a:rPr>
              <a:t>(</a:t>
            </a:r>
            <a:r>
              <a:rPr sz="1800">
                <a:solidFill>
                  <a:srgbClr val="9CDCFE"/>
                </a:solidFill>
                <a:latin typeface="Consolas"/>
              </a:rPr>
              <a:t>result</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TEA</a:t>
            </a:r>
            <a:r>
              <a:rPr sz="1800">
                <a:solidFill>
                  <a:srgbClr val="CE9178"/>
                </a:solidFill>
                <a:latin typeface="Consolas"/>
              </a:rPr>
              <a:t>"</a:t>
            </a:r>
            <a:r>
              <a:rPr sz="1800">
                <a:solidFill>
                  <a:srgbClr val="D4D4D4"/>
                </a:solidFill>
                <a:latin typeface="Consolas"/>
              </a:rPr>
              <a:t>)</a:t>
            </a:r>
            <a:r>
              <a:rPr sz="1800">
                <a:solidFill>
                  <a:srgbClr val="D4D4D4"/>
                </a:solidFill>
                <a:latin typeface="Consolas"/>
              </a:rPr>
              <a:t>  </a:t>
            </a:r>
            <a:r>
              <a:rPr sz="1800">
                <a:solidFill>
                  <a:srgbClr val="6A9955"/>
                </a:solidFill>
                <a:latin typeface="Consolas"/>
              </a:rPr>
              <a:t># 2. check the answer</a:t>
            </a:r>
          </a:p>
          <a:p>
            <a:pPr>
              <a:lnSpc>
                <a:spcPct val="110000"/>
              </a:lnSpc>
            </a:p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06  ·  Write tests that catch bugs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7</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Tool: assertEqual(actual, expected)</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1C2330"/>
                </a:solidFill>
                <a:latin typeface="Segoe UI"/>
              </a:rPr>
              <a:t>Outside a class, borrow the checks from a plain </a:t>
            </a:r>
            <a:r>
              <a:rPr sz="2000" b="0">
                <a:solidFill>
                  <a:srgbClr val="6A3FC0"/>
                </a:solidFill>
                <a:latin typeface="Consolas"/>
              </a:rPr>
              <a:t>unittest.TestCase()</a:t>
            </a:r>
            <a:r>
              <a:rPr sz="2000" b="0">
                <a:solidFill>
                  <a:srgbClr val="1C2330"/>
                </a:solidFill>
                <a:latin typeface="Segoe UI"/>
              </a:rPr>
              <a:t> to try them in the Console.</a:t>
            </a:r>
          </a:p>
        </p:txBody>
      </p:sp>
      <p:sp>
        <p:nvSpPr>
          <p:cNvPr id="7" name="Rounded Rectangle 6"/>
          <p:cNvSpPr/>
          <p:nvPr/>
        </p:nvSpPr>
        <p:spPr>
          <a:xfrm>
            <a:off x="640080" y="2331720"/>
            <a:ext cx="10911535" cy="2569464"/>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2203704"/>
          </a:xfrm>
          <a:prstGeom prst="rect">
            <a:avLst/>
          </a:prstGeom>
          <a:noFill/>
        </p:spPr>
        <p:txBody>
          <a:bodyPr wrap="square" anchor="t" lIns="0" rIns="0" tIns="0" bIns="0">
            <a:spAutoFit/>
          </a:bodyPr>
          <a:lstStyle/>
          <a:p>
            <a:pPr>
              <a:lnSpc>
                <a:spcPct val="110000"/>
              </a:lnSpc>
            </a:pPr>
            <a:r>
              <a:rPr sz="1800">
                <a:solidFill>
                  <a:srgbClr val="C586C0"/>
                </a:solidFill>
                <a:latin typeface="Consolas"/>
              </a:rPr>
              <a:t>import</a:t>
            </a:r>
            <a:r>
              <a:rPr sz="1800">
                <a:solidFill>
                  <a:srgbClr val="D4D4D4"/>
                </a:solidFill>
                <a:latin typeface="Consolas"/>
              </a:rPr>
              <a:t> </a:t>
            </a:r>
            <a:r>
              <a:rPr sz="1800">
                <a:solidFill>
                  <a:srgbClr val="9CDCFE"/>
                </a:solidFill>
                <a:latin typeface="Consolas"/>
              </a:rPr>
              <a:t>unittest</a:t>
            </a:r>
          </a:p>
          <a:p>
            <a:pPr>
              <a:lnSpc>
                <a:spcPct val="110000"/>
              </a:lnSpc>
            </a:pPr>
          </a:p>
          <a:p>
            <a:pPr>
              <a:lnSpc>
                <a:spcPct val="110000"/>
              </a:lnSpc>
            </a:pPr>
            <a:r>
              <a:rPr sz="1800">
                <a:solidFill>
                  <a:srgbClr val="9CDCFE"/>
                </a:solidFill>
                <a:latin typeface="Consolas"/>
              </a:rPr>
              <a:t>check</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9CDCFE"/>
                </a:solidFill>
                <a:latin typeface="Consolas"/>
              </a:rPr>
              <a:t>unittest</a:t>
            </a:r>
            <a:r>
              <a:rPr sz="1800">
                <a:solidFill>
                  <a:srgbClr val="D4D4D4"/>
                </a:solidFill>
                <a:latin typeface="Consolas"/>
              </a:rPr>
              <a:t>.</a:t>
            </a:r>
            <a:r>
              <a:rPr sz="1800">
                <a:solidFill>
                  <a:srgbClr val="9CDCFE"/>
                </a:solidFill>
                <a:latin typeface="Consolas"/>
              </a:rPr>
              <a:t>TestCase</a:t>
            </a:r>
            <a:r>
              <a:rPr sz="1800">
                <a:solidFill>
                  <a:srgbClr val="D4D4D4"/>
                </a:solidFill>
                <a:latin typeface="Consolas"/>
              </a:rPr>
              <a:t>(</a:t>
            </a:r>
            <a:r>
              <a:rPr sz="1800">
                <a:solidFill>
                  <a:srgbClr val="D4D4D4"/>
                </a:solidFill>
                <a:latin typeface="Consolas"/>
              </a:rPr>
              <a:t>)</a:t>
            </a:r>
          </a:p>
          <a:p>
            <a:pPr>
              <a:lnSpc>
                <a:spcPct val="110000"/>
              </a:lnSpc>
            </a:pPr>
            <a:r>
              <a:rPr sz="1800">
                <a:solidFill>
                  <a:srgbClr val="9CDCFE"/>
                </a:solidFill>
                <a:latin typeface="Consolas"/>
              </a:rPr>
              <a:t>check</a:t>
            </a:r>
            <a:r>
              <a:rPr sz="1800">
                <a:solidFill>
                  <a:srgbClr val="D4D4D4"/>
                </a:solidFill>
                <a:latin typeface="Consolas"/>
              </a:rPr>
              <a:t>.</a:t>
            </a:r>
            <a:r>
              <a:rPr sz="1800">
                <a:solidFill>
                  <a:srgbClr val="9CDCFE"/>
                </a:solidFill>
                <a:latin typeface="Consolas"/>
              </a:rPr>
              <a:t>assertEqual</a:t>
            </a:r>
            <a:r>
              <a:rPr sz="1800">
                <a:solidFill>
                  <a:srgbClr val="D4D4D4"/>
                </a:solidFill>
                <a:latin typeface="Consolas"/>
              </a:rPr>
              <a:t>(</a:t>
            </a:r>
            <a:r>
              <a:rPr sz="1800">
                <a:solidFill>
                  <a:srgbClr val="CE9178"/>
                </a:solidFill>
                <a:latin typeface="Consolas"/>
              </a:rPr>
              <a:t>"</a:t>
            </a:r>
            <a:r>
              <a:rPr sz="1800">
                <a:solidFill>
                  <a:srgbClr val="CE9178"/>
                </a:solidFill>
                <a:latin typeface="Consolas"/>
              </a:rPr>
              <a:t>tea</a:t>
            </a:r>
            <a:r>
              <a:rPr sz="1800">
                <a:solidFill>
                  <a:srgbClr val="CE9178"/>
                </a:solidFill>
                <a:latin typeface="Consolas"/>
              </a:rPr>
              <a:t>"</a:t>
            </a:r>
            <a:r>
              <a:rPr sz="1800">
                <a:solidFill>
                  <a:srgbClr val="D4D4D4"/>
                </a:solidFill>
                <a:latin typeface="Consolas"/>
              </a:rPr>
              <a:t>.</a:t>
            </a:r>
            <a:r>
              <a:rPr sz="1800">
                <a:solidFill>
                  <a:srgbClr val="9CDCFE"/>
                </a:solidFill>
                <a:latin typeface="Consolas"/>
              </a:rPr>
              <a:t>upper</a:t>
            </a:r>
            <a:r>
              <a:rPr sz="1800">
                <a:solidFill>
                  <a:srgbClr val="D4D4D4"/>
                </a:solidFill>
                <a:latin typeface="Consolas"/>
              </a:rPr>
              <a:t>(</a:t>
            </a:r>
            <a:r>
              <a:rPr sz="1800">
                <a:solidFill>
                  <a:srgbClr val="D4D4D4"/>
                </a:solidFill>
                <a:latin typeface="Consolas"/>
              </a:rPr>
              <a:t>)</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TEA</a:t>
            </a:r>
            <a:r>
              <a:rPr sz="1800">
                <a:solidFill>
                  <a:srgbClr val="CE9178"/>
                </a:solidFill>
                <a:latin typeface="Consolas"/>
              </a:rPr>
              <a:t>"</a:t>
            </a:r>
            <a:r>
              <a:rPr sz="1800">
                <a:solidFill>
                  <a:srgbClr val="D4D4D4"/>
                </a:solidFill>
                <a:latin typeface="Consolas"/>
              </a:rPr>
              <a:t>)</a:t>
            </a:r>
          </a:p>
          <a:p>
            <a:pPr>
              <a:lnSpc>
                <a:spcPct val="110000"/>
              </a:lnSpc>
            </a:pPr>
            <a:r>
              <a:rPr sz="1800">
                <a:solidFill>
                  <a:srgbClr val="4EC9B0"/>
                </a:solidFill>
                <a:latin typeface="Consolas"/>
              </a:rPr>
              <a:t>print</a:t>
            </a:r>
            <a:r>
              <a:rPr sz="1800">
                <a:solidFill>
                  <a:srgbClr val="D4D4D4"/>
                </a:solidFill>
                <a:latin typeface="Consolas"/>
              </a:rPr>
              <a:t>(</a:t>
            </a:r>
            <a:r>
              <a:rPr sz="1800">
                <a:solidFill>
                  <a:srgbClr val="CE9178"/>
                </a:solidFill>
                <a:latin typeface="Consolas"/>
              </a:rPr>
              <a:t>"</a:t>
            </a:r>
            <a:r>
              <a:rPr sz="1800">
                <a:solidFill>
                  <a:srgbClr val="CE9178"/>
                </a:solidFill>
                <a:latin typeface="Consolas"/>
              </a:rPr>
              <a:t>first check passed</a:t>
            </a:r>
            <a:r>
              <a:rPr sz="1800">
                <a:solidFill>
                  <a:srgbClr val="CE9178"/>
                </a:solidFill>
                <a:latin typeface="Consolas"/>
              </a:rPr>
              <a:t>"</a:t>
            </a:r>
            <a:r>
              <a:rPr sz="1800">
                <a:solidFill>
                  <a:srgbClr val="D4D4D4"/>
                </a:solidFill>
                <a:latin typeface="Consolas"/>
              </a:rPr>
              <a:t>)</a:t>
            </a:r>
          </a:p>
          <a:p>
            <a:pPr>
              <a:lnSpc>
                <a:spcPct val="110000"/>
              </a:lnSpc>
            </a:pPr>
            <a:r>
              <a:rPr sz="1800">
                <a:solidFill>
                  <a:srgbClr val="9CDCFE"/>
                </a:solidFill>
                <a:latin typeface="Consolas"/>
              </a:rPr>
              <a:t>check</a:t>
            </a:r>
            <a:r>
              <a:rPr sz="1800">
                <a:solidFill>
                  <a:srgbClr val="D4D4D4"/>
                </a:solidFill>
                <a:latin typeface="Consolas"/>
              </a:rPr>
              <a:t>.</a:t>
            </a:r>
            <a:r>
              <a:rPr sz="1800">
                <a:solidFill>
                  <a:srgbClr val="9CDCFE"/>
                </a:solidFill>
                <a:latin typeface="Consolas"/>
              </a:rPr>
              <a:t>assertEqual</a:t>
            </a:r>
            <a:r>
              <a:rPr sz="1800">
                <a:solidFill>
                  <a:srgbClr val="D4D4D4"/>
                </a:solidFill>
                <a:latin typeface="Consolas"/>
              </a:rPr>
              <a:t>(</a:t>
            </a:r>
            <a:r>
              <a:rPr sz="1800">
                <a:solidFill>
                  <a:srgbClr val="CE9178"/>
                </a:solidFill>
                <a:latin typeface="Consolas"/>
              </a:rPr>
              <a:t>"</a:t>
            </a:r>
            <a:r>
              <a:rPr sz="1800">
                <a:solidFill>
                  <a:srgbClr val="CE9178"/>
                </a:solidFill>
                <a:latin typeface="Consolas"/>
              </a:rPr>
              <a:t>tea</a:t>
            </a:r>
            <a:r>
              <a:rPr sz="1800">
                <a:solidFill>
                  <a:srgbClr val="CE9178"/>
                </a:solidFill>
                <a:latin typeface="Consolas"/>
              </a:rPr>
              <a:t>"</a:t>
            </a:r>
            <a:r>
              <a:rPr sz="1800">
                <a:solidFill>
                  <a:srgbClr val="D4D4D4"/>
                </a:solidFill>
                <a:latin typeface="Consolas"/>
              </a:rPr>
              <a:t>.</a:t>
            </a:r>
            <a:r>
              <a:rPr sz="1800">
                <a:solidFill>
                  <a:srgbClr val="9CDCFE"/>
                </a:solidFill>
                <a:latin typeface="Consolas"/>
              </a:rPr>
              <a:t>upper</a:t>
            </a:r>
            <a:r>
              <a:rPr sz="1800">
                <a:solidFill>
                  <a:srgbClr val="D4D4D4"/>
                </a:solidFill>
                <a:latin typeface="Consolas"/>
              </a:rPr>
              <a:t>(</a:t>
            </a:r>
            <a:r>
              <a:rPr sz="1800">
                <a:solidFill>
                  <a:srgbClr val="D4D4D4"/>
                </a:solidFill>
                <a:latin typeface="Consolas"/>
              </a:rPr>
              <a:t>)</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Tea</a:t>
            </a:r>
            <a:r>
              <a:rPr sz="1800">
                <a:solidFill>
                  <a:srgbClr val="CE9178"/>
                </a:solidFill>
                <a:latin typeface="Consolas"/>
              </a:rPr>
              <a:t>"</a:t>
            </a:r>
            <a:r>
              <a:rPr sz="1800">
                <a:solidFill>
                  <a:srgbClr val="D4D4D4"/>
                </a:solidFill>
                <a:latin typeface="Consolas"/>
              </a:rPr>
              <a:t>)</a:t>
            </a:r>
          </a:p>
          <a:p>
            <a:pPr>
              <a:lnSpc>
                <a:spcPct val="110000"/>
              </a:lnSpc>
            </a:pPr>
          </a:p>
        </p:txBody>
      </p:sp>
      <p:sp>
        <p:nvSpPr>
          <p:cNvPr id="9" name="Rounded Rectangle 8"/>
          <p:cNvSpPr/>
          <p:nvPr/>
        </p:nvSpPr>
        <p:spPr>
          <a:xfrm>
            <a:off x="640080" y="5084064"/>
            <a:ext cx="10911535" cy="1088136"/>
          </a:xfrm>
          <a:prstGeom prst="roundRect">
            <a:avLst>
              <a:gd name="adj" fmla="val 6000"/>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285232"/>
            <a:ext cx="10362895" cy="722376"/>
          </a:xfrm>
          <a:prstGeom prst="rect">
            <a:avLst/>
          </a:prstGeom>
          <a:noFill/>
        </p:spPr>
        <p:txBody>
          <a:bodyPr wrap="square" anchor="t" lIns="0" rIns="0" tIns="0" bIns="0">
            <a:spAutoFit/>
          </a:bodyPr>
          <a:lstStyle/>
          <a:p>
            <a:pPr>
              <a:spcAft>
                <a:spcPts val="400"/>
              </a:spcAft>
            </a:pPr>
            <a:r>
              <a:rPr sz="1100" b="1">
                <a:solidFill>
                  <a:srgbClr val="9AA4B5"/>
                </a:solidFill>
                <a:latin typeface="Segoe UI"/>
              </a:rPr>
              <a:t>OUTPUT</a:t>
            </a:r>
          </a:p>
          <a:p>
            <a:pPr>
              <a:lnSpc>
                <a:spcPct val="110000"/>
              </a:lnSpc>
            </a:pPr>
            <a:r>
              <a:rPr sz="1800">
                <a:solidFill>
                  <a:srgbClr val="D4D4D4"/>
                </a:solidFill>
                <a:latin typeface="Consolas"/>
              </a:rPr>
              <a:t>first</a:t>
            </a:r>
            <a:r>
              <a:rPr sz="1800">
                <a:solidFill>
                  <a:srgbClr val="D4D4D4"/>
                </a:solidFill>
                <a:latin typeface="Consolas"/>
              </a:rPr>
              <a:t> </a:t>
            </a:r>
            <a:r>
              <a:rPr sz="1800">
                <a:solidFill>
                  <a:srgbClr val="D4D4D4"/>
                </a:solidFill>
                <a:latin typeface="Consolas"/>
              </a:rPr>
              <a:t>check</a:t>
            </a:r>
            <a:r>
              <a:rPr sz="1800">
                <a:solidFill>
                  <a:srgbClr val="D4D4D4"/>
                </a:solidFill>
                <a:latin typeface="Consolas"/>
              </a:rPr>
              <a:t> </a:t>
            </a:r>
            <a:r>
              <a:rPr sz="1800">
                <a:solidFill>
                  <a:srgbClr val="D4D4D4"/>
                </a:solidFill>
                <a:latin typeface="Consolas"/>
              </a:rPr>
              <a:t>passed</a:t>
            </a:r>
          </a:p>
          <a:p>
            <a:pPr>
              <a:lnSpc>
                <a:spcPct val="110000"/>
              </a:lnSpc>
            </a:pPr>
            <a:r>
              <a:rPr sz="1800">
                <a:solidFill>
                  <a:srgbClr val="D4D4D4"/>
                </a:solidFill>
                <a:latin typeface="Consolas"/>
              </a:rPr>
              <a:t>AssertionError</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TEA</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Tea</a:t>
            </a:r>
            <a:r>
              <a:rPr sz="1800">
                <a:solidFill>
                  <a:srgbClr val="D4D4D4"/>
                </a:solidFill>
                <a:latin typeface="Consolas"/>
              </a:rPr>
              <a:t>'</a:t>
            </a:r>
          </a:p>
          <a:p>
            <a:pPr>
              <a:lnSpc>
                <a:spcPct val="110000"/>
              </a:lnSpc>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06  ·  Write tests that catch bugs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8</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Tools: True/False, size and errors</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6A3FC0"/>
                </a:solidFill>
                <a:latin typeface="Consolas"/>
              </a:rPr>
              <a:t>assertRaises</a:t>
            </a:r>
            <a:r>
              <a:rPr sz="2000" b="0">
                <a:solidFill>
                  <a:srgbClr val="1C2330"/>
                </a:solidFill>
                <a:latin typeface="Segoe UI"/>
              </a:rPr>
              <a:t> passes only if the code </a:t>
            </a:r>
            <a:r>
              <a:rPr sz="2000" b="1">
                <a:solidFill>
                  <a:srgbClr val="1C2330"/>
                </a:solidFill>
                <a:latin typeface="Segoe UI"/>
              </a:rPr>
              <a:t>inside</a:t>
            </a:r>
            <a:r>
              <a:rPr sz="2000" b="0">
                <a:solidFill>
                  <a:srgbClr val="1C2330"/>
                </a:solidFill>
                <a:latin typeface="Segoe UI"/>
              </a:rPr>
              <a:t> the </a:t>
            </a:r>
            <a:r>
              <a:rPr sz="2000" b="0">
                <a:solidFill>
                  <a:srgbClr val="6A3FC0"/>
                </a:solidFill>
                <a:latin typeface="Consolas"/>
              </a:rPr>
              <a:t>with</a:t>
            </a:r>
            <a:r>
              <a:rPr sz="2000" b="0">
                <a:solidFill>
                  <a:srgbClr val="1C2330"/>
                </a:solidFill>
                <a:latin typeface="Segoe UI"/>
              </a:rPr>
              <a:t> block raises that error.</a:t>
            </a:r>
          </a:p>
        </p:txBody>
      </p:sp>
      <p:sp>
        <p:nvSpPr>
          <p:cNvPr id="7" name="Rounded Rectangle 6"/>
          <p:cNvSpPr/>
          <p:nvPr/>
        </p:nvSpPr>
        <p:spPr>
          <a:xfrm>
            <a:off x="640080" y="2331720"/>
            <a:ext cx="10911535" cy="2862072"/>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2496312"/>
          </a:xfrm>
          <a:prstGeom prst="rect">
            <a:avLst/>
          </a:prstGeom>
          <a:noFill/>
        </p:spPr>
        <p:txBody>
          <a:bodyPr wrap="square" anchor="t" lIns="0" rIns="0" tIns="0" bIns="0">
            <a:spAutoFit/>
          </a:bodyPr>
          <a:lstStyle/>
          <a:p>
            <a:pPr>
              <a:lnSpc>
                <a:spcPct val="110000"/>
              </a:lnSpc>
            </a:pPr>
            <a:r>
              <a:rPr sz="1800">
                <a:solidFill>
                  <a:srgbClr val="9CDCFE"/>
                </a:solidFill>
                <a:latin typeface="Consolas"/>
              </a:rPr>
              <a:t>check</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9CDCFE"/>
                </a:solidFill>
                <a:latin typeface="Consolas"/>
              </a:rPr>
              <a:t>unittest</a:t>
            </a:r>
            <a:r>
              <a:rPr sz="1800">
                <a:solidFill>
                  <a:srgbClr val="D4D4D4"/>
                </a:solidFill>
                <a:latin typeface="Consolas"/>
              </a:rPr>
              <a:t>.</a:t>
            </a:r>
            <a:r>
              <a:rPr sz="1800">
                <a:solidFill>
                  <a:srgbClr val="9CDCFE"/>
                </a:solidFill>
                <a:latin typeface="Consolas"/>
              </a:rPr>
              <a:t>TestCase</a:t>
            </a:r>
            <a:r>
              <a:rPr sz="1800">
                <a:solidFill>
                  <a:srgbClr val="D4D4D4"/>
                </a:solidFill>
                <a:latin typeface="Consolas"/>
              </a:rPr>
              <a:t>(</a:t>
            </a:r>
            <a:r>
              <a:rPr sz="1800">
                <a:solidFill>
                  <a:srgbClr val="D4D4D4"/>
                </a:solidFill>
                <a:latin typeface="Consolas"/>
              </a:rPr>
              <a:t>)</a:t>
            </a:r>
          </a:p>
          <a:p>
            <a:pPr>
              <a:lnSpc>
                <a:spcPct val="110000"/>
              </a:lnSpc>
            </a:pPr>
            <a:r>
              <a:rPr sz="1800">
                <a:solidFill>
                  <a:srgbClr val="9CDCFE"/>
                </a:solidFill>
                <a:latin typeface="Consolas"/>
              </a:rPr>
              <a:t>name</a:t>
            </a:r>
            <a:r>
              <a:rPr sz="1800">
                <a:solidFill>
                  <a:srgbClr val="D4D4D4"/>
                </a:solidFill>
                <a:latin typeface="Consolas"/>
              </a:rPr>
              <a:t> </a:t>
            </a:r>
            <a:r>
              <a:rPr sz="1800">
                <a:solidFill>
                  <a:srgbClr val="D4D4D4"/>
                </a:solidFill>
                <a:latin typeface="Consolas"/>
              </a:rPr>
              <a:t>=</a:t>
            </a:r>
            <a:r>
              <a:rPr sz="1800">
                <a:solidFill>
                  <a:srgbClr val="D4D4D4"/>
                </a:solidFill>
                <a:latin typeface="Consolas"/>
              </a:rPr>
              <a:t> </a:t>
            </a:r>
            <a:r>
              <a:rPr sz="1800">
                <a:solidFill>
                  <a:srgbClr val="CE9178"/>
                </a:solidFill>
                <a:latin typeface="Consolas"/>
              </a:rPr>
              <a:t>"</a:t>
            </a:r>
            <a:r>
              <a:rPr sz="1800">
                <a:solidFill>
                  <a:srgbClr val="CE9178"/>
                </a:solidFill>
                <a:latin typeface="Consolas"/>
              </a:rPr>
              <a:t>  Grace Hopper </a:t>
            </a:r>
            <a:r>
              <a:rPr sz="1800">
                <a:solidFill>
                  <a:srgbClr val="CE9178"/>
                </a:solidFill>
                <a:latin typeface="Consolas"/>
              </a:rPr>
              <a:t>"</a:t>
            </a:r>
          </a:p>
          <a:p>
            <a:pPr>
              <a:lnSpc>
                <a:spcPct val="110000"/>
              </a:lnSpc>
            </a:pPr>
            <a:r>
              <a:rPr sz="1800">
                <a:solidFill>
                  <a:srgbClr val="9CDCFE"/>
                </a:solidFill>
                <a:latin typeface="Consolas"/>
              </a:rPr>
              <a:t>check</a:t>
            </a:r>
            <a:r>
              <a:rPr sz="1800">
                <a:solidFill>
                  <a:srgbClr val="D4D4D4"/>
                </a:solidFill>
                <a:latin typeface="Consolas"/>
              </a:rPr>
              <a:t>.</a:t>
            </a:r>
            <a:r>
              <a:rPr sz="1800">
                <a:solidFill>
                  <a:srgbClr val="9CDCFE"/>
                </a:solidFill>
                <a:latin typeface="Consolas"/>
              </a:rPr>
              <a:t>assertTrue</a:t>
            </a:r>
            <a:r>
              <a:rPr sz="1800">
                <a:solidFill>
                  <a:srgbClr val="D4D4D4"/>
                </a:solidFill>
                <a:latin typeface="Consolas"/>
              </a:rPr>
              <a:t>(</a:t>
            </a:r>
            <a:r>
              <a:rPr sz="1800">
                <a:solidFill>
                  <a:srgbClr val="9CDCFE"/>
                </a:solidFill>
                <a:latin typeface="Consolas"/>
              </a:rPr>
              <a:t>name</a:t>
            </a:r>
            <a:r>
              <a:rPr sz="1800">
                <a:solidFill>
                  <a:srgbClr val="D4D4D4"/>
                </a:solidFill>
                <a:latin typeface="Consolas"/>
              </a:rPr>
              <a:t>.</a:t>
            </a:r>
            <a:r>
              <a:rPr sz="1800">
                <a:solidFill>
                  <a:srgbClr val="9CDCFE"/>
                </a:solidFill>
                <a:latin typeface="Consolas"/>
              </a:rPr>
              <a:t>startswith</a:t>
            </a:r>
            <a:r>
              <a:rPr sz="1800">
                <a:solidFill>
                  <a:srgbClr val="D4D4D4"/>
                </a:solidFill>
                <a:latin typeface="Consolas"/>
              </a:rPr>
              <a:t>(</a:t>
            </a:r>
            <a:r>
              <a:rPr sz="1800">
                <a:solidFill>
                  <a:srgbClr val="CE9178"/>
                </a:solidFill>
                <a:latin typeface="Consolas"/>
              </a:rPr>
              <a:t>"</a:t>
            </a:r>
            <a:r>
              <a:rPr sz="1800">
                <a:solidFill>
                  <a:srgbClr val="CE9178"/>
                </a:solidFill>
                <a:latin typeface="Consolas"/>
              </a:rPr>
              <a:t> </a:t>
            </a:r>
            <a:r>
              <a:rPr sz="1800">
                <a:solidFill>
                  <a:srgbClr val="CE9178"/>
                </a:solidFill>
                <a:latin typeface="Consolas"/>
              </a:rPr>
              <a:t>"</a:t>
            </a:r>
            <a:r>
              <a:rPr sz="1800">
                <a:solidFill>
                  <a:srgbClr val="D4D4D4"/>
                </a:solidFill>
                <a:latin typeface="Consolas"/>
              </a:rPr>
              <a:t>)</a:t>
            </a:r>
            <a:r>
              <a:rPr sz="1800">
                <a:solidFill>
                  <a:srgbClr val="D4D4D4"/>
                </a:solidFill>
                <a:latin typeface="Consolas"/>
              </a:rPr>
              <a:t>)</a:t>
            </a:r>
          </a:p>
          <a:p>
            <a:pPr>
              <a:lnSpc>
                <a:spcPct val="110000"/>
              </a:lnSpc>
            </a:pPr>
            <a:r>
              <a:rPr sz="1800">
                <a:solidFill>
                  <a:srgbClr val="9CDCFE"/>
                </a:solidFill>
                <a:latin typeface="Consolas"/>
              </a:rPr>
              <a:t>check</a:t>
            </a:r>
            <a:r>
              <a:rPr sz="1800">
                <a:solidFill>
                  <a:srgbClr val="D4D4D4"/>
                </a:solidFill>
                <a:latin typeface="Consolas"/>
              </a:rPr>
              <a:t>.</a:t>
            </a:r>
            <a:r>
              <a:rPr sz="1800">
                <a:solidFill>
                  <a:srgbClr val="9CDCFE"/>
                </a:solidFill>
                <a:latin typeface="Consolas"/>
              </a:rPr>
              <a:t>assertFalse</a:t>
            </a:r>
            <a:r>
              <a:rPr sz="1800">
                <a:solidFill>
                  <a:srgbClr val="D4D4D4"/>
                </a:solidFill>
                <a:latin typeface="Consolas"/>
              </a:rPr>
              <a:t>(</a:t>
            </a:r>
            <a:r>
              <a:rPr sz="1800">
                <a:solidFill>
                  <a:srgbClr val="9CDCFE"/>
                </a:solidFill>
                <a:latin typeface="Consolas"/>
              </a:rPr>
              <a:t>name</a:t>
            </a:r>
            <a:r>
              <a:rPr sz="1800">
                <a:solidFill>
                  <a:srgbClr val="D4D4D4"/>
                </a:solidFill>
                <a:latin typeface="Consolas"/>
              </a:rPr>
              <a:t>.</a:t>
            </a:r>
            <a:r>
              <a:rPr sz="1800">
                <a:solidFill>
                  <a:srgbClr val="9CDCFE"/>
                </a:solidFill>
                <a:latin typeface="Consolas"/>
              </a:rPr>
              <a:t>endswith</a:t>
            </a:r>
            <a:r>
              <a:rPr sz="1800">
                <a:solidFill>
                  <a:srgbClr val="D4D4D4"/>
                </a:solidFill>
                <a:latin typeface="Consolas"/>
              </a:rPr>
              <a:t>(</a:t>
            </a:r>
            <a:r>
              <a:rPr sz="1800">
                <a:solidFill>
                  <a:srgbClr val="CE9178"/>
                </a:solidFill>
                <a:latin typeface="Consolas"/>
              </a:rPr>
              <a:t>"</a:t>
            </a:r>
            <a:r>
              <a:rPr sz="1800">
                <a:solidFill>
                  <a:srgbClr val="CE9178"/>
                </a:solidFill>
                <a:latin typeface="Consolas"/>
              </a:rPr>
              <a:t>r</a:t>
            </a:r>
            <a:r>
              <a:rPr sz="1800">
                <a:solidFill>
                  <a:srgbClr val="CE9178"/>
                </a:solidFill>
                <a:latin typeface="Consolas"/>
              </a:rPr>
              <a:t>"</a:t>
            </a:r>
            <a:r>
              <a:rPr sz="1800">
                <a:solidFill>
                  <a:srgbClr val="D4D4D4"/>
                </a:solidFill>
                <a:latin typeface="Consolas"/>
              </a:rPr>
              <a:t>)</a:t>
            </a:r>
            <a:r>
              <a:rPr sz="1800">
                <a:solidFill>
                  <a:srgbClr val="D4D4D4"/>
                </a:solidFill>
                <a:latin typeface="Consolas"/>
              </a:rPr>
              <a:t>)</a:t>
            </a:r>
          </a:p>
          <a:p>
            <a:pPr>
              <a:lnSpc>
                <a:spcPct val="110000"/>
              </a:lnSpc>
            </a:pPr>
            <a:r>
              <a:rPr sz="1800">
                <a:solidFill>
                  <a:srgbClr val="9CDCFE"/>
                </a:solidFill>
                <a:latin typeface="Consolas"/>
              </a:rPr>
              <a:t>check</a:t>
            </a:r>
            <a:r>
              <a:rPr sz="1800">
                <a:solidFill>
                  <a:srgbClr val="D4D4D4"/>
                </a:solidFill>
                <a:latin typeface="Consolas"/>
              </a:rPr>
              <a:t>.</a:t>
            </a:r>
            <a:r>
              <a:rPr sz="1800">
                <a:solidFill>
                  <a:srgbClr val="9CDCFE"/>
                </a:solidFill>
                <a:latin typeface="Consolas"/>
              </a:rPr>
              <a:t>assertLessEqual</a:t>
            </a:r>
            <a:r>
              <a:rPr sz="1800">
                <a:solidFill>
                  <a:srgbClr val="D4D4D4"/>
                </a:solidFill>
                <a:latin typeface="Consolas"/>
              </a:rPr>
              <a:t>(</a:t>
            </a:r>
            <a:r>
              <a:rPr sz="1800">
                <a:solidFill>
                  <a:srgbClr val="4EC9B0"/>
                </a:solidFill>
                <a:latin typeface="Consolas"/>
              </a:rPr>
              <a:t>len</a:t>
            </a:r>
            <a:r>
              <a:rPr sz="1800">
                <a:solidFill>
                  <a:srgbClr val="D4D4D4"/>
                </a:solidFill>
                <a:latin typeface="Consolas"/>
              </a:rPr>
              <a:t>(</a:t>
            </a:r>
            <a:r>
              <a:rPr sz="1800">
                <a:solidFill>
                  <a:srgbClr val="9CDCFE"/>
                </a:solidFill>
                <a:latin typeface="Consolas"/>
              </a:rPr>
              <a:t>name</a:t>
            </a:r>
            <a:r>
              <a:rPr sz="1800">
                <a:solidFill>
                  <a:srgbClr val="D4D4D4"/>
                </a:solidFill>
                <a:latin typeface="Consolas"/>
              </a:rPr>
              <a:t>.</a:t>
            </a:r>
            <a:r>
              <a:rPr sz="1800">
                <a:solidFill>
                  <a:srgbClr val="9CDCFE"/>
                </a:solidFill>
                <a:latin typeface="Consolas"/>
              </a:rPr>
              <a:t>strip</a:t>
            </a:r>
            <a:r>
              <a:rPr sz="1800">
                <a:solidFill>
                  <a:srgbClr val="D4D4D4"/>
                </a:solidFill>
                <a:latin typeface="Consolas"/>
              </a:rPr>
              <a:t>(</a:t>
            </a:r>
            <a:r>
              <a:rPr sz="1800">
                <a:solidFill>
                  <a:srgbClr val="D4D4D4"/>
                </a:solidFill>
                <a:latin typeface="Consolas"/>
              </a:rPr>
              <a:t>)</a:t>
            </a:r>
            <a:r>
              <a:rPr sz="1800">
                <a:solidFill>
                  <a:srgbClr val="D4D4D4"/>
                </a:solidFill>
                <a:latin typeface="Consolas"/>
              </a:rPr>
              <a:t>)</a:t>
            </a:r>
            <a:r>
              <a:rPr sz="1800">
                <a:solidFill>
                  <a:srgbClr val="D4D4D4"/>
                </a:solidFill>
                <a:latin typeface="Consolas"/>
              </a:rPr>
              <a:t>,</a:t>
            </a:r>
            <a:r>
              <a:rPr sz="1800">
                <a:solidFill>
                  <a:srgbClr val="D4D4D4"/>
                </a:solidFill>
                <a:latin typeface="Consolas"/>
              </a:rPr>
              <a:t> </a:t>
            </a:r>
            <a:r>
              <a:rPr sz="1800">
                <a:solidFill>
                  <a:srgbClr val="B5CEA8"/>
                </a:solidFill>
                <a:latin typeface="Consolas"/>
              </a:rPr>
              <a:t>12</a:t>
            </a:r>
            <a:r>
              <a:rPr sz="1800">
                <a:solidFill>
                  <a:srgbClr val="D4D4D4"/>
                </a:solidFill>
                <a:latin typeface="Consolas"/>
              </a:rPr>
              <a:t>)</a:t>
            </a:r>
          </a:p>
          <a:p>
            <a:pPr>
              <a:lnSpc>
                <a:spcPct val="110000"/>
              </a:lnSpc>
            </a:pPr>
            <a:r>
              <a:rPr sz="1800">
                <a:solidFill>
                  <a:srgbClr val="C586C0"/>
                </a:solidFill>
                <a:latin typeface="Consolas"/>
              </a:rPr>
              <a:t>with</a:t>
            </a:r>
            <a:r>
              <a:rPr sz="1800">
                <a:solidFill>
                  <a:srgbClr val="D4D4D4"/>
                </a:solidFill>
                <a:latin typeface="Consolas"/>
              </a:rPr>
              <a:t> </a:t>
            </a:r>
            <a:r>
              <a:rPr sz="1800">
                <a:solidFill>
                  <a:srgbClr val="9CDCFE"/>
                </a:solidFill>
                <a:latin typeface="Consolas"/>
              </a:rPr>
              <a:t>check</a:t>
            </a:r>
            <a:r>
              <a:rPr sz="1800">
                <a:solidFill>
                  <a:srgbClr val="D4D4D4"/>
                </a:solidFill>
                <a:latin typeface="Consolas"/>
              </a:rPr>
              <a:t>.</a:t>
            </a:r>
            <a:r>
              <a:rPr sz="1800">
                <a:solidFill>
                  <a:srgbClr val="9CDCFE"/>
                </a:solidFill>
                <a:latin typeface="Consolas"/>
              </a:rPr>
              <a:t>assertRaises</a:t>
            </a:r>
            <a:r>
              <a:rPr sz="1800">
                <a:solidFill>
                  <a:srgbClr val="D4D4D4"/>
                </a:solidFill>
                <a:latin typeface="Consolas"/>
              </a:rPr>
              <a:t>(</a:t>
            </a:r>
            <a:r>
              <a:rPr sz="1800">
                <a:solidFill>
                  <a:srgbClr val="9CDCFE"/>
                </a:solidFill>
                <a:latin typeface="Consolas"/>
              </a:rPr>
              <a:t>ValueError</a:t>
            </a:r>
            <a:r>
              <a:rPr sz="1800">
                <a:solidFill>
                  <a:srgbClr val="D4D4D4"/>
                </a:solidFill>
                <a:latin typeface="Consolas"/>
              </a:rPr>
              <a:t>)</a:t>
            </a:r>
            <a:r>
              <a:rPr sz="1800">
                <a:solidFill>
                  <a:srgbClr val="D4D4D4"/>
                </a:solidFill>
                <a:latin typeface="Consolas"/>
              </a:rPr>
              <a:t>:</a:t>
            </a:r>
          </a:p>
          <a:p>
            <a:pPr>
              <a:lnSpc>
                <a:spcPct val="110000"/>
              </a:lnSpc>
            </a:pPr>
            <a:r>
              <a:rPr sz="1800">
                <a:solidFill>
                  <a:srgbClr val="D4D4D4"/>
                </a:solidFill>
                <a:latin typeface="Consolas"/>
              </a:rPr>
              <a:t>    </a:t>
            </a:r>
            <a:r>
              <a:rPr sz="1800">
                <a:solidFill>
                  <a:srgbClr val="4EC9B0"/>
                </a:solidFill>
                <a:latin typeface="Consolas"/>
              </a:rPr>
              <a:t>int</a:t>
            </a:r>
            <a:r>
              <a:rPr sz="1800">
                <a:solidFill>
                  <a:srgbClr val="D4D4D4"/>
                </a:solidFill>
                <a:latin typeface="Consolas"/>
              </a:rPr>
              <a:t>(</a:t>
            </a:r>
            <a:r>
              <a:rPr sz="1800">
                <a:solidFill>
                  <a:srgbClr val="CE9178"/>
                </a:solidFill>
                <a:latin typeface="Consolas"/>
              </a:rPr>
              <a:t>"</a:t>
            </a:r>
            <a:r>
              <a:rPr sz="1800">
                <a:solidFill>
                  <a:srgbClr val="CE9178"/>
                </a:solidFill>
                <a:latin typeface="Consolas"/>
              </a:rPr>
              <a:t>twelve</a:t>
            </a:r>
            <a:r>
              <a:rPr sz="1800">
                <a:solidFill>
                  <a:srgbClr val="CE9178"/>
                </a:solidFill>
                <a:latin typeface="Consolas"/>
              </a:rPr>
              <a:t>"</a:t>
            </a:r>
            <a:r>
              <a:rPr sz="1800">
                <a:solidFill>
                  <a:srgbClr val="D4D4D4"/>
                </a:solidFill>
                <a:latin typeface="Consolas"/>
              </a:rPr>
              <a:t>)</a:t>
            </a:r>
          </a:p>
          <a:p>
            <a:pPr>
              <a:lnSpc>
                <a:spcPct val="110000"/>
              </a:lnSpc>
            </a:pPr>
            <a:r>
              <a:rPr sz="1800">
                <a:solidFill>
                  <a:srgbClr val="4EC9B0"/>
                </a:solidFill>
                <a:latin typeface="Consolas"/>
              </a:rPr>
              <a:t>print</a:t>
            </a:r>
            <a:r>
              <a:rPr sz="1800">
                <a:solidFill>
                  <a:srgbClr val="D4D4D4"/>
                </a:solidFill>
                <a:latin typeface="Consolas"/>
              </a:rPr>
              <a:t>(</a:t>
            </a:r>
            <a:r>
              <a:rPr sz="1800">
                <a:solidFill>
                  <a:srgbClr val="CE9178"/>
                </a:solidFill>
                <a:latin typeface="Consolas"/>
              </a:rPr>
              <a:t>"</a:t>
            </a:r>
            <a:r>
              <a:rPr sz="1800">
                <a:solidFill>
                  <a:srgbClr val="CE9178"/>
                </a:solidFill>
                <a:latin typeface="Consolas"/>
              </a:rPr>
              <a:t>all four checks passed</a:t>
            </a:r>
            <a:r>
              <a:rPr sz="1800">
                <a:solidFill>
                  <a:srgbClr val="CE9178"/>
                </a:solidFill>
                <a:latin typeface="Consolas"/>
              </a:rPr>
              <a:t>"</a:t>
            </a:r>
            <a:r>
              <a:rPr sz="1800">
                <a:solidFill>
                  <a:srgbClr val="D4D4D4"/>
                </a:solidFill>
                <a:latin typeface="Consolas"/>
              </a:rPr>
              <a:t>)</a:t>
            </a:r>
          </a:p>
          <a:p>
            <a:pPr>
              <a:lnSpc>
                <a:spcPct val="110000"/>
              </a:lnSpc>
            </a:pPr>
          </a:p>
        </p:txBody>
      </p:sp>
      <p:sp>
        <p:nvSpPr>
          <p:cNvPr id="9" name="Rounded Rectangle 8"/>
          <p:cNvSpPr/>
          <p:nvPr/>
        </p:nvSpPr>
        <p:spPr>
          <a:xfrm>
            <a:off x="640080" y="5376672"/>
            <a:ext cx="10911535" cy="795528"/>
          </a:xfrm>
          <a:prstGeom prst="roundRect">
            <a:avLst>
              <a:gd name="adj" fmla="val 6000"/>
            </a:avLst>
          </a:prstGeom>
          <a:solidFill>
            <a:srgbClr val="2A2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577840"/>
            <a:ext cx="10362895" cy="429768"/>
          </a:xfrm>
          <a:prstGeom prst="rect">
            <a:avLst/>
          </a:prstGeom>
          <a:noFill/>
        </p:spPr>
        <p:txBody>
          <a:bodyPr wrap="square" anchor="t" lIns="0" rIns="0" tIns="0" bIns="0">
            <a:spAutoFit/>
          </a:bodyPr>
          <a:lstStyle/>
          <a:p>
            <a:pPr>
              <a:spcAft>
                <a:spcPts val="400"/>
              </a:spcAft>
            </a:pPr>
            <a:r>
              <a:rPr sz="1100" b="1">
                <a:solidFill>
                  <a:srgbClr val="9AA4B5"/>
                </a:solidFill>
                <a:latin typeface="Segoe UI"/>
              </a:rPr>
              <a:t>OUTPUT</a:t>
            </a:r>
          </a:p>
          <a:p>
            <a:pPr>
              <a:lnSpc>
                <a:spcPct val="110000"/>
              </a:lnSpc>
            </a:pPr>
            <a:r>
              <a:rPr sz="1800">
                <a:solidFill>
                  <a:srgbClr val="D4D4D4"/>
                </a:solidFill>
                <a:latin typeface="Consolas"/>
              </a:rPr>
              <a:t>all</a:t>
            </a:r>
            <a:r>
              <a:rPr sz="1800">
                <a:solidFill>
                  <a:srgbClr val="D4D4D4"/>
                </a:solidFill>
                <a:latin typeface="Consolas"/>
              </a:rPr>
              <a:t> </a:t>
            </a:r>
            <a:r>
              <a:rPr sz="1800">
                <a:solidFill>
                  <a:srgbClr val="D4D4D4"/>
                </a:solidFill>
                <a:latin typeface="Consolas"/>
              </a:rPr>
              <a:t>four</a:t>
            </a:r>
            <a:r>
              <a:rPr sz="1800">
                <a:solidFill>
                  <a:srgbClr val="D4D4D4"/>
                </a:solidFill>
                <a:latin typeface="Consolas"/>
              </a:rPr>
              <a:t> </a:t>
            </a:r>
            <a:r>
              <a:rPr sz="1800">
                <a:solidFill>
                  <a:srgbClr val="D4D4D4"/>
                </a:solidFill>
                <a:latin typeface="Consolas"/>
              </a:rPr>
              <a:t>checks</a:t>
            </a:r>
            <a:r>
              <a:rPr sz="1800">
                <a:solidFill>
                  <a:srgbClr val="D4D4D4"/>
                </a:solidFill>
                <a:latin typeface="Consolas"/>
              </a:rPr>
              <a:t> </a:t>
            </a:r>
            <a:r>
              <a:rPr sz="1800">
                <a:solidFill>
                  <a:srgbClr val="D4D4D4"/>
                </a:solidFill>
                <a:latin typeface="Consolas"/>
              </a:rPr>
              <a:t>passed</a:t>
            </a:r>
          </a:p>
          <a:p>
            <a:pPr>
              <a:lnSpc>
                <a:spcPct val="110000"/>
              </a:lnSpc>
            </a:p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06  ·  Write tests that catch bugs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9</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Inside vs outside the with block</a:t>
            </a:r>
          </a:p>
        </p:txBody>
      </p:sp>
      <p:sp>
        <p:nvSpPr>
          <p:cNvPr id="6" name="Rounded Rectangle 5"/>
          <p:cNvSpPr/>
          <p:nvPr/>
        </p:nvSpPr>
        <p:spPr>
          <a:xfrm>
            <a:off x="640080" y="1508760"/>
            <a:ext cx="5272887" cy="4389120"/>
          </a:xfrm>
          <a:prstGeom prst="roundRect">
            <a:avLst>
              <a:gd name="adj" fmla="val 6000"/>
            </a:avLst>
          </a:prstGeom>
          <a:solidFill>
            <a:srgbClr val="F3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37360"/>
            <a:ext cx="4632807" cy="4023360"/>
          </a:xfrm>
          <a:prstGeom prst="rect">
            <a:avLst/>
          </a:prstGeom>
          <a:noFill/>
        </p:spPr>
        <p:txBody>
          <a:bodyPr wrap="square" anchor="t" lIns="0" rIns="0" tIns="0" bIns="0">
            <a:spAutoFit/>
          </a:bodyPr>
          <a:lstStyle/>
          <a:p>
            <a:pPr>
              <a:spcAft>
                <a:spcPts val="1400"/>
              </a:spcAft>
            </a:pPr>
            <a:r>
              <a:rPr sz="2400" b="1">
                <a:solidFill>
                  <a:srgbClr val="8A4FE0"/>
                </a:solidFill>
                <a:latin typeface="Segoe UI"/>
              </a:rPr>
              <a:t>Outside: the test crashes</a:t>
            </a:r>
          </a:p>
          <a:p>
            <a:pPr>
              <a:spcAft>
                <a:spcPts val="1000"/>
              </a:spcAft>
            </a:pPr>
            <a:r>
              <a:rPr sz="1900" b="0">
                <a:solidFill>
                  <a:srgbClr val="1C2330"/>
                </a:solidFill>
                <a:latin typeface="Segoe UI"/>
              </a:rPr>
              <a:t>•  </a:t>
            </a:r>
            <a:r>
              <a:rPr sz="1900" b="0">
                <a:solidFill>
                  <a:srgbClr val="6A3FC0"/>
                </a:solidFill>
                <a:latin typeface="Consolas"/>
              </a:rPr>
              <a:t>make_slug("!!!")</a:t>
            </a:r>
            <a:r>
              <a:rPr sz="1900" b="0">
                <a:solidFill>
                  <a:srgbClr val="1C2330"/>
                </a:solidFill>
                <a:latin typeface="Segoe UI"/>
              </a:rPr>
              <a:t> is </a:t>
            </a:r>
            <a:r>
              <a:rPr sz="1900" b="1">
                <a:solidFill>
                  <a:srgbClr val="1C2330"/>
                </a:solidFill>
                <a:latin typeface="Segoe UI"/>
              </a:rPr>
              <a:t>not</a:t>
            </a:r>
            <a:r>
              <a:rPr sz="1900" b="0">
                <a:solidFill>
                  <a:srgbClr val="1C2330"/>
                </a:solidFill>
                <a:latin typeface="Segoe UI"/>
              </a:rPr>
              <a:t> indented under </a:t>
            </a:r>
            <a:r>
              <a:rPr sz="1900" b="0">
                <a:solidFill>
                  <a:srgbClr val="6A3FC0"/>
                </a:solidFill>
                <a:latin typeface="Consolas"/>
              </a:rPr>
              <a:t>with</a:t>
            </a:r>
          </a:p>
          <a:p>
            <a:pPr>
              <a:spcAft>
                <a:spcPts val="1000"/>
              </a:spcAft>
            </a:pPr>
            <a:r>
              <a:rPr sz="1900" b="0">
                <a:solidFill>
                  <a:srgbClr val="1C2330"/>
                </a:solidFill>
                <a:latin typeface="Segoe UI"/>
              </a:rPr>
              <a:t>•  The </a:t>
            </a:r>
            <a:r>
              <a:rPr sz="1900" b="0">
                <a:solidFill>
                  <a:srgbClr val="6A3FC0"/>
                </a:solidFill>
                <a:latin typeface="Consolas"/>
              </a:rPr>
              <a:t>ValueError</a:t>
            </a:r>
            <a:r>
              <a:rPr sz="1900" b="0">
                <a:solidFill>
                  <a:srgbClr val="1C2330"/>
                </a:solidFill>
                <a:latin typeface="Segoe UI"/>
              </a:rPr>
              <a:t> happens outside, so nothing catches it</a:t>
            </a:r>
          </a:p>
          <a:p>
            <a:pPr>
              <a:spcAft>
                <a:spcPts val="1000"/>
              </a:spcAft>
            </a:pPr>
            <a:r>
              <a:rPr sz="1900" b="0">
                <a:solidFill>
                  <a:srgbClr val="1C2330"/>
                </a:solidFill>
                <a:latin typeface="Segoe UI"/>
              </a:rPr>
              <a:t>•  Correct code: the test </a:t>
            </a:r>
            <a:r>
              <a:rPr sz="1900" b="1">
                <a:solidFill>
                  <a:srgbClr val="1C2330"/>
                </a:solidFill>
                <a:latin typeface="Segoe UI"/>
              </a:rPr>
              <a:t>crashes</a:t>
            </a:r>
            <a:r>
              <a:rPr sz="1900" b="0">
                <a:solidFill>
                  <a:srgbClr val="1C2330"/>
                </a:solidFill>
                <a:latin typeface="Segoe UI"/>
              </a:rPr>
              <a:t> (test 2 fails)</a:t>
            </a:r>
          </a:p>
          <a:p>
            <a:pPr>
              <a:spcAft>
                <a:spcPts val="1000"/>
              </a:spcAft>
            </a:pPr>
            <a:r>
              <a:rPr sz="1900" b="0">
                <a:solidFill>
                  <a:srgbClr val="1C2330"/>
                </a:solidFill>
                <a:latin typeface="Segoe UI"/>
              </a:rPr>
              <a:t>•  Fix: indent the call one level under </a:t>
            </a:r>
            <a:r>
              <a:rPr sz="1900" b="0">
                <a:solidFill>
                  <a:srgbClr val="6A3FC0"/>
                </a:solidFill>
                <a:latin typeface="Consolas"/>
              </a:rPr>
              <a:t>with</a:t>
            </a:r>
          </a:p>
        </p:txBody>
      </p:sp>
      <p:sp>
        <p:nvSpPr>
          <p:cNvPr id="8" name="Rounded Rectangle 7"/>
          <p:cNvSpPr/>
          <p:nvPr/>
        </p:nvSpPr>
        <p:spPr>
          <a:xfrm>
            <a:off x="6278727" y="1508760"/>
            <a:ext cx="5272887" cy="4389120"/>
          </a:xfrm>
          <a:prstGeom prst="roundRect">
            <a:avLst>
              <a:gd name="adj" fmla="val 6000"/>
            </a:avLst>
          </a:prstGeom>
          <a:solidFill>
            <a:srgbClr val="E5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98767" y="1737360"/>
            <a:ext cx="4632807" cy="4023360"/>
          </a:xfrm>
          <a:prstGeom prst="rect">
            <a:avLst/>
          </a:prstGeom>
          <a:noFill/>
        </p:spPr>
        <p:txBody>
          <a:bodyPr wrap="square" anchor="t" lIns="0" rIns="0" tIns="0" bIns="0">
            <a:spAutoFit/>
          </a:bodyPr>
          <a:lstStyle/>
          <a:p>
            <a:pPr>
              <a:spcAft>
                <a:spcPts val="1400"/>
              </a:spcAft>
            </a:pPr>
            <a:r>
              <a:rPr sz="2400" b="1">
                <a:solidFill>
                  <a:srgbClr val="2F6FDF"/>
                </a:solidFill>
                <a:latin typeface="Segoe UI"/>
              </a:rPr>
              <a:t>Inside: the error is checked</a:t>
            </a:r>
          </a:p>
          <a:p>
            <a:pPr>
              <a:spcAft>
                <a:spcPts val="1000"/>
              </a:spcAft>
            </a:pPr>
            <a:r>
              <a:rPr sz="1900" b="0">
                <a:solidFill>
                  <a:srgbClr val="1C2330"/>
                </a:solidFill>
                <a:latin typeface="Segoe UI"/>
              </a:rPr>
              <a:t>•  </a:t>
            </a:r>
            <a:r>
              <a:rPr sz="1900" b="0">
                <a:solidFill>
                  <a:srgbClr val="6A3FC0"/>
                </a:solidFill>
                <a:latin typeface="Consolas"/>
              </a:rPr>
              <a:t>make_slug("!!!")</a:t>
            </a:r>
            <a:r>
              <a:rPr sz="1900" b="0">
                <a:solidFill>
                  <a:srgbClr val="1C2330"/>
                </a:solidFill>
                <a:latin typeface="Segoe UI"/>
              </a:rPr>
              <a:t> </a:t>
            </a:r>
            <a:r>
              <a:rPr sz="1900" b="1">
                <a:solidFill>
                  <a:srgbClr val="1C2330"/>
                </a:solidFill>
                <a:latin typeface="Segoe UI"/>
              </a:rPr>
              <a:t>is</a:t>
            </a:r>
            <a:r>
              <a:rPr sz="1900" b="0">
                <a:solidFill>
                  <a:srgbClr val="1C2330"/>
                </a:solidFill>
                <a:latin typeface="Segoe UI"/>
              </a:rPr>
              <a:t> indented under </a:t>
            </a:r>
            <a:r>
              <a:rPr sz="1900" b="0">
                <a:solidFill>
                  <a:srgbClr val="6A3FC0"/>
                </a:solidFill>
                <a:latin typeface="Consolas"/>
              </a:rPr>
              <a:t>with</a:t>
            </a:r>
          </a:p>
          <a:p>
            <a:pPr>
              <a:spcAft>
                <a:spcPts val="1000"/>
              </a:spcAft>
            </a:pPr>
            <a:r>
              <a:rPr sz="1900" b="0">
                <a:solidFill>
                  <a:srgbClr val="1C2330"/>
                </a:solidFill>
                <a:latin typeface="Segoe UI"/>
              </a:rPr>
              <a:t>•  Error raised (correct code): the test </a:t>
            </a:r>
            <a:r>
              <a:rPr sz="1900" b="1">
                <a:solidFill>
                  <a:srgbClr val="1C2330"/>
                </a:solidFill>
                <a:latin typeface="Segoe UI"/>
              </a:rPr>
              <a:t>passes</a:t>
            </a:r>
          </a:p>
          <a:p>
            <a:pPr>
              <a:spcAft>
                <a:spcPts val="1000"/>
              </a:spcAft>
            </a:pPr>
            <a:r>
              <a:rPr sz="1900" b="0">
                <a:solidFill>
                  <a:srgbClr val="1C2330"/>
                </a:solidFill>
                <a:latin typeface="Segoe UI"/>
              </a:rPr>
              <a:t>•  No error (the bug): the test </a:t>
            </a:r>
            <a:r>
              <a:rPr sz="1900" b="1">
                <a:solidFill>
                  <a:srgbClr val="1C2330"/>
                </a:solidFill>
                <a:latin typeface="Segoe UI"/>
              </a:rPr>
              <a:t>fails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06  ·  Write tests that catch bugs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10</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Pattern: one test per behaviour</a:t>
            </a:r>
          </a:p>
        </p:txBody>
      </p:sp>
      <p:sp>
        <p:nvSpPr>
          <p:cNvPr id="6" name="TextBox 5"/>
          <p:cNvSpPr txBox="1"/>
          <p:nvPr/>
        </p:nvSpPr>
        <p:spPr>
          <a:xfrm>
            <a:off x="640080" y="1463040"/>
            <a:ext cx="10911535" cy="822960"/>
          </a:xfrm>
          <a:prstGeom prst="rect">
            <a:avLst/>
          </a:prstGeom>
          <a:noFill/>
        </p:spPr>
        <p:txBody>
          <a:bodyPr wrap="square" anchor="t" lIns="0" rIns="0" tIns="0" bIns="0">
            <a:spAutoFit/>
          </a:bodyPr>
          <a:lstStyle/>
          <a:p>
            <a:pPr>
              <a:spcAft>
                <a:spcPts val="600"/>
              </a:spcAft>
            </a:pPr>
            <a:r>
              <a:rPr sz="2000" b="0">
                <a:solidFill>
                  <a:srgbClr val="1C2330"/>
                </a:solidFill>
                <a:latin typeface="Segoe UI"/>
              </a:rPr>
              <a:t>The same shape as your task, for a different function:</a:t>
            </a:r>
          </a:p>
        </p:txBody>
      </p:sp>
      <p:sp>
        <p:nvSpPr>
          <p:cNvPr id="7" name="Rounded Rectangle 6"/>
          <p:cNvSpPr/>
          <p:nvPr/>
        </p:nvSpPr>
        <p:spPr>
          <a:xfrm>
            <a:off x="640080" y="2331720"/>
            <a:ext cx="10911535" cy="3840480"/>
          </a:xfrm>
          <a:prstGeom prst="roundRect">
            <a:avLst>
              <a:gd name="adj" fmla="val 6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32888"/>
            <a:ext cx="10362895" cy="3474720"/>
          </a:xfrm>
          <a:prstGeom prst="rect">
            <a:avLst/>
          </a:prstGeom>
          <a:noFill/>
        </p:spPr>
        <p:txBody>
          <a:bodyPr wrap="square" anchor="t" lIns="0" rIns="0" tIns="0" bIns="0">
            <a:spAutoFit/>
          </a:bodyPr>
          <a:lstStyle/>
          <a:p>
            <a:pPr>
              <a:lnSpc>
                <a:spcPct val="110000"/>
              </a:lnSpc>
            </a:pPr>
            <a:r>
              <a:rPr sz="1400">
                <a:solidFill>
                  <a:srgbClr val="C586C0"/>
                </a:solidFill>
                <a:latin typeface="Consolas"/>
              </a:rPr>
              <a:t>import</a:t>
            </a:r>
            <a:r>
              <a:rPr sz="1400">
                <a:solidFill>
                  <a:srgbClr val="D4D4D4"/>
                </a:solidFill>
                <a:latin typeface="Consolas"/>
              </a:rPr>
              <a:t> </a:t>
            </a:r>
            <a:r>
              <a:rPr sz="1400">
                <a:solidFill>
                  <a:srgbClr val="9CDCFE"/>
                </a:solidFill>
                <a:latin typeface="Consolas"/>
              </a:rPr>
              <a:t>unittest</a:t>
            </a:r>
          </a:p>
          <a:p>
            <a:pPr>
              <a:lnSpc>
                <a:spcPct val="110000"/>
              </a:lnSpc>
            </a:pPr>
          </a:p>
          <a:p>
            <a:pPr>
              <a:lnSpc>
                <a:spcPct val="110000"/>
              </a:lnSpc>
            </a:pPr>
            <a:r>
              <a:rPr sz="1400">
                <a:solidFill>
                  <a:srgbClr val="C586C0"/>
                </a:solidFill>
                <a:latin typeface="Consolas"/>
              </a:rPr>
              <a:t>def</a:t>
            </a:r>
            <a:r>
              <a:rPr sz="1400">
                <a:solidFill>
                  <a:srgbClr val="D4D4D4"/>
                </a:solidFill>
                <a:latin typeface="Consolas"/>
              </a:rPr>
              <a:t> </a:t>
            </a:r>
            <a:r>
              <a:rPr sz="1400">
                <a:solidFill>
                  <a:srgbClr val="DCDCAA"/>
                </a:solidFill>
                <a:latin typeface="Consolas"/>
              </a:rPr>
              <a:t>make_tag</a:t>
            </a:r>
            <a:r>
              <a:rPr sz="1400">
                <a:solidFill>
                  <a:srgbClr val="D4D4D4"/>
                </a:solidFill>
                <a:latin typeface="Consolas"/>
              </a:rPr>
              <a:t>(</a:t>
            </a:r>
            <a:r>
              <a:rPr sz="1400">
                <a:solidFill>
                  <a:srgbClr val="9CDCFE"/>
                </a:solidFill>
                <a:latin typeface="Consolas"/>
              </a:rPr>
              <a:t>text</a:t>
            </a:r>
            <a:r>
              <a:rPr sz="1400">
                <a:solidFill>
                  <a:srgbClr val="D4D4D4"/>
                </a:solidFill>
                <a:latin typeface="Consolas"/>
              </a:rPr>
              <a:t>)</a:t>
            </a:r>
            <a:r>
              <a:rPr sz="1400">
                <a:solidFill>
                  <a:srgbClr val="D4D4D4"/>
                </a:solidFill>
                <a:latin typeface="Consolas"/>
              </a:rPr>
              <a:t>:</a:t>
            </a:r>
          </a:p>
          <a:p>
            <a:pPr>
              <a:lnSpc>
                <a:spcPct val="110000"/>
              </a:lnSpc>
            </a:pPr>
            <a:r>
              <a:rPr sz="1400">
                <a:solidFill>
                  <a:srgbClr val="D4D4D4"/>
                </a:solidFill>
                <a:latin typeface="Consolas"/>
              </a:rPr>
              <a:t>    </a:t>
            </a:r>
            <a:r>
              <a:rPr sz="1400">
                <a:solidFill>
                  <a:srgbClr val="9CDCFE"/>
                </a:solidFill>
                <a:latin typeface="Consolas"/>
              </a:rPr>
              <a:t>tag</a:t>
            </a:r>
            <a:r>
              <a:rPr sz="1400">
                <a:solidFill>
                  <a:srgbClr val="D4D4D4"/>
                </a:solidFill>
                <a:latin typeface="Consolas"/>
              </a:rPr>
              <a:t> </a:t>
            </a:r>
            <a:r>
              <a:rPr sz="1400">
                <a:solidFill>
                  <a:srgbClr val="D4D4D4"/>
                </a:solidFill>
                <a:latin typeface="Consolas"/>
              </a:rPr>
              <a:t>=</a:t>
            </a:r>
            <a:r>
              <a:rPr sz="1400">
                <a:solidFill>
                  <a:srgbClr val="D4D4D4"/>
                </a:solidFill>
                <a:latin typeface="Consolas"/>
              </a:rPr>
              <a:t> </a:t>
            </a:r>
            <a:r>
              <a:rPr sz="1400">
                <a:solidFill>
                  <a:srgbClr val="9CDCFE"/>
                </a:solidFill>
                <a:latin typeface="Consolas"/>
              </a:rPr>
              <a:t>text</a:t>
            </a:r>
            <a:r>
              <a:rPr sz="1400">
                <a:solidFill>
                  <a:srgbClr val="D4D4D4"/>
                </a:solidFill>
                <a:latin typeface="Consolas"/>
              </a:rPr>
              <a:t>.</a:t>
            </a:r>
            <a:r>
              <a:rPr sz="1400">
                <a:solidFill>
                  <a:srgbClr val="9CDCFE"/>
                </a:solidFill>
                <a:latin typeface="Consolas"/>
              </a:rPr>
              <a:t>strip</a:t>
            </a:r>
            <a:r>
              <a:rPr sz="1400">
                <a:solidFill>
                  <a:srgbClr val="D4D4D4"/>
                </a:solidFill>
                <a:latin typeface="Consolas"/>
              </a:rPr>
              <a:t>(</a:t>
            </a:r>
            <a:r>
              <a:rPr sz="1400">
                <a:solidFill>
                  <a:srgbClr val="D4D4D4"/>
                </a:solidFill>
                <a:latin typeface="Consolas"/>
              </a:rPr>
              <a:t>)</a:t>
            </a:r>
            <a:r>
              <a:rPr sz="1400">
                <a:solidFill>
                  <a:srgbClr val="D4D4D4"/>
                </a:solidFill>
                <a:latin typeface="Consolas"/>
              </a:rPr>
              <a:t>.</a:t>
            </a:r>
            <a:r>
              <a:rPr sz="1400">
                <a:solidFill>
                  <a:srgbClr val="9CDCFE"/>
                </a:solidFill>
                <a:latin typeface="Consolas"/>
              </a:rPr>
              <a:t>lower</a:t>
            </a:r>
            <a:r>
              <a:rPr sz="1400">
                <a:solidFill>
                  <a:srgbClr val="D4D4D4"/>
                </a:solidFill>
                <a:latin typeface="Consolas"/>
              </a:rPr>
              <a:t>(</a:t>
            </a:r>
            <a:r>
              <a:rPr sz="1400">
                <a:solidFill>
                  <a:srgbClr val="D4D4D4"/>
                </a:solidFill>
                <a:latin typeface="Consolas"/>
              </a:rPr>
              <a:t>)</a:t>
            </a:r>
            <a:r>
              <a:rPr sz="1400">
                <a:solidFill>
                  <a:srgbClr val="D4D4D4"/>
                </a:solidFill>
                <a:latin typeface="Consolas"/>
              </a:rPr>
              <a:t>.</a:t>
            </a:r>
            <a:r>
              <a:rPr sz="1400">
                <a:solidFill>
                  <a:srgbClr val="9CDCFE"/>
                </a:solidFill>
                <a:latin typeface="Consolas"/>
              </a:rPr>
              <a:t>replace</a:t>
            </a:r>
            <a:r>
              <a:rPr sz="1400">
                <a:solidFill>
                  <a:srgbClr val="D4D4D4"/>
                </a:solidFill>
                <a:latin typeface="Consolas"/>
              </a:rPr>
              <a:t>(</a:t>
            </a:r>
            <a:r>
              <a:rPr sz="1400">
                <a:solidFill>
                  <a:srgbClr val="CE9178"/>
                </a:solidFill>
                <a:latin typeface="Consolas"/>
              </a:rPr>
              <a:t>"</a:t>
            </a:r>
            <a:r>
              <a:rPr sz="1400">
                <a:solidFill>
                  <a:srgbClr val="CE9178"/>
                </a:solidFill>
                <a:latin typeface="Consolas"/>
              </a:rPr>
              <a:t> </a:t>
            </a:r>
            <a:r>
              <a:rPr sz="1400">
                <a:solidFill>
                  <a:srgbClr val="CE9178"/>
                </a:solidFill>
                <a:latin typeface="Consolas"/>
              </a:rPr>
              <a:t>"</a:t>
            </a:r>
            <a:r>
              <a:rPr sz="1400">
                <a:solidFill>
                  <a:srgbClr val="D4D4D4"/>
                </a:solidFill>
                <a:latin typeface="Consolas"/>
              </a:rPr>
              <a:t>,</a:t>
            </a:r>
            <a:r>
              <a:rPr sz="1400">
                <a:solidFill>
                  <a:srgbClr val="D4D4D4"/>
                </a:solidFill>
                <a:latin typeface="Consolas"/>
              </a:rPr>
              <a:t> </a:t>
            </a:r>
            <a:r>
              <a:rPr sz="1400">
                <a:solidFill>
                  <a:srgbClr val="CE9178"/>
                </a:solidFill>
                <a:latin typeface="Consolas"/>
              </a:rPr>
              <a:t>"</a:t>
            </a:r>
            <a:r>
              <a:rPr sz="1400">
                <a:solidFill>
                  <a:srgbClr val="CE9178"/>
                </a:solidFill>
                <a:latin typeface="Consolas"/>
              </a:rPr>
              <a:t>_</a:t>
            </a:r>
            <a:r>
              <a:rPr sz="1400">
                <a:solidFill>
                  <a:srgbClr val="CE9178"/>
                </a:solidFill>
                <a:latin typeface="Consolas"/>
              </a:rPr>
              <a:t>"</a:t>
            </a:r>
            <a:r>
              <a:rPr sz="1400">
                <a:solidFill>
                  <a:srgbClr val="D4D4D4"/>
                </a:solidFill>
                <a:latin typeface="Consolas"/>
              </a:rPr>
              <a:t>)</a:t>
            </a:r>
          </a:p>
          <a:p>
            <a:pPr>
              <a:lnSpc>
                <a:spcPct val="110000"/>
              </a:lnSpc>
            </a:pPr>
            <a:r>
              <a:rPr sz="1400">
                <a:solidFill>
                  <a:srgbClr val="D4D4D4"/>
                </a:solidFill>
                <a:latin typeface="Consolas"/>
              </a:rPr>
              <a:t>    </a:t>
            </a:r>
            <a:r>
              <a:rPr sz="1400">
                <a:solidFill>
                  <a:srgbClr val="C586C0"/>
                </a:solidFill>
                <a:latin typeface="Consolas"/>
              </a:rPr>
              <a:t>if</a:t>
            </a:r>
            <a:r>
              <a:rPr sz="1400">
                <a:solidFill>
                  <a:srgbClr val="D4D4D4"/>
                </a:solidFill>
                <a:latin typeface="Consolas"/>
              </a:rPr>
              <a:t> </a:t>
            </a:r>
            <a:r>
              <a:rPr sz="1400">
                <a:solidFill>
                  <a:srgbClr val="C586C0"/>
                </a:solidFill>
                <a:latin typeface="Consolas"/>
              </a:rPr>
              <a:t>not</a:t>
            </a:r>
            <a:r>
              <a:rPr sz="1400">
                <a:solidFill>
                  <a:srgbClr val="D4D4D4"/>
                </a:solidFill>
                <a:latin typeface="Consolas"/>
              </a:rPr>
              <a:t> </a:t>
            </a:r>
            <a:r>
              <a:rPr sz="1400">
                <a:solidFill>
                  <a:srgbClr val="9CDCFE"/>
                </a:solidFill>
                <a:latin typeface="Consolas"/>
              </a:rPr>
              <a:t>tag</a:t>
            </a:r>
            <a:r>
              <a:rPr sz="1400">
                <a:solidFill>
                  <a:srgbClr val="D4D4D4"/>
                </a:solidFill>
                <a:latin typeface="Consolas"/>
              </a:rPr>
              <a:t>:</a:t>
            </a:r>
          </a:p>
          <a:p>
            <a:pPr>
              <a:lnSpc>
                <a:spcPct val="110000"/>
              </a:lnSpc>
            </a:pPr>
            <a:r>
              <a:rPr sz="1400">
                <a:solidFill>
                  <a:srgbClr val="D4D4D4"/>
                </a:solidFill>
                <a:latin typeface="Consolas"/>
              </a:rPr>
              <a:t>        </a:t>
            </a:r>
            <a:r>
              <a:rPr sz="1400">
                <a:solidFill>
                  <a:srgbClr val="C586C0"/>
                </a:solidFill>
                <a:latin typeface="Consolas"/>
              </a:rPr>
              <a:t>raise</a:t>
            </a:r>
            <a:r>
              <a:rPr sz="1400">
                <a:solidFill>
                  <a:srgbClr val="D4D4D4"/>
                </a:solidFill>
                <a:latin typeface="Consolas"/>
              </a:rPr>
              <a:t> </a:t>
            </a:r>
            <a:r>
              <a:rPr sz="1400">
                <a:solidFill>
                  <a:srgbClr val="9CDCFE"/>
                </a:solidFill>
                <a:latin typeface="Consolas"/>
              </a:rPr>
              <a:t>ValueError</a:t>
            </a:r>
            <a:r>
              <a:rPr sz="1400">
                <a:solidFill>
                  <a:srgbClr val="D4D4D4"/>
                </a:solidFill>
                <a:latin typeface="Consolas"/>
              </a:rPr>
              <a:t>(</a:t>
            </a:r>
            <a:r>
              <a:rPr sz="1400">
                <a:solidFill>
                  <a:srgbClr val="CE9178"/>
                </a:solidFill>
                <a:latin typeface="Consolas"/>
              </a:rPr>
              <a:t>"</a:t>
            </a:r>
            <a:r>
              <a:rPr sz="1400">
                <a:solidFill>
                  <a:srgbClr val="CE9178"/>
                </a:solidFill>
                <a:latin typeface="Consolas"/>
              </a:rPr>
              <a:t>empty tag</a:t>
            </a:r>
            <a:r>
              <a:rPr sz="1400">
                <a:solidFill>
                  <a:srgbClr val="CE9178"/>
                </a:solidFill>
                <a:latin typeface="Consolas"/>
              </a:rPr>
              <a:t>"</a:t>
            </a:r>
            <a:r>
              <a:rPr sz="1400">
                <a:solidFill>
                  <a:srgbClr val="D4D4D4"/>
                </a:solidFill>
                <a:latin typeface="Consolas"/>
              </a:rPr>
              <a:t>)</a:t>
            </a:r>
          </a:p>
          <a:p>
            <a:pPr>
              <a:lnSpc>
                <a:spcPct val="110000"/>
              </a:lnSpc>
            </a:pPr>
            <a:r>
              <a:rPr sz="1400">
                <a:solidFill>
                  <a:srgbClr val="D4D4D4"/>
                </a:solidFill>
                <a:latin typeface="Consolas"/>
              </a:rPr>
              <a:t>    </a:t>
            </a:r>
            <a:r>
              <a:rPr sz="1400">
                <a:solidFill>
                  <a:srgbClr val="C586C0"/>
                </a:solidFill>
                <a:latin typeface="Consolas"/>
              </a:rPr>
              <a:t>return</a:t>
            </a:r>
            <a:r>
              <a:rPr sz="1400">
                <a:solidFill>
                  <a:srgbClr val="D4D4D4"/>
                </a:solidFill>
                <a:latin typeface="Consolas"/>
              </a:rPr>
              <a:t> </a:t>
            </a:r>
            <a:r>
              <a:rPr sz="1400">
                <a:solidFill>
                  <a:srgbClr val="9CDCFE"/>
                </a:solidFill>
                <a:latin typeface="Consolas"/>
              </a:rPr>
              <a:t>tag</a:t>
            </a:r>
          </a:p>
          <a:p>
            <a:pPr>
              <a:lnSpc>
                <a:spcPct val="110000"/>
              </a:lnSpc>
            </a:pPr>
          </a:p>
          <a:p>
            <a:pPr>
              <a:lnSpc>
                <a:spcPct val="110000"/>
              </a:lnSpc>
            </a:pPr>
            <a:r>
              <a:rPr sz="1400">
                <a:solidFill>
                  <a:srgbClr val="C586C0"/>
                </a:solidFill>
                <a:latin typeface="Consolas"/>
              </a:rPr>
              <a:t>class</a:t>
            </a:r>
            <a:r>
              <a:rPr sz="1400">
                <a:solidFill>
                  <a:srgbClr val="D4D4D4"/>
                </a:solidFill>
                <a:latin typeface="Consolas"/>
              </a:rPr>
              <a:t> </a:t>
            </a:r>
            <a:r>
              <a:rPr sz="1400">
                <a:solidFill>
                  <a:srgbClr val="4EC9B0"/>
                </a:solidFill>
                <a:latin typeface="Consolas"/>
              </a:rPr>
              <a:t>MakeTagTests</a:t>
            </a:r>
            <a:r>
              <a:rPr sz="1400">
                <a:solidFill>
                  <a:srgbClr val="D4D4D4"/>
                </a:solidFill>
                <a:latin typeface="Consolas"/>
              </a:rPr>
              <a:t>(</a:t>
            </a:r>
            <a:r>
              <a:rPr sz="1400">
                <a:solidFill>
                  <a:srgbClr val="9CDCFE"/>
                </a:solidFill>
                <a:latin typeface="Consolas"/>
              </a:rPr>
              <a:t>unittest</a:t>
            </a:r>
            <a:r>
              <a:rPr sz="1400">
                <a:solidFill>
                  <a:srgbClr val="D4D4D4"/>
                </a:solidFill>
                <a:latin typeface="Consolas"/>
              </a:rPr>
              <a:t>.</a:t>
            </a:r>
            <a:r>
              <a:rPr sz="1400">
                <a:solidFill>
                  <a:srgbClr val="9CDCFE"/>
                </a:solidFill>
                <a:latin typeface="Consolas"/>
              </a:rPr>
              <a:t>TestCase</a:t>
            </a:r>
            <a:r>
              <a:rPr sz="1400">
                <a:solidFill>
                  <a:srgbClr val="D4D4D4"/>
                </a:solidFill>
                <a:latin typeface="Consolas"/>
              </a:rPr>
              <a:t>)</a:t>
            </a:r>
            <a:r>
              <a:rPr sz="1400">
                <a:solidFill>
                  <a:srgbClr val="D4D4D4"/>
                </a:solidFill>
                <a:latin typeface="Consolas"/>
              </a:rPr>
              <a:t>:</a:t>
            </a:r>
          </a:p>
          <a:p>
            <a:pPr>
              <a:lnSpc>
                <a:spcPct val="110000"/>
              </a:lnSpc>
            </a:pPr>
            <a:r>
              <a:rPr sz="1400">
                <a:solidFill>
                  <a:srgbClr val="D4D4D4"/>
                </a:solidFill>
                <a:latin typeface="Consolas"/>
              </a:rPr>
              <a:t>    </a:t>
            </a:r>
            <a:r>
              <a:rPr sz="1400">
                <a:solidFill>
                  <a:srgbClr val="C586C0"/>
                </a:solidFill>
                <a:latin typeface="Consolas"/>
              </a:rPr>
              <a:t>def</a:t>
            </a:r>
            <a:r>
              <a:rPr sz="1400">
                <a:solidFill>
                  <a:srgbClr val="D4D4D4"/>
                </a:solidFill>
                <a:latin typeface="Consolas"/>
              </a:rPr>
              <a:t> </a:t>
            </a:r>
            <a:r>
              <a:rPr sz="1400">
                <a:solidFill>
                  <a:srgbClr val="DCDCAA"/>
                </a:solidFill>
                <a:latin typeface="Consolas"/>
              </a:rPr>
              <a:t>test_lowercases</a:t>
            </a:r>
            <a:r>
              <a:rPr sz="1400">
                <a:solidFill>
                  <a:srgbClr val="D4D4D4"/>
                </a:solidFill>
                <a:latin typeface="Consolas"/>
              </a:rPr>
              <a:t>(</a:t>
            </a:r>
            <a:r>
              <a:rPr sz="1400">
                <a:solidFill>
                  <a:srgbClr val="4EC9B0"/>
                </a:solidFill>
                <a:latin typeface="Consolas"/>
              </a:rPr>
              <a:t>self</a:t>
            </a:r>
            <a:r>
              <a:rPr sz="1400">
                <a:solidFill>
                  <a:srgbClr val="D4D4D4"/>
                </a:solidFill>
                <a:latin typeface="Consolas"/>
              </a:rPr>
              <a:t>)</a:t>
            </a:r>
            <a:r>
              <a:rPr sz="1400">
                <a:solidFill>
                  <a:srgbClr val="D4D4D4"/>
                </a:solidFill>
                <a:latin typeface="Consolas"/>
              </a:rPr>
              <a:t>:</a:t>
            </a:r>
          </a:p>
          <a:p>
            <a:pPr>
              <a:lnSpc>
                <a:spcPct val="110000"/>
              </a:lnSpc>
            </a:pPr>
            <a:r>
              <a:rPr sz="1400">
                <a:solidFill>
                  <a:srgbClr val="D4D4D4"/>
                </a:solidFill>
                <a:latin typeface="Consolas"/>
              </a:rPr>
              <a:t>        </a:t>
            </a:r>
            <a:r>
              <a:rPr sz="1400">
                <a:solidFill>
                  <a:srgbClr val="4EC9B0"/>
                </a:solidFill>
                <a:latin typeface="Consolas"/>
              </a:rPr>
              <a:t>self</a:t>
            </a:r>
            <a:r>
              <a:rPr sz="1400">
                <a:solidFill>
                  <a:srgbClr val="D4D4D4"/>
                </a:solidFill>
                <a:latin typeface="Consolas"/>
              </a:rPr>
              <a:t>.</a:t>
            </a:r>
            <a:r>
              <a:rPr sz="1400">
                <a:solidFill>
                  <a:srgbClr val="9CDCFE"/>
                </a:solidFill>
                <a:latin typeface="Consolas"/>
              </a:rPr>
              <a:t>assertEqual</a:t>
            </a:r>
            <a:r>
              <a:rPr sz="1400">
                <a:solidFill>
                  <a:srgbClr val="D4D4D4"/>
                </a:solidFill>
                <a:latin typeface="Consolas"/>
              </a:rPr>
              <a:t>(</a:t>
            </a:r>
            <a:r>
              <a:rPr sz="1400">
                <a:solidFill>
                  <a:srgbClr val="9CDCFE"/>
                </a:solidFill>
                <a:latin typeface="Consolas"/>
              </a:rPr>
              <a:t>make_tag</a:t>
            </a:r>
            <a:r>
              <a:rPr sz="1400">
                <a:solidFill>
                  <a:srgbClr val="D4D4D4"/>
                </a:solidFill>
                <a:latin typeface="Consolas"/>
              </a:rPr>
              <a:t>(</a:t>
            </a:r>
            <a:r>
              <a:rPr sz="1400">
                <a:solidFill>
                  <a:srgbClr val="CE9178"/>
                </a:solidFill>
                <a:latin typeface="Consolas"/>
              </a:rPr>
              <a:t>"</a:t>
            </a:r>
            <a:r>
              <a:rPr sz="1400">
                <a:solidFill>
                  <a:srgbClr val="CE9178"/>
                </a:solidFill>
                <a:latin typeface="Consolas"/>
              </a:rPr>
              <a:t> Data Science </a:t>
            </a:r>
            <a:r>
              <a:rPr sz="1400">
                <a:solidFill>
                  <a:srgbClr val="CE9178"/>
                </a:solidFill>
                <a:latin typeface="Consolas"/>
              </a:rPr>
              <a:t>"</a:t>
            </a:r>
            <a:r>
              <a:rPr sz="1400">
                <a:solidFill>
                  <a:srgbClr val="D4D4D4"/>
                </a:solidFill>
                <a:latin typeface="Consolas"/>
              </a:rPr>
              <a:t>)</a:t>
            </a:r>
            <a:r>
              <a:rPr sz="1400">
                <a:solidFill>
                  <a:srgbClr val="D4D4D4"/>
                </a:solidFill>
                <a:latin typeface="Consolas"/>
              </a:rPr>
              <a:t>,</a:t>
            </a:r>
            <a:r>
              <a:rPr sz="1400">
                <a:solidFill>
                  <a:srgbClr val="D4D4D4"/>
                </a:solidFill>
                <a:latin typeface="Consolas"/>
              </a:rPr>
              <a:t> </a:t>
            </a:r>
            <a:r>
              <a:rPr sz="1400">
                <a:solidFill>
                  <a:srgbClr val="CE9178"/>
                </a:solidFill>
                <a:latin typeface="Consolas"/>
              </a:rPr>
              <a:t>"</a:t>
            </a:r>
            <a:r>
              <a:rPr sz="1400">
                <a:solidFill>
                  <a:srgbClr val="CE9178"/>
                </a:solidFill>
                <a:latin typeface="Consolas"/>
              </a:rPr>
              <a:t>data_science</a:t>
            </a:r>
            <a:r>
              <a:rPr sz="1400">
                <a:solidFill>
                  <a:srgbClr val="CE9178"/>
                </a:solidFill>
                <a:latin typeface="Consolas"/>
              </a:rPr>
              <a:t>"</a:t>
            </a:r>
            <a:r>
              <a:rPr sz="1400">
                <a:solidFill>
                  <a:srgbClr val="D4D4D4"/>
                </a:solidFill>
                <a:latin typeface="Consolas"/>
              </a:rPr>
              <a:t>)</a:t>
            </a:r>
          </a:p>
          <a:p>
            <a:pPr>
              <a:lnSpc>
                <a:spcPct val="110000"/>
              </a:lnSpc>
            </a:pPr>
            <a:r>
              <a:rPr sz="1400">
                <a:solidFill>
                  <a:srgbClr val="D4D4D4"/>
                </a:solidFill>
                <a:latin typeface="Consolas"/>
              </a:rPr>
              <a:t>    </a:t>
            </a:r>
            <a:r>
              <a:rPr sz="1400">
                <a:solidFill>
                  <a:srgbClr val="C586C0"/>
                </a:solidFill>
                <a:latin typeface="Consolas"/>
              </a:rPr>
              <a:t>def</a:t>
            </a:r>
            <a:r>
              <a:rPr sz="1400">
                <a:solidFill>
                  <a:srgbClr val="D4D4D4"/>
                </a:solidFill>
                <a:latin typeface="Consolas"/>
              </a:rPr>
              <a:t> </a:t>
            </a:r>
            <a:r>
              <a:rPr sz="1400">
                <a:solidFill>
                  <a:srgbClr val="DCDCAA"/>
                </a:solidFill>
                <a:latin typeface="Consolas"/>
              </a:rPr>
              <a:t>test_blank_raises</a:t>
            </a:r>
            <a:r>
              <a:rPr sz="1400">
                <a:solidFill>
                  <a:srgbClr val="D4D4D4"/>
                </a:solidFill>
                <a:latin typeface="Consolas"/>
              </a:rPr>
              <a:t>(</a:t>
            </a:r>
            <a:r>
              <a:rPr sz="1400">
                <a:solidFill>
                  <a:srgbClr val="4EC9B0"/>
                </a:solidFill>
                <a:latin typeface="Consolas"/>
              </a:rPr>
              <a:t>self</a:t>
            </a:r>
            <a:r>
              <a:rPr sz="1400">
                <a:solidFill>
                  <a:srgbClr val="D4D4D4"/>
                </a:solidFill>
                <a:latin typeface="Consolas"/>
              </a:rPr>
              <a:t>)</a:t>
            </a:r>
            <a:r>
              <a:rPr sz="1400">
                <a:solidFill>
                  <a:srgbClr val="D4D4D4"/>
                </a:solidFill>
                <a:latin typeface="Consolas"/>
              </a:rPr>
              <a:t>:</a:t>
            </a:r>
          </a:p>
          <a:p>
            <a:pPr>
              <a:lnSpc>
                <a:spcPct val="110000"/>
              </a:lnSpc>
            </a:pPr>
            <a:r>
              <a:rPr sz="1400">
                <a:solidFill>
                  <a:srgbClr val="D4D4D4"/>
                </a:solidFill>
                <a:latin typeface="Consolas"/>
              </a:rPr>
              <a:t>        </a:t>
            </a:r>
            <a:r>
              <a:rPr sz="1400">
                <a:solidFill>
                  <a:srgbClr val="C586C0"/>
                </a:solidFill>
                <a:latin typeface="Consolas"/>
              </a:rPr>
              <a:t>with</a:t>
            </a:r>
            <a:r>
              <a:rPr sz="1400">
                <a:solidFill>
                  <a:srgbClr val="D4D4D4"/>
                </a:solidFill>
                <a:latin typeface="Consolas"/>
              </a:rPr>
              <a:t> </a:t>
            </a:r>
            <a:r>
              <a:rPr sz="1400">
                <a:solidFill>
                  <a:srgbClr val="4EC9B0"/>
                </a:solidFill>
                <a:latin typeface="Consolas"/>
              </a:rPr>
              <a:t>self</a:t>
            </a:r>
            <a:r>
              <a:rPr sz="1400">
                <a:solidFill>
                  <a:srgbClr val="D4D4D4"/>
                </a:solidFill>
                <a:latin typeface="Consolas"/>
              </a:rPr>
              <a:t>.</a:t>
            </a:r>
            <a:r>
              <a:rPr sz="1400">
                <a:solidFill>
                  <a:srgbClr val="9CDCFE"/>
                </a:solidFill>
                <a:latin typeface="Consolas"/>
              </a:rPr>
              <a:t>assertRaises</a:t>
            </a:r>
            <a:r>
              <a:rPr sz="1400">
                <a:solidFill>
                  <a:srgbClr val="D4D4D4"/>
                </a:solidFill>
                <a:latin typeface="Consolas"/>
              </a:rPr>
              <a:t>(</a:t>
            </a:r>
            <a:r>
              <a:rPr sz="1400">
                <a:solidFill>
                  <a:srgbClr val="9CDCFE"/>
                </a:solidFill>
                <a:latin typeface="Consolas"/>
              </a:rPr>
              <a:t>ValueError</a:t>
            </a:r>
            <a:r>
              <a:rPr sz="1400">
                <a:solidFill>
                  <a:srgbClr val="D4D4D4"/>
                </a:solidFill>
                <a:latin typeface="Consolas"/>
              </a:rPr>
              <a:t>)</a:t>
            </a:r>
            <a:r>
              <a:rPr sz="1400">
                <a:solidFill>
                  <a:srgbClr val="D4D4D4"/>
                </a:solidFill>
                <a:latin typeface="Consolas"/>
              </a:rPr>
              <a:t>:</a:t>
            </a:r>
          </a:p>
          <a:p>
            <a:pPr>
              <a:lnSpc>
                <a:spcPct val="110000"/>
              </a:lnSpc>
            </a:pPr>
            <a:r>
              <a:rPr sz="1400">
                <a:solidFill>
                  <a:srgbClr val="D4D4D4"/>
                </a:solidFill>
                <a:latin typeface="Consolas"/>
              </a:rPr>
              <a:t>            </a:t>
            </a:r>
            <a:r>
              <a:rPr sz="1400">
                <a:solidFill>
                  <a:srgbClr val="9CDCFE"/>
                </a:solidFill>
                <a:latin typeface="Consolas"/>
              </a:rPr>
              <a:t>make_tag</a:t>
            </a:r>
            <a:r>
              <a:rPr sz="1400">
                <a:solidFill>
                  <a:srgbClr val="D4D4D4"/>
                </a:solidFill>
                <a:latin typeface="Consolas"/>
              </a:rPr>
              <a:t>(</a:t>
            </a:r>
            <a:r>
              <a:rPr sz="1400">
                <a:solidFill>
                  <a:srgbClr val="CE9178"/>
                </a:solidFill>
                <a:latin typeface="Consolas"/>
              </a:rPr>
              <a:t>"</a:t>
            </a:r>
            <a:r>
              <a:rPr sz="1400">
                <a:solidFill>
                  <a:srgbClr val="CE9178"/>
                </a:solidFill>
                <a:latin typeface="Consolas"/>
              </a:rPr>
              <a:t>   </a:t>
            </a:r>
            <a:r>
              <a:rPr sz="1400">
                <a:solidFill>
                  <a:srgbClr val="CE9178"/>
                </a:solidFill>
                <a:latin typeface="Consolas"/>
              </a:rPr>
              <a:t>"</a:t>
            </a:r>
            <a:r>
              <a:rPr sz="1400">
                <a:solidFill>
                  <a:srgbClr val="D4D4D4"/>
                </a:solidFill>
                <a:latin typeface="Consolas"/>
              </a:rPr>
              <a:t>)</a:t>
            </a:r>
          </a:p>
          <a:p>
            <a:pPr>
              <a:lnSpc>
                <a:spcPct val="110000"/>
              </a:lnSpc>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06  ·  Write tests that catch bugs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11</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Your task, step by step</a:t>
            </a:r>
          </a:p>
        </p:txBody>
      </p:sp>
      <p:sp>
        <p:nvSpPr>
          <p:cNvPr id="6" name="Oval 5"/>
          <p:cNvSpPr/>
          <p:nvPr/>
        </p:nvSpPr>
        <p:spPr>
          <a:xfrm>
            <a:off x="640080" y="1714500"/>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1</a:t>
            </a:r>
          </a:p>
        </p:txBody>
      </p:sp>
      <p:sp>
        <p:nvSpPr>
          <p:cNvPr id="7" name="TextBox 6"/>
          <p:cNvSpPr txBox="1"/>
          <p:nvPr/>
        </p:nvSpPr>
        <p:spPr>
          <a:xfrm>
            <a:off x="1325880" y="1508760"/>
            <a:ext cx="8259775" cy="86868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Keep the example </a:t>
            </a:r>
            <a:r>
              <a:rPr sz="1900" b="0">
                <a:solidFill>
                  <a:srgbClr val="6A3FC0"/>
                </a:solidFill>
                <a:latin typeface="Consolas"/>
              </a:rPr>
              <a:t>test_basic_title</a:t>
            </a:r>
            <a:r>
              <a:rPr sz="1900" b="0">
                <a:solidFill>
                  <a:srgbClr val="1C2330"/>
                </a:solidFill>
                <a:latin typeface="Segoe UI"/>
              </a:rPr>
              <a:t>: it passes on the correct code</a:t>
            </a:r>
          </a:p>
        </p:txBody>
      </p:sp>
      <p:sp>
        <p:nvSpPr>
          <p:cNvPr id="8" name="TextBox 7"/>
          <p:cNvSpPr txBox="1"/>
          <p:nvPr/>
        </p:nvSpPr>
        <p:spPr>
          <a:xfrm>
            <a:off x="9722815" y="1508760"/>
            <a:ext cx="1828800" cy="868680"/>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tests 1-2</a:t>
            </a:r>
          </a:p>
        </p:txBody>
      </p:sp>
      <p:sp>
        <p:nvSpPr>
          <p:cNvPr id="9" name="Oval 8"/>
          <p:cNvSpPr/>
          <p:nvPr/>
        </p:nvSpPr>
        <p:spPr>
          <a:xfrm>
            <a:off x="640080" y="2583180"/>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2</a:t>
            </a:r>
          </a:p>
        </p:txBody>
      </p:sp>
      <p:sp>
        <p:nvSpPr>
          <p:cNvPr id="10" name="TextBox 9"/>
          <p:cNvSpPr txBox="1"/>
          <p:nvPr/>
        </p:nvSpPr>
        <p:spPr>
          <a:xfrm>
            <a:off x="1325880" y="2377440"/>
            <a:ext cx="8259775" cy="86868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Test capitals: </a:t>
            </a:r>
            <a:r>
              <a:rPr sz="1900" b="0">
                <a:solidFill>
                  <a:srgbClr val="6A3FC0"/>
                </a:solidFill>
                <a:latin typeface="Consolas"/>
              </a:rPr>
              <a:t>"  Hello, World!  "</a:t>
            </a:r>
            <a:r>
              <a:rPr sz="1900" b="0">
                <a:solidFill>
                  <a:srgbClr val="1C2330"/>
                </a:solidFill>
                <a:latin typeface="Segoe UI"/>
              </a:rPr>
              <a:t> should give </a:t>
            </a:r>
            <a:r>
              <a:rPr sz="1900" b="0">
                <a:solidFill>
                  <a:srgbClr val="6A3FC0"/>
                </a:solidFill>
                <a:latin typeface="Consolas"/>
              </a:rPr>
              <a:t>"hello-world"</a:t>
            </a:r>
          </a:p>
        </p:txBody>
      </p:sp>
      <p:sp>
        <p:nvSpPr>
          <p:cNvPr id="11" name="TextBox 10"/>
          <p:cNvSpPr txBox="1"/>
          <p:nvPr/>
        </p:nvSpPr>
        <p:spPr>
          <a:xfrm>
            <a:off x="9722815" y="2377440"/>
            <a:ext cx="1828800" cy="868680"/>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test 3</a:t>
            </a:r>
          </a:p>
        </p:txBody>
      </p:sp>
      <p:sp>
        <p:nvSpPr>
          <p:cNvPr id="12" name="Oval 11"/>
          <p:cNvSpPr/>
          <p:nvPr/>
        </p:nvSpPr>
        <p:spPr>
          <a:xfrm>
            <a:off x="640080" y="3451860"/>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3</a:t>
            </a:r>
          </a:p>
        </p:txBody>
      </p:sp>
      <p:sp>
        <p:nvSpPr>
          <p:cNvPr id="13" name="TextBox 12"/>
          <p:cNvSpPr txBox="1"/>
          <p:nvPr/>
        </p:nvSpPr>
        <p:spPr>
          <a:xfrm>
            <a:off x="1325880" y="3246120"/>
            <a:ext cx="8259775" cy="86868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Test a run of symbols: </a:t>
            </a:r>
            <a:r>
              <a:rPr sz="1900" b="0">
                <a:solidFill>
                  <a:srgbClr val="6A3FC0"/>
                </a:solidFill>
                <a:latin typeface="Consolas"/>
              </a:rPr>
              <a:t>"Django &amp; DRF 101"</a:t>
            </a:r>
            <a:r>
              <a:rPr sz="1900" b="0">
                <a:solidFill>
                  <a:srgbClr val="1C2330"/>
                </a:solidFill>
                <a:latin typeface="Segoe UI"/>
              </a:rPr>
              <a:t> gives </a:t>
            </a:r>
            <a:r>
              <a:rPr sz="1900" b="0">
                <a:solidFill>
                  <a:srgbClr val="6A3FC0"/>
                </a:solidFill>
                <a:latin typeface="Consolas"/>
              </a:rPr>
              <a:t>"django-drf-101"</a:t>
            </a:r>
          </a:p>
        </p:txBody>
      </p:sp>
      <p:sp>
        <p:nvSpPr>
          <p:cNvPr id="14" name="TextBox 13"/>
          <p:cNvSpPr txBox="1"/>
          <p:nvPr/>
        </p:nvSpPr>
        <p:spPr>
          <a:xfrm>
            <a:off x="9722815" y="3246120"/>
            <a:ext cx="1828800" cy="868680"/>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test 4</a:t>
            </a:r>
          </a:p>
        </p:txBody>
      </p:sp>
      <p:sp>
        <p:nvSpPr>
          <p:cNvPr id="15" name="Oval 14"/>
          <p:cNvSpPr/>
          <p:nvPr/>
        </p:nvSpPr>
        <p:spPr>
          <a:xfrm>
            <a:off x="640080" y="4320540"/>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4</a:t>
            </a:r>
          </a:p>
        </p:txBody>
      </p:sp>
      <p:sp>
        <p:nvSpPr>
          <p:cNvPr id="16" name="TextBox 15"/>
          <p:cNvSpPr txBox="1"/>
          <p:nvPr/>
        </p:nvSpPr>
        <p:spPr>
          <a:xfrm>
            <a:off x="1325880" y="4114800"/>
            <a:ext cx="8259775" cy="86868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Long title </a:t>
            </a:r>
            <a:r>
              <a:rPr sz="1900" b="0">
                <a:solidFill>
                  <a:srgbClr val="6A3FC0"/>
                </a:solidFill>
                <a:latin typeface="Consolas"/>
              </a:rPr>
              <a:t>"word " * 30</a:t>
            </a:r>
            <a:r>
              <a:rPr sz="1900" b="0">
                <a:solidFill>
                  <a:srgbClr val="1C2330"/>
                </a:solidFill>
                <a:latin typeface="Segoe UI"/>
              </a:rPr>
              <a:t>: length at most 50, doesn't end with </a:t>
            </a:r>
            <a:r>
              <a:rPr sz="1900" b="0">
                <a:solidFill>
                  <a:srgbClr val="6A3FC0"/>
                </a:solidFill>
                <a:latin typeface="Consolas"/>
              </a:rPr>
              <a:t>"-"</a:t>
            </a:r>
          </a:p>
        </p:txBody>
      </p:sp>
      <p:sp>
        <p:nvSpPr>
          <p:cNvPr id="17" name="TextBox 16"/>
          <p:cNvSpPr txBox="1"/>
          <p:nvPr/>
        </p:nvSpPr>
        <p:spPr>
          <a:xfrm>
            <a:off x="9722815" y="4114800"/>
            <a:ext cx="1828800" cy="868680"/>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test 5</a:t>
            </a:r>
          </a:p>
        </p:txBody>
      </p:sp>
      <p:sp>
        <p:nvSpPr>
          <p:cNvPr id="18" name="Oval 17"/>
          <p:cNvSpPr/>
          <p:nvPr/>
        </p:nvSpPr>
        <p:spPr>
          <a:xfrm>
            <a:off x="640080" y="5189220"/>
            <a:ext cx="457200" cy="457200"/>
          </a:xfrm>
          <a:prstGeom prst="ellipse">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rPr>
              <a:t>5</a:t>
            </a:r>
          </a:p>
        </p:txBody>
      </p:sp>
      <p:sp>
        <p:nvSpPr>
          <p:cNvPr id="19" name="TextBox 18"/>
          <p:cNvSpPr txBox="1"/>
          <p:nvPr/>
        </p:nvSpPr>
        <p:spPr>
          <a:xfrm>
            <a:off x="1325880" y="4983480"/>
            <a:ext cx="8259775" cy="868680"/>
          </a:xfrm>
          <a:prstGeom prst="rect">
            <a:avLst/>
          </a:prstGeom>
          <a:noFill/>
        </p:spPr>
        <p:txBody>
          <a:bodyPr wrap="square" anchor="ctr" lIns="0" rIns="0" tIns="0" bIns="0">
            <a:spAutoFit/>
          </a:bodyPr>
          <a:lstStyle/>
          <a:p>
            <a:pPr>
              <a:spcAft>
                <a:spcPts val="600"/>
              </a:spcAft>
            </a:pPr>
            <a:r>
              <a:rPr sz="1900" b="0">
                <a:solidFill>
                  <a:srgbClr val="1C2330"/>
                </a:solidFill>
                <a:latin typeface="Segoe UI"/>
              </a:rPr>
              <a:t>Put </a:t>
            </a:r>
            <a:r>
              <a:rPr sz="1900" b="0">
                <a:solidFill>
                  <a:srgbClr val="6A3FC0"/>
                </a:solidFill>
                <a:latin typeface="Consolas"/>
              </a:rPr>
              <a:t>make_slug("!!!")</a:t>
            </a:r>
            <a:r>
              <a:rPr sz="1900" b="0">
                <a:solidFill>
                  <a:srgbClr val="1C2330"/>
                </a:solidFill>
                <a:latin typeface="Segoe UI"/>
              </a:rPr>
              <a:t> inside </a:t>
            </a:r>
            <a:r>
              <a:rPr sz="1900" b="0">
                <a:solidFill>
                  <a:srgbClr val="6A3FC0"/>
                </a:solidFill>
                <a:latin typeface="Consolas"/>
              </a:rPr>
              <a:t>with self.assertRaises(ValueError):</a:t>
            </a:r>
          </a:p>
        </p:txBody>
      </p:sp>
      <p:sp>
        <p:nvSpPr>
          <p:cNvPr id="20" name="TextBox 19"/>
          <p:cNvSpPr txBox="1"/>
          <p:nvPr/>
        </p:nvSpPr>
        <p:spPr>
          <a:xfrm>
            <a:off x="9722815" y="4983480"/>
            <a:ext cx="1828800" cy="868680"/>
          </a:xfrm>
          <a:prstGeom prst="rect">
            <a:avLst/>
          </a:prstGeom>
          <a:noFill/>
        </p:spPr>
        <p:txBody>
          <a:bodyPr wrap="square" anchor="ctr" lIns="0" rIns="0" tIns="0" bIns="0">
            <a:spAutoFit/>
          </a:bodyPr>
          <a:lstStyle/>
          <a:p>
            <a:pPr algn="r">
              <a:spcAft>
                <a:spcPts val="600"/>
              </a:spcAft>
            </a:pPr>
            <a:r>
              <a:rPr sz="1500" b="1">
                <a:solidFill>
                  <a:srgbClr val="2F6FDF"/>
                </a:solidFill>
                <a:latin typeface="Segoe UI"/>
              </a:rPr>
              <a:t>→ test 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06  ·  Write tests that catch bugs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12</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Common mistakes</a:t>
            </a:r>
          </a:p>
        </p:txBody>
      </p:sp>
      <p:sp>
        <p:nvSpPr>
          <p:cNvPr id="6" name="TextBox 5"/>
          <p:cNvSpPr txBox="1"/>
          <p:nvPr/>
        </p:nvSpPr>
        <p:spPr>
          <a:xfrm>
            <a:off x="640080" y="1600200"/>
            <a:ext cx="10911535" cy="4526280"/>
          </a:xfrm>
          <a:prstGeom prst="rect">
            <a:avLst/>
          </a:prstGeom>
          <a:noFill/>
        </p:spPr>
        <p:txBody>
          <a:bodyPr wrap="square" anchor="t" lIns="0" rIns="0" tIns="0" bIns="0">
            <a:spAutoFit/>
          </a:bodyPr>
          <a:lstStyle/>
          <a:p>
            <a:pPr>
              <a:spcAft>
                <a:spcPts val="1600"/>
              </a:spcAft>
            </a:pPr>
            <a:r>
              <a:rPr sz="2400" b="0">
                <a:solidFill>
                  <a:srgbClr val="1C2330"/>
                </a:solidFill>
                <a:latin typeface="Segoe UI"/>
              </a:rPr>
              <a:t>•  A method named </a:t>
            </a:r>
            <a:r>
              <a:rPr sz="2400" b="0">
                <a:solidFill>
                  <a:srgbClr val="6A3FC0"/>
                </a:solidFill>
                <a:latin typeface="Consolas"/>
              </a:rPr>
              <a:t>check_lowercase</a:t>
            </a:r>
            <a:r>
              <a:rPr sz="2400" b="0">
                <a:solidFill>
                  <a:srgbClr val="1C2330"/>
                </a:solidFill>
                <a:latin typeface="Segoe UI"/>
              </a:rPr>
              <a:t> never runs: names must start with </a:t>
            </a:r>
            <a:r>
              <a:rPr sz="2400" b="0">
                <a:solidFill>
                  <a:srgbClr val="6A3FC0"/>
                </a:solidFill>
                <a:latin typeface="Consolas"/>
              </a:rPr>
              <a:t>test</a:t>
            </a:r>
          </a:p>
          <a:p>
            <a:pPr>
              <a:spcAft>
                <a:spcPts val="1600"/>
              </a:spcAft>
            </a:pPr>
            <a:r>
              <a:rPr sz="2400" b="0">
                <a:solidFill>
                  <a:srgbClr val="1C2330"/>
                </a:solidFill>
                <a:latin typeface="Segoe UI"/>
              </a:rPr>
              <a:t>•  Two methods with the same name: only the last one counts</a:t>
            </a:r>
          </a:p>
          <a:p>
            <a:pPr>
              <a:spcAft>
                <a:spcPts val="1600"/>
              </a:spcAft>
            </a:pPr>
            <a:r>
              <a:rPr sz="2400" b="0">
                <a:solidFill>
                  <a:srgbClr val="1C2330"/>
                </a:solidFill>
                <a:latin typeface="Segoe UI"/>
              </a:rPr>
              <a:t>•  Expecting </a:t>
            </a:r>
            <a:r>
              <a:rPr sz="2400" b="0">
                <a:solidFill>
                  <a:srgbClr val="6A3FC0"/>
                </a:solidFill>
                <a:latin typeface="Consolas"/>
              </a:rPr>
              <a:t>"Hello-World"</a:t>
            </a:r>
            <a:r>
              <a:rPr sz="2400" b="0">
                <a:solidFill>
                  <a:srgbClr val="1C2330"/>
                </a:solidFill>
                <a:latin typeface="Segoe UI"/>
              </a:rPr>
              <a:t>: run </a:t>
            </a:r>
            <a:r>
              <a:rPr sz="2400" b="0">
                <a:solidFill>
                  <a:srgbClr val="6A3FC0"/>
                </a:solidFill>
                <a:latin typeface="Consolas"/>
              </a:rPr>
              <a:t>make_slug(...)</a:t>
            </a:r>
            <a:r>
              <a:rPr sz="2400" b="0">
                <a:solidFill>
                  <a:srgbClr val="1C2330"/>
                </a:solidFill>
                <a:latin typeface="Segoe UI"/>
              </a:rPr>
              <a:t> in the Console first</a:t>
            </a:r>
          </a:p>
          <a:p>
            <a:pPr>
              <a:spcAft>
                <a:spcPts val="1600"/>
              </a:spcAft>
            </a:pPr>
            <a:r>
              <a:rPr sz="2400" b="0">
                <a:solidFill>
                  <a:srgbClr val="1C2330"/>
                </a:solidFill>
                <a:latin typeface="Segoe UI"/>
              </a:rPr>
              <a:t>•  </a:t>
            </a:r>
            <a:r>
              <a:rPr sz="2400" b="0">
                <a:solidFill>
                  <a:srgbClr val="6A3FC0"/>
                </a:solidFill>
                <a:latin typeface="Consolas"/>
              </a:rPr>
              <a:t>make_slug("!!!")</a:t>
            </a:r>
            <a:r>
              <a:rPr sz="2400" b="0">
                <a:solidFill>
                  <a:srgbClr val="1C2330"/>
                </a:solidFill>
                <a:latin typeface="Segoe UI"/>
              </a:rPr>
              <a:t> outside the </a:t>
            </a:r>
            <a:r>
              <a:rPr sz="2400" b="0">
                <a:solidFill>
                  <a:srgbClr val="6A3FC0"/>
                </a:solidFill>
                <a:latin typeface="Consolas"/>
              </a:rPr>
              <a:t>with</a:t>
            </a:r>
            <a:r>
              <a:rPr sz="2400" b="0">
                <a:solidFill>
                  <a:srgbClr val="1C2330"/>
                </a:solidFill>
                <a:latin typeface="Segoe UI"/>
              </a:rPr>
              <a:t> block crashes the test</a:t>
            </a:r>
          </a:p>
          <a:p>
            <a:pPr>
              <a:spcAft>
                <a:spcPts val="1600"/>
              </a:spcAft>
            </a:pPr>
            <a:r>
              <a:rPr sz="2400" b="0">
                <a:solidFill>
                  <a:srgbClr val="1C2330"/>
                </a:solidFill>
                <a:latin typeface="Segoe UI"/>
              </a:rPr>
              <a:t>•  </a:t>
            </a:r>
            <a:r>
              <a:rPr sz="2400" b="0">
                <a:solidFill>
                  <a:srgbClr val="6A3FC0"/>
                </a:solidFill>
                <a:latin typeface="Consolas"/>
              </a:rPr>
              <a:t>assertEqual(...)</a:t>
            </a:r>
            <a:r>
              <a:rPr sz="2400" b="0">
                <a:solidFill>
                  <a:srgbClr val="1C2330"/>
                </a:solidFill>
                <a:latin typeface="Segoe UI"/>
              </a:rPr>
              <a:t> without </a:t>
            </a:r>
            <a:r>
              <a:rPr sz="2400" b="0">
                <a:solidFill>
                  <a:srgbClr val="6A3FC0"/>
                </a:solidFill>
                <a:latin typeface="Consolas"/>
              </a:rPr>
              <a:t>self.</a:t>
            </a:r>
            <a:r>
              <a:rPr sz="2400" b="0">
                <a:solidFill>
                  <a:srgbClr val="1C2330"/>
                </a:solidFill>
                <a:latin typeface="Segoe UI"/>
              </a:rPr>
              <a:t> gives </a:t>
            </a:r>
            <a:r>
              <a:rPr sz="2400" b="0">
                <a:solidFill>
                  <a:srgbClr val="6A3FC0"/>
                </a:solidFill>
                <a:latin typeface="Consolas"/>
              </a:rPr>
              <a:t>NameError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06  ·  Write tests that catch bugs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13</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Where you'll use this</a:t>
            </a:r>
          </a:p>
        </p:txBody>
      </p:sp>
      <p:sp>
        <p:nvSpPr>
          <p:cNvPr id="6" name="Rounded Rectangle 5"/>
          <p:cNvSpPr/>
          <p:nvPr/>
        </p:nvSpPr>
        <p:spPr>
          <a:xfrm>
            <a:off x="640080" y="1508760"/>
            <a:ext cx="10911535" cy="1554480"/>
          </a:xfrm>
          <a:prstGeom prst="roundRect">
            <a:avLst>
              <a:gd name="adj" fmla="val 6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10180015" cy="1280160"/>
          </a:xfrm>
          <a:prstGeom prst="rect">
            <a:avLst/>
          </a:prstGeom>
          <a:noFill/>
        </p:spPr>
        <p:txBody>
          <a:bodyPr wrap="square" anchor="ctr" lIns="0" rIns="0" tIns="0" bIns="0">
            <a:spAutoFit/>
          </a:bodyPr>
          <a:lstStyle/>
          <a:p>
            <a:pPr>
              <a:spcAft>
                <a:spcPts val="600"/>
              </a:spcAft>
            </a:pPr>
            <a:r>
              <a:rPr sz="2100" b="0">
                <a:solidFill>
                  <a:srgbClr val="1C2330"/>
                </a:solidFill>
                <a:latin typeface="Segoe UI"/>
              </a:rPr>
              <a:t>A teammate "tidies up" the blog's slug code and forgets </a:t>
            </a:r>
            <a:r>
              <a:rPr sz="2100" b="0">
                <a:solidFill>
                  <a:srgbClr val="6A3FC0"/>
                </a:solidFill>
                <a:latin typeface="Consolas"/>
              </a:rPr>
              <a:t>.lower()</a:t>
            </a:r>
            <a:r>
              <a:rPr sz="2100" b="0">
                <a:solidFill>
                  <a:srgbClr val="1C2330"/>
                </a:solidFill>
                <a:latin typeface="Segoe UI"/>
              </a:rPr>
              <a:t>. Without a test, links like </a:t>
            </a:r>
            <a:r>
              <a:rPr sz="2100" b="0">
                <a:solidFill>
                  <a:srgbClr val="6A3FC0"/>
                </a:solidFill>
                <a:latin typeface="Consolas"/>
              </a:rPr>
              <a:t>/blog/Hello-World/</a:t>
            </a:r>
            <a:r>
              <a:rPr sz="2100" b="0">
                <a:solidFill>
                  <a:srgbClr val="1C2330"/>
                </a:solidFill>
                <a:latin typeface="Segoe UI"/>
              </a:rPr>
              <a:t> go live. With your test, the change fails before anyone ships it.</a:t>
            </a:r>
          </a:p>
        </p:txBody>
      </p:sp>
      <p:sp>
        <p:nvSpPr>
          <p:cNvPr id="8" name="TextBox 7"/>
          <p:cNvSpPr txBox="1"/>
          <p:nvPr/>
        </p:nvSpPr>
        <p:spPr>
          <a:xfrm>
            <a:off x="640080" y="3337560"/>
            <a:ext cx="10911535" cy="2743200"/>
          </a:xfrm>
          <a:prstGeom prst="rect">
            <a:avLst/>
          </a:prstGeom>
          <a:noFill/>
        </p:spPr>
        <p:txBody>
          <a:bodyPr wrap="square" anchor="t" lIns="0" rIns="0" tIns="0" bIns="0">
            <a:spAutoFit/>
          </a:bodyPr>
          <a:lstStyle/>
          <a:p>
            <a:pPr>
              <a:spcAft>
                <a:spcPts val="1200"/>
              </a:spcAft>
            </a:pPr>
            <a:r>
              <a:rPr sz="2000" b="0">
                <a:solidFill>
                  <a:srgbClr val="1C2330"/>
                </a:solidFill>
                <a:latin typeface="Segoe UI"/>
              </a:rPr>
              <a:t>•  Django's </a:t>
            </a:r>
            <a:r>
              <a:rPr sz="2000" b="0">
                <a:solidFill>
                  <a:srgbClr val="6A3FC0"/>
                </a:solidFill>
                <a:latin typeface="Consolas"/>
              </a:rPr>
              <a:t>TestCase</a:t>
            </a:r>
            <a:r>
              <a:rPr sz="2000" b="0">
                <a:solidFill>
                  <a:srgbClr val="1C2330"/>
                </a:solidFill>
                <a:latin typeface="Segoe UI"/>
              </a:rPr>
              <a:t> builds on </a:t>
            </a:r>
            <a:r>
              <a:rPr sz="2000" b="0">
                <a:solidFill>
                  <a:srgbClr val="6A3FC0"/>
                </a:solidFill>
                <a:latin typeface="Consolas"/>
              </a:rPr>
              <a:t>unittest.TestCase</a:t>
            </a:r>
            <a:r>
              <a:rPr sz="2000" b="0">
                <a:solidFill>
                  <a:srgbClr val="1C2330"/>
                </a:solidFill>
                <a:latin typeface="Segoe UI"/>
              </a:rPr>
              <a:t>, with the same </a:t>
            </a:r>
            <a:r>
              <a:rPr sz="2000" b="0">
                <a:solidFill>
                  <a:srgbClr val="6A3FC0"/>
                </a:solidFill>
                <a:latin typeface="Consolas"/>
              </a:rPr>
              <a:t>assert...</a:t>
            </a:r>
            <a:r>
              <a:rPr sz="2000" b="0">
                <a:solidFill>
                  <a:srgbClr val="1C2330"/>
                </a:solidFill>
                <a:latin typeface="Segoe UI"/>
              </a:rPr>
              <a:t> methods</a:t>
            </a:r>
          </a:p>
          <a:p>
            <a:pPr>
              <a:spcAft>
                <a:spcPts val="1200"/>
              </a:spcAft>
            </a:pPr>
            <a:r>
              <a:rPr sz="2000" b="0">
                <a:solidFill>
                  <a:srgbClr val="1C2330"/>
                </a:solidFill>
                <a:latin typeface="Segoe UI"/>
              </a:rPr>
              <a:t>•  Every exercise in this course is graded by tests written this way</a:t>
            </a:r>
          </a:p>
          <a:p>
            <a:pPr>
              <a:spcAft>
                <a:spcPts val="1200"/>
              </a:spcAft>
            </a:pPr>
            <a:r>
              <a:rPr sz="2000" b="0">
                <a:solidFill>
                  <a:srgbClr val="1C2330"/>
                </a:solidFill>
                <a:latin typeface="Segoe UI"/>
              </a:rPr>
              <a:t>•  Real projects add a test for each endpoint, so changes can't quietly break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06  ·  Write tests that catch bugs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14</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Check yourself</a:t>
            </a:r>
          </a:p>
        </p:txBody>
      </p:sp>
      <p:sp>
        <p:nvSpPr>
          <p:cNvPr id="6" name="TextBox 5"/>
          <p:cNvSpPr txBox="1"/>
          <p:nvPr/>
        </p:nvSpPr>
        <p:spPr>
          <a:xfrm>
            <a:off x="640080" y="1600200"/>
            <a:ext cx="10911535" cy="4526280"/>
          </a:xfrm>
          <a:prstGeom prst="rect">
            <a:avLst/>
          </a:prstGeom>
          <a:noFill/>
        </p:spPr>
        <p:txBody>
          <a:bodyPr wrap="square" anchor="t" lIns="0" rIns="0" tIns="0" bIns="0">
            <a:spAutoFit/>
          </a:bodyPr>
          <a:lstStyle/>
          <a:p>
            <a:pPr>
              <a:spcAft>
                <a:spcPts val="1800"/>
              </a:spcAft>
            </a:pPr>
            <a:r>
              <a:rPr sz="2300" b="0">
                <a:solidFill>
                  <a:srgbClr val="1C2330"/>
                </a:solidFill>
                <a:latin typeface="Segoe UI"/>
              </a:rPr>
              <a:t>1.  Why does the example test with </a:t>
            </a:r>
            <a:r>
              <a:rPr sz="2300" b="0">
                <a:solidFill>
                  <a:srgbClr val="6A3FC0"/>
                </a:solidFill>
                <a:latin typeface="Consolas"/>
              </a:rPr>
              <a:t>"hello world"</a:t>
            </a:r>
            <a:r>
              <a:rPr sz="2300" b="0">
                <a:solidFill>
                  <a:srgbClr val="1C2330"/>
                </a:solidFill>
                <a:latin typeface="Segoe UI"/>
              </a:rPr>
              <a:t> catch none of the bugs?</a:t>
            </a:r>
          </a:p>
          <a:p>
            <a:pPr>
              <a:spcAft>
                <a:spcPts val="1800"/>
              </a:spcAft>
            </a:pPr>
            <a:r>
              <a:rPr sz="2300" b="0">
                <a:solidFill>
                  <a:srgbClr val="1C2330"/>
                </a:solidFill>
                <a:latin typeface="Segoe UI"/>
              </a:rPr>
              <a:t>2.  Your tests pass on a buggy version. What does that tell you?</a:t>
            </a:r>
          </a:p>
          <a:p>
            <a:pPr>
              <a:spcAft>
                <a:spcPts val="1800"/>
              </a:spcAft>
            </a:pPr>
            <a:r>
              <a:rPr sz="2300" b="0">
                <a:solidFill>
                  <a:srgbClr val="1C2330"/>
                </a:solidFill>
                <a:latin typeface="Segoe UI"/>
              </a:rPr>
              <a:t>3.  What happens if two test methods have the same name?</a:t>
            </a:r>
          </a:p>
          <a:p>
            <a:pPr>
              <a:spcAft>
                <a:spcPts val="1800"/>
              </a:spcAft>
            </a:pPr>
            <a:r>
              <a:rPr sz="2300" b="0">
                <a:solidFill>
                  <a:srgbClr val="1C2330"/>
                </a:solidFill>
                <a:latin typeface="Segoe UI"/>
              </a:rPr>
              <a:t>4.  Why must </a:t>
            </a:r>
            <a:r>
              <a:rPr sz="2300" b="0">
                <a:solidFill>
                  <a:srgbClr val="6A3FC0"/>
                </a:solidFill>
                <a:latin typeface="Consolas"/>
              </a:rPr>
              <a:t>make_slug("!!!")</a:t>
            </a:r>
            <a:r>
              <a:rPr sz="2300" b="0">
                <a:solidFill>
                  <a:srgbClr val="1C2330"/>
                </a:solidFill>
                <a:latin typeface="Segoe UI"/>
              </a:rPr>
              <a:t> be indented under the </a:t>
            </a:r>
            <a:r>
              <a:rPr sz="2300" b="0">
                <a:solidFill>
                  <a:srgbClr val="6A3FC0"/>
                </a:solidFill>
                <a:latin typeface="Consolas"/>
              </a:rPr>
              <a:t>with</a:t>
            </a:r>
            <a:r>
              <a:rPr sz="2300" b="0">
                <a:solidFill>
                  <a:srgbClr val="1C2330"/>
                </a:solidFill>
                <a:latin typeface="Segoe UI"/>
              </a:rPr>
              <a:t> line?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8A4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0"/>
            <a:ext cx="10911535" cy="274320"/>
          </a:xfrm>
          <a:prstGeom prst="rect">
            <a:avLst/>
          </a:prstGeom>
          <a:noFill/>
        </p:spPr>
        <p:txBody>
          <a:bodyPr wrap="square" anchor="t" lIns="0" rIns="0" tIns="0" bIns="0">
            <a:spAutoFit/>
          </a:bodyPr>
          <a:lstStyle/>
          <a:p>
            <a:pPr>
              <a:spcAft>
                <a:spcPts val="600"/>
              </a:spcAft>
            </a:pPr>
            <a:r>
              <a:rPr sz="1100" b="0">
                <a:solidFill>
                  <a:srgbClr val="5D6778"/>
                </a:solidFill>
                <a:latin typeface="Segoe UI"/>
              </a:rPr>
              <a:t>Backend Lab  ·  Exercise 06  ·  Write tests that catch bugs</a:t>
            </a:r>
          </a:p>
        </p:txBody>
      </p:sp>
      <p:sp>
        <p:nvSpPr>
          <p:cNvPr id="4" name="TextBox 3"/>
          <p:cNvSpPr txBox="1"/>
          <p:nvPr/>
        </p:nvSpPr>
        <p:spPr>
          <a:xfrm>
            <a:off x="10637215" y="6400800"/>
            <a:ext cx="914400" cy="274320"/>
          </a:xfrm>
          <a:prstGeom prst="rect">
            <a:avLst/>
          </a:prstGeom>
          <a:noFill/>
        </p:spPr>
        <p:txBody>
          <a:bodyPr wrap="square" anchor="t" lIns="0" rIns="0" tIns="0" bIns="0">
            <a:spAutoFit/>
          </a:bodyPr>
          <a:lstStyle/>
          <a:p>
            <a:pPr algn="r">
              <a:spcAft>
                <a:spcPts val="600"/>
              </a:spcAft>
            </a:pPr>
            <a:r>
              <a:rPr sz="1100" b="0">
                <a:solidFill>
                  <a:srgbClr val="5D6778"/>
                </a:solidFill>
                <a:latin typeface="Segoe UI"/>
              </a:rPr>
              <a:t>15</a:t>
            </a:r>
          </a:p>
        </p:txBody>
      </p:sp>
      <p:sp>
        <p:nvSpPr>
          <p:cNvPr id="5" name="TextBox 4"/>
          <p:cNvSpPr txBox="1"/>
          <p:nvPr/>
        </p:nvSpPr>
        <p:spPr>
          <a:xfrm>
            <a:off x="640080" y="411480"/>
            <a:ext cx="10911535" cy="822960"/>
          </a:xfrm>
          <a:prstGeom prst="rect">
            <a:avLst/>
          </a:prstGeom>
          <a:noFill/>
        </p:spPr>
        <p:txBody>
          <a:bodyPr wrap="square" anchor="ctr" lIns="0" rIns="0" tIns="0" bIns="0">
            <a:spAutoFit/>
          </a:bodyPr>
          <a:lstStyle/>
          <a:p>
            <a:pPr>
              <a:spcAft>
                <a:spcPts val="600"/>
              </a:spcAft>
            </a:pPr>
            <a:r>
              <a:rPr sz="3200" b="1">
                <a:solidFill>
                  <a:srgbClr val="1C2330"/>
                </a:solidFill>
                <a:latin typeface="Segoe UI"/>
              </a:rPr>
              <a:t>Keep learning</a:t>
            </a:r>
          </a:p>
        </p:txBody>
      </p:sp>
      <p:sp>
        <p:nvSpPr>
          <p:cNvPr id="6" name="TextBox 5"/>
          <p:cNvSpPr txBox="1"/>
          <p:nvPr/>
        </p:nvSpPr>
        <p:spPr>
          <a:xfrm>
            <a:off x="640080" y="1463040"/>
            <a:ext cx="10911535" cy="4663440"/>
          </a:xfrm>
          <a:prstGeom prst="rect">
            <a:avLst/>
          </a:prstGeom>
          <a:noFill/>
        </p:spPr>
        <p:txBody>
          <a:bodyPr wrap="square" anchor="t" lIns="0" rIns="0" tIns="0" bIns="0">
            <a:spAutoFit/>
          </a:bodyPr>
          <a:lstStyle/>
          <a:p>
            <a:pPr>
              <a:spcAft>
                <a:spcPts val="200"/>
              </a:spcAft>
            </a:pPr>
            <a:r>
              <a:rPr sz="2000" b="1">
                <a:solidFill>
                  <a:srgbClr val="2F6FDF"/>
                </a:solidFill>
                <a:latin typeface="Segoe UI"/>
                <a:hlinkClick r:id="rId2"/>
              </a:rPr>
              <a:t>How to Write Unit Tests in Python – with Example Test Code</a:t>
            </a:r>
          </a:p>
          <a:p>
            <a:pPr>
              <a:spcAft>
                <a:spcPts val="1200"/>
              </a:spcAft>
            </a:pPr>
            <a:r>
              <a:rPr sz="1500" b="0">
                <a:solidFill>
                  <a:srgbClr val="5D6778"/>
                </a:solidFill>
                <a:latin typeface="Segoe UI"/>
              </a:rPr>
              <a:t>freeCodeCamp · article · beginner. Start here: writes a TestCase for a small function using assertEqual and assertRaises, the same pattern as your slug tests.</a:t>
            </a:r>
          </a:p>
          <a:p>
            <a:pPr>
              <a:spcAft>
                <a:spcPts val="200"/>
              </a:spcAft>
            </a:pPr>
            <a:r>
              <a:rPr sz="2000" b="1">
                <a:solidFill>
                  <a:srgbClr val="2F6FDF"/>
                </a:solidFill>
                <a:latin typeface="Segoe UI"/>
                <a:hlinkClick r:id="rId3"/>
              </a:rPr>
              <a:t>Writing your first Django app, part 5 (testing)</a:t>
            </a:r>
          </a:p>
          <a:p>
            <a:pPr>
              <a:spcAft>
                <a:spcPts val="1200"/>
              </a:spcAft>
            </a:pPr>
            <a:r>
              <a:rPr sz="1500" b="0">
                <a:solidFill>
                  <a:srgbClr val="5D6778"/>
                </a:solidFill>
                <a:latin typeface="Segoe UI"/>
              </a:rPr>
              <a:t>Django docs · tutorial · beginner. Shows how to find a real bug, write a test that exposes it, then fix it: exactly the mindset this exercise trains.</a:t>
            </a:r>
          </a:p>
          <a:p>
            <a:pPr>
              <a:spcAft>
                <a:spcPts val="200"/>
              </a:spcAft>
            </a:pPr>
            <a:r>
              <a:rPr sz="2000" b="1">
                <a:solidFill>
                  <a:srgbClr val="2F6FDF"/>
                </a:solidFill>
                <a:latin typeface="Segoe UI"/>
                <a:hlinkClick r:id="rId4"/>
              </a:rPr>
              <a:t>unittest: Unit testing framework</a:t>
            </a:r>
          </a:p>
          <a:p>
            <a:pPr>
              <a:spcAft>
                <a:spcPts val="1200"/>
              </a:spcAft>
            </a:pPr>
            <a:r>
              <a:rPr sz="1500" b="0">
                <a:solidFill>
                  <a:srgbClr val="5D6778"/>
                </a:solidFill>
                <a:latin typeface="Segoe UI"/>
              </a:rPr>
              <a:t>Python docs · docs · intermediate. The official list of assert methods and how test discovery works; keep it open while writing tests.</a:t>
            </a:r>
          </a:p>
          <a:p>
            <a:pPr>
              <a:spcAft>
                <a:spcPts val="200"/>
              </a:spcAft>
            </a:pPr>
            <a:r>
              <a:rPr sz="2000" b="1">
                <a:solidFill>
                  <a:srgbClr val="2F6FDF"/>
                </a:solidFill>
                <a:latin typeface="Segoe UI"/>
                <a:hlinkClick r:id="rId5"/>
              </a:rPr>
              <a:t>Writing and running tests</a:t>
            </a:r>
          </a:p>
          <a:p>
            <a:pPr>
              <a:spcAft>
                <a:spcPts val="1200"/>
              </a:spcAft>
            </a:pPr>
            <a:r>
              <a:rPr sz="1500" b="0">
                <a:solidFill>
                  <a:srgbClr val="5D6778"/>
                </a:solidFill>
                <a:latin typeface="Segoe UI"/>
              </a:rPr>
              <a:t>Django docs · docs · intermediate. How Django builds on unittest with its own TestCase and test database, for when you test models and views.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