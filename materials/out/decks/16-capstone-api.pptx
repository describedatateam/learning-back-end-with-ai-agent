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goes with exercise 16, the capstone. By the end you should be able to explain how model, serializer, viewset, router, permissions and ownership work together, and why scoping get_queryset protects every action at once.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 desk is the permission check: it turns away people who aren't guests at all. The key card is the filtered list of tasks. This is a small version of core/api_views.py in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except the last two is something you built in an earlier exercise. The two new ones are where the privacy comes from.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is the trick. Because the viewset only looks inside Ada's tasks, Bob's are invisible for reading, changing and deleting. No separate check per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notice: owner shows the username "ada", not a number. And test 4 tries to make Bob the owner; your API must ignore that. The starter answers 404 to everything because nothing is registered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a viewset method, self.request.user is the user who sent the current request. Anonymous means not logged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a method with the same name as one the class already has, and the framework calls yours instead. open belongs to Shop, but it calls your opening_message. ModelViewSet's built-in code calls self.get_queryset() and self.perform_create(serializer)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read-only field was ignored in the incoming data. Common mistake: adding the field but forgetting its name in Meta.fields, so it never appears.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owner gets set without trusting the client. The client never gets to choose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basename you get: AssertionError: basename argument not specified, and could not automatically determine the name from the viewset. That's the router's way of saying it has nothing to guess from.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get_queryset uses the same two tools: filter by owner, order by 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tests can only pass once step 5 connects the viewset to a URL. Test 8 needs no code: title is required in the model, so the serializer already rejects an empty 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reecodecamp.org/news/use-django-rest-framework-to-create-web-apis/" TargetMode="External"/><Relationship Id="rId3" Type="http://schemas.openxmlformats.org/officeDocument/2006/relationships/hyperlink" Target="https://www.django-rest-framework.org/tutorial/4-authentication-and-permissions/" TargetMode="External"/><Relationship Id="rId4" Type="http://schemas.openxmlformats.org/officeDocument/2006/relationships/hyperlink" Target="https://www.django-rest-framework.org/api-guide/filtering/#filtering-against-the-current-user" TargetMode="External"/><Relationship Id="rId5" Type="http://schemas.openxmlformats.org/officeDocument/2006/relationships/hyperlink" Target="https://www.django-rest-framework.org/api-guide/generic-views/" TargetMode="External"/><Relationship Id="rId6" Type="http://schemas.openxmlformats.org/officeDocument/2006/relationships/hyperlink" Target="https://top10.owasp.org/2025/A01_2025-Broken_Access_Contro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51C"/>
        </a:solidFill>
        <a:effectLst/>
      </p:bgPr>
    </p:bg>
    <p:spTree>
      <p:nvGrpSpPr>
        <p:cNvPr id="1" name=""/>
        <p:cNvGrpSpPr/>
        <p:nvPr/>
      </p:nvGrpSpPr>
      <p:grpSpPr/>
      <p:sp>
        <p:nvSpPr>
          <p:cNvPr id="2" name="TextBox 1"/>
          <p:cNvSpPr txBox="1"/>
          <p:nvPr/>
        </p:nvSpPr>
        <p:spPr>
          <a:xfrm>
            <a:off x="640080" y="1554480"/>
            <a:ext cx="8229600" cy="365760"/>
          </a:xfrm>
          <a:prstGeom prst="rect">
            <a:avLst/>
          </a:prstGeom>
          <a:noFill/>
        </p:spPr>
        <p:txBody>
          <a:bodyPr wrap="square" anchor="t" lIns="0" rIns="0" tIns="0" bIns="0">
            <a:spAutoFit/>
          </a:bodyPr>
          <a:lstStyle/>
          <a:p>
            <a:pPr>
              <a:spcAft>
                <a:spcPts val="600"/>
              </a:spcAft>
            </a:pPr>
            <a:r>
              <a:rPr sz="1400" b="1">
                <a:solidFill>
                  <a:srgbClr val="B38CFF"/>
                </a:solidFill>
                <a:latin typeface="Segoe UI"/>
              </a:rPr>
              <a:t>WEEK 4  ·  EXERCISE 16  ·  PUTTING IT TOGETHER</a:t>
            </a:r>
          </a:p>
        </p:txBody>
      </p:sp>
      <p:sp>
        <p:nvSpPr>
          <p:cNvPr id="3" name="TextBox 2"/>
          <p:cNvSpPr txBox="1"/>
          <p:nvPr/>
        </p:nvSpPr>
        <p:spPr>
          <a:xfrm>
            <a:off x="640080" y="2103120"/>
            <a:ext cx="10911535" cy="2011680"/>
          </a:xfrm>
          <a:prstGeom prst="rect">
            <a:avLst/>
          </a:prstGeom>
          <a:noFill/>
        </p:spPr>
        <p:txBody>
          <a:bodyPr wrap="square" anchor="t" lIns="0" rIns="0" tIns="0" bIns="0">
            <a:spAutoFit/>
          </a:bodyPr>
          <a:lstStyle/>
          <a:p>
            <a:pPr>
              <a:spcAft>
                <a:spcPts val="600"/>
              </a:spcAft>
            </a:pPr>
            <a:r>
              <a:rPr sz="5400" b="1">
                <a:solidFill>
                  <a:srgbClr val="FFFFFF"/>
                </a:solidFill>
                <a:latin typeface="Segoe UI"/>
              </a:rPr>
              <a:t>Capstone: a private task API</a:t>
            </a:r>
          </a:p>
        </p:txBody>
      </p:sp>
      <p:sp>
        <p:nvSpPr>
          <p:cNvPr id="4" name="Rectangle 3"/>
          <p:cNvSpPr/>
          <p:nvPr/>
        </p:nvSpPr>
        <p:spPr>
          <a:xfrm>
            <a:off x="640080" y="4160520"/>
            <a:ext cx="1280160" cy="73152"/>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480560"/>
            <a:ext cx="10911535" cy="1097280"/>
          </a:xfrm>
          <a:prstGeom prst="rect">
            <a:avLst/>
          </a:prstGeom>
          <a:noFill/>
        </p:spPr>
        <p:txBody>
          <a:bodyPr wrap="square" anchor="t" lIns="0" rIns="0" tIns="0" bIns="0">
            <a:spAutoFit/>
          </a:bodyPr>
          <a:lstStyle/>
          <a:p>
            <a:pPr>
              <a:spcAft>
                <a:spcPts val="600"/>
              </a:spcAft>
            </a:pPr>
            <a:r>
              <a:rPr sz="2200" b="0">
                <a:solidFill>
                  <a:srgbClr val="C9D1DE"/>
                </a:solidFill>
                <a:latin typeface="Segoe UI"/>
              </a:rPr>
              <a:t>Put the pieces together: a to-do API where every user sees only their own tasks.</a:t>
            </a:r>
          </a:p>
        </p:txBody>
      </p:sp>
      <p:sp>
        <p:nvSpPr>
          <p:cNvPr id="6" name="TextBox 5"/>
          <p:cNvSpPr txBox="1"/>
          <p:nvPr/>
        </p:nvSpPr>
        <p:spPr>
          <a:xfrm>
            <a:off x="640080" y="6035040"/>
            <a:ext cx="5486400" cy="365760"/>
          </a:xfrm>
          <a:prstGeom prst="rect">
            <a:avLst/>
          </a:prstGeom>
          <a:noFill/>
        </p:spPr>
        <p:txBody>
          <a:bodyPr wrap="square" anchor="t" lIns="0" rIns="0" tIns="0" bIns="0">
            <a:spAutoFit/>
          </a:bodyPr>
          <a:lstStyle/>
          <a:p>
            <a:pPr>
              <a:spcAft>
                <a:spcPts val="600"/>
              </a:spcAft>
            </a:pPr>
            <a:r>
              <a:rPr sz="1400" b="1">
                <a:solidFill>
                  <a:srgbClr val="9AA4B5"/>
                </a:solidFill>
                <a:latin typeface="Segoe UI"/>
              </a:rPr>
              <a:t>Backend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The big idea</a:t>
            </a:r>
          </a:p>
        </p:txBody>
      </p:sp>
      <p:sp>
        <p:nvSpPr>
          <p:cNvPr id="6" name="Rounded Rectangle 5"/>
          <p:cNvSpPr/>
          <p:nvPr/>
        </p:nvSpPr>
        <p:spPr>
          <a:xfrm>
            <a:off x="640080" y="1554480"/>
            <a:ext cx="10911535" cy="420624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997135" cy="3840480"/>
          </a:xfrm>
          <a:prstGeom prst="rect">
            <a:avLst/>
          </a:prstGeom>
          <a:noFill/>
        </p:spPr>
        <p:txBody>
          <a:bodyPr wrap="square" anchor="ctr" lIns="0" rIns="0" tIns="0" bIns="0">
            <a:spAutoFit/>
          </a:bodyPr>
          <a:lstStyle/>
          <a:p>
            <a:pPr>
              <a:spcAft>
                <a:spcPts val="1400"/>
              </a:spcAft>
            </a:pPr>
            <a:r>
              <a:rPr sz="2400" b="0">
                <a:solidFill>
                  <a:srgbClr val="1C2330"/>
                </a:solidFill>
                <a:latin typeface="Segoe UI"/>
              </a:rPr>
              <a:t>Think of a hotel. Everyone uses the same front door and corridors (the </a:t>
            </a:r>
            <a:r>
              <a:rPr sz="2400" b="1">
                <a:solidFill>
                  <a:srgbClr val="1C2330"/>
                </a:solidFill>
                <a:latin typeface="Segoe UI"/>
              </a:rPr>
              <a:t>same URLs</a:t>
            </a:r>
            <a:r>
              <a:rPr sz="2400" b="0">
                <a:solidFill>
                  <a:srgbClr val="1C2330"/>
                </a:solidFill>
                <a:latin typeface="Segoe UI"/>
              </a:rPr>
              <a:t>), but your key card opens only </a:t>
            </a:r>
            <a:r>
              <a:rPr sz="2400" b="1">
                <a:solidFill>
                  <a:srgbClr val="1C2330"/>
                </a:solidFill>
                <a:latin typeface="Segoe UI"/>
              </a:rPr>
              <a:t>your</a:t>
            </a:r>
            <a:r>
              <a:rPr sz="2400" b="0">
                <a:solidFill>
                  <a:srgbClr val="1C2330"/>
                </a:solidFill>
                <a:latin typeface="Segoe UI"/>
              </a:rPr>
              <a:t> room.</a:t>
            </a:r>
          </a:p>
          <a:p>
            <a:pPr>
              <a:spcAft>
                <a:spcPts val="1400"/>
              </a:spcAft>
            </a:pPr>
            <a:r>
              <a:rPr sz="2400" b="0">
                <a:solidFill>
                  <a:srgbClr val="1C2330"/>
                </a:solidFill>
                <a:latin typeface="Segoe UI"/>
              </a:rPr>
              <a:t>In data terms: all tasks sit in one big table. For each request, filter it to the rows whose </a:t>
            </a:r>
            <a:r>
              <a:rPr sz="2400" b="0">
                <a:solidFill>
                  <a:srgbClr val="6A3FC0"/>
                </a:solidFill>
                <a:latin typeface="Consolas"/>
              </a:rPr>
              <a:t>owner</a:t>
            </a:r>
            <a:r>
              <a:rPr sz="2400" b="0">
                <a:solidFill>
                  <a:srgbClr val="1C2330"/>
                </a:solidFill>
                <a:latin typeface="Segoe UI"/>
              </a:rPr>
              <a:t> is </a:t>
            </a:r>
            <a:r>
              <a:rPr sz="2400" b="1">
                <a:solidFill>
                  <a:srgbClr val="1C2330"/>
                </a:solidFill>
                <a:latin typeface="Segoe UI"/>
              </a:rPr>
              <a:t>the logged-in user</a:t>
            </a:r>
            <a:r>
              <a:rPr sz="2400" b="0">
                <a:solidFill>
                  <a:srgbClr val="1C2330"/>
                </a:solidFill>
                <a:latin typeface="Segoe UI"/>
              </a:rPr>
              <a:t>, and only ever work with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Recap: how the pieces fit together</a:t>
            </a:r>
          </a:p>
        </p:txBody>
      </p:sp>
      <p:sp>
        <p:nvSpPr>
          <p:cNvPr id="6" name="TextBox 5"/>
          <p:cNvSpPr txBox="1"/>
          <p:nvPr/>
        </p:nvSpPr>
        <p:spPr>
          <a:xfrm>
            <a:off x="640080" y="15087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Model </a:t>
            </a:r>
            <a:r>
              <a:rPr sz="2200" b="1">
                <a:solidFill>
                  <a:srgbClr val="8A4FE0"/>
                </a:solidFill>
                <a:latin typeface="Consolas"/>
              </a:rPr>
              <a:t>Task</a:t>
            </a:r>
          </a:p>
        </p:txBody>
      </p:sp>
      <p:sp>
        <p:nvSpPr>
          <p:cNvPr id="7" name="TextBox 6"/>
          <p:cNvSpPr txBox="1"/>
          <p:nvPr/>
        </p:nvSpPr>
        <p:spPr>
          <a:xfrm>
            <a:off x="3840480" y="1508760"/>
            <a:ext cx="7711135" cy="5715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table: </a:t>
            </a:r>
            <a:r>
              <a:rPr sz="1900" b="0">
                <a:solidFill>
                  <a:srgbClr val="6A3FC0"/>
                </a:solidFill>
                <a:latin typeface="Consolas"/>
              </a:rPr>
              <a:t>owner</a:t>
            </a:r>
            <a:r>
              <a:rPr sz="1900" b="0">
                <a:solidFill>
                  <a:srgbClr val="1C2330"/>
                </a:solidFill>
                <a:latin typeface="Segoe UI"/>
              </a:rPr>
              <a:t>, </a:t>
            </a:r>
            <a:r>
              <a:rPr sz="1900" b="0">
                <a:solidFill>
                  <a:srgbClr val="6A3FC0"/>
                </a:solidFill>
                <a:latin typeface="Consolas"/>
              </a:rPr>
              <a:t>title</a:t>
            </a:r>
            <a:r>
              <a:rPr sz="1900" b="0">
                <a:solidFill>
                  <a:srgbClr val="1C2330"/>
                </a:solidFill>
                <a:latin typeface="Segoe UI"/>
              </a:rPr>
              <a:t>, </a:t>
            </a:r>
            <a:r>
              <a:rPr sz="1900" b="0">
                <a:solidFill>
                  <a:srgbClr val="6A3FC0"/>
                </a:solidFill>
                <a:latin typeface="Consolas"/>
              </a:rPr>
              <a:t>done</a:t>
            </a:r>
            <a:r>
              <a:rPr sz="1900" b="0">
                <a:solidFill>
                  <a:srgbClr val="1C2330"/>
                </a:solidFill>
                <a:latin typeface="Segoe UI"/>
              </a:rPr>
              <a:t>, </a:t>
            </a:r>
            <a:r>
              <a:rPr sz="1900" b="0">
                <a:solidFill>
                  <a:srgbClr val="6A3FC0"/>
                </a:solidFill>
                <a:latin typeface="Consolas"/>
              </a:rPr>
              <a:t>created_at</a:t>
            </a:r>
            <a:r>
              <a:rPr sz="1900" b="0">
                <a:solidFill>
                  <a:srgbClr val="1C2330"/>
                </a:solidFill>
                <a:latin typeface="Segoe UI"/>
              </a:rPr>
              <a:t>. Given to you.</a:t>
            </a:r>
          </a:p>
        </p:txBody>
      </p:sp>
      <p:sp>
        <p:nvSpPr>
          <p:cNvPr id="8" name="TextBox 7"/>
          <p:cNvSpPr txBox="1"/>
          <p:nvPr/>
        </p:nvSpPr>
        <p:spPr>
          <a:xfrm>
            <a:off x="640080" y="20802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Ownership</a:t>
            </a:r>
          </a:p>
        </p:txBody>
      </p:sp>
      <p:sp>
        <p:nvSpPr>
          <p:cNvPr id="9" name="TextBox 8"/>
          <p:cNvSpPr txBox="1"/>
          <p:nvPr/>
        </p:nvSpPr>
        <p:spPr>
          <a:xfrm>
            <a:off x="3840480" y="2080260"/>
            <a:ext cx="7711135" cy="57150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owner</a:t>
            </a:r>
            <a:r>
              <a:rPr sz="1900" b="0">
                <a:solidFill>
                  <a:srgbClr val="1C2330"/>
                </a:solidFill>
                <a:latin typeface="Segoe UI"/>
              </a:rPr>
              <a:t> points to a user; </a:t>
            </a:r>
            <a:r>
              <a:rPr sz="1900" b="0">
                <a:solidFill>
                  <a:srgbClr val="6A3FC0"/>
                </a:solidFill>
                <a:latin typeface="Consolas"/>
              </a:rPr>
              <a:t>filter(owner=user)</a:t>
            </a:r>
            <a:r>
              <a:rPr sz="1900" b="0">
                <a:solidFill>
                  <a:srgbClr val="1C2330"/>
                </a:solidFill>
                <a:latin typeface="Segoe UI"/>
              </a:rPr>
              <a:t> gets their tasks.</a:t>
            </a:r>
          </a:p>
        </p:txBody>
      </p:sp>
      <p:cxnSp>
        <p:nvCxnSpPr>
          <p:cNvPr id="10" name="Connector 9"/>
          <p:cNvCxnSpPr/>
          <p:nvPr/>
        </p:nvCxnSpPr>
        <p:spPr>
          <a:xfrm>
            <a:off x="640080" y="20802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26517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Serializer</a:t>
            </a:r>
          </a:p>
        </p:txBody>
      </p:sp>
      <p:sp>
        <p:nvSpPr>
          <p:cNvPr id="12" name="TextBox 11"/>
          <p:cNvSpPr txBox="1"/>
          <p:nvPr/>
        </p:nvSpPr>
        <p:spPr>
          <a:xfrm>
            <a:off x="3840480" y="2651760"/>
            <a:ext cx="7711135" cy="5715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Task to JSON dict, and checks incoming data. Add a read-only </a:t>
            </a:r>
            <a:r>
              <a:rPr sz="1900" b="0">
                <a:solidFill>
                  <a:srgbClr val="6A3FC0"/>
                </a:solidFill>
                <a:latin typeface="Consolas"/>
              </a:rPr>
              <a:t>owner</a:t>
            </a:r>
            <a:r>
              <a:rPr sz="1900" b="0">
                <a:solidFill>
                  <a:srgbClr val="1C2330"/>
                </a:solidFill>
                <a:latin typeface="Segoe UI"/>
              </a:rPr>
              <a:t>.</a:t>
            </a:r>
          </a:p>
        </p:txBody>
      </p:sp>
      <p:cxnSp>
        <p:nvCxnSpPr>
          <p:cNvPr id="13" name="Connector 12"/>
          <p:cNvCxnSpPr/>
          <p:nvPr/>
        </p:nvCxnSpPr>
        <p:spPr>
          <a:xfrm>
            <a:off x="640080" y="2651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2232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Viewset</a:t>
            </a:r>
          </a:p>
        </p:txBody>
      </p:sp>
      <p:sp>
        <p:nvSpPr>
          <p:cNvPr id="15" name="TextBox 14"/>
          <p:cNvSpPr txBox="1"/>
          <p:nvPr/>
        </p:nvSpPr>
        <p:spPr>
          <a:xfrm>
            <a:off x="3840480" y="3223260"/>
            <a:ext cx="7711135" cy="5715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One class for list, create, read, update and delete.</a:t>
            </a:r>
          </a:p>
        </p:txBody>
      </p:sp>
      <p:cxnSp>
        <p:nvCxnSpPr>
          <p:cNvPr id="16" name="Connector 15"/>
          <p:cNvCxnSpPr/>
          <p:nvPr/>
        </p:nvCxnSpPr>
        <p:spPr>
          <a:xfrm>
            <a:off x="640080" y="32232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37947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Router</a:t>
            </a:r>
          </a:p>
        </p:txBody>
      </p:sp>
      <p:sp>
        <p:nvSpPr>
          <p:cNvPr id="18" name="TextBox 17"/>
          <p:cNvSpPr txBox="1"/>
          <p:nvPr/>
        </p:nvSpPr>
        <p:spPr>
          <a:xfrm>
            <a:off x="3840480" y="3794760"/>
            <a:ext cx="7711135" cy="5715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Creates </a:t>
            </a:r>
            <a:r>
              <a:rPr sz="1900" b="0">
                <a:solidFill>
                  <a:srgbClr val="6A3FC0"/>
                </a:solidFill>
                <a:latin typeface="Consolas"/>
              </a:rPr>
              <a:t>/tasks/</a:t>
            </a:r>
            <a:r>
              <a:rPr sz="1900" b="0">
                <a:solidFill>
                  <a:srgbClr val="1C2330"/>
                </a:solidFill>
                <a:latin typeface="Segoe UI"/>
              </a:rPr>
              <a:t> and </a:t>
            </a:r>
            <a:r>
              <a:rPr sz="1900" b="0">
                <a:solidFill>
                  <a:srgbClr val="6A3FC0"/>
                </a:solidFill>
                <a:latin typeface="Consolas"/>
              </a:rPr>
              <a:t>/tasks/&lt;id&gt;/</a:t>
            </a:r>
            <a:r>
              <a:rPr sz="1900" b="0">
                <a:solidFill>
                  <a:srgbClr val="1C2330"/>
                </a:solidFill>
                <a:latin typeface="Segoe UI"/>
              </a:rPr>
              <a:t> and connects them to the viewset.</a:t>
            </a:r>
          </a:p>
        </p:txBody>
      </p:sp>
      <p:cxnSp>
        <p:nvCxnSpPr>
          <p:cNvPr id="19" name="Connector 18"/>
          <p:cNvCxnSpPr/>
          <p:nvPr/>
        </p:nvCxnSpPr>
        <p:spPr>
          <a:xfrm>
            <a:off x="640080" y="3794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3662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Permissions</a:t>
            </a:r>
          </a:p>
        </p:txBody>
      </p:sp>
      <p:sp>
        <p:nvSpPr>
          <p:cNvPr id="21" name="TextBox 20"/>
          <p:cNvSpPr txBox="1"/>
          <p:nvPr/>
        </p:nvSpPr>
        <p:spPr>
          <a:xfrm>
            <a:off x="3840480" y="4366260"/>
            <a:ext cx="7711135" cy="57150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IsAuthenticated</a:t>
            </a:r>
            <a:r>
              <a:rPr sz="1900" b="0">
                <a:solidFill>
                  <a:srgbClr val="1C2330"/>
                </a:solidFill>
                <a:latin typeface="Segoe UI"/>
              </a:rPr>
              <a:t>: anonymous requests get 401.</a:t>
            </a:r>
          </a:p>
        </p:txBody>
      </p:sp>
      <p:cxnSp>
        <p:nvCxnSpPr>
          <p:cNvPr id="22" name="Connector 21"/>
          <p:cNvCxnSpPr/>
          <p:nvPr/>
        </p:nvCxnSpPr>
        <p:spPr>
          <a:xfrm>
            <a:off x="640080" y="43662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49377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New: </a:t>
            </a:r>
            <a:r>
              <a:rPr sz="2200" b="1">
                <a:solidFill>
                  <a:srgbClr val="8A4FE0"/>
                </a:solidFill>
                <a:latin typeface="Consolas"/>
              </a:rPr>
              <a:t>get_queryset</a:t>
            </a:r>
          </a:p>
        </p:txBody>
      </p:sp>
      <p:sp>
        <p:nvSpPr>
          <p:cNvPr id="24" name="TextBox 23"/>
          <p:cNvSpPr txBox="1"/>
          <p:nvPr/>
        </p:nvSpPr>
        <p:spPr>
          <a:xfrm>
            <a:off x="3840480" y="4937760"/>
            <a:ext cx="7711135" cy="5715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Returns only the current user's tasks.</a:t>
            </a:r>
          </a:p>
        </p:txBody>
      </p:sp>
      <p:cxnSp>
        <p:nvCxnSpPr>
          <p:cNvPr id="25" name="Connector 24"/>
          <p:cNvCxnSpPr/>
          <p:nvPr/>
        </p:nvCxnSpPr>
        <p:spPr>
          <a:xfrm>
            <a:off x="640080" y="4937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 y="5509260"/>
            <a:ext cx="3017520" cy="5715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New: </a:t>
            </a:r>
            <a:r>
              <a:rPr sz="2200" b="1">
                <a:solidFill>
                  <a:srgbClr val="8A4FE0"/>
                </a:solidFill>
                <a:latin typeface="Consolas"/>
              </a:rPr>
              <a:t>perform_create</a:t>
            </a:r>
          </a:p>
        </p:txBody>
      </p:sp>
      <p:sp>
        <p:nvSpPr>
          <p:cNvPr id="27" name="TextBox 26"/>
          <p:cNvSpPr txBox="1"/>
          <p:nvPr/>
        </p:nvSpPr>
        <p:spPr>
          <a:xfrm>
            <a:off x="3840480" y="5509260"/>
            <a:ext cx="7711135" cy="5715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Sets </a:t>
            </a:r>
            <a:r>
              <a:rPr sz="1900" b="0">
                <a:solidFill>
                  <a:srgbClr val="6A3FC0"/>
                </a:solidFill>
                <a:latin typeface="Consolas"/>
              </a:rPr>
              <a:t>owner</a:t>
            </a:r>
            <a:r>
              <a:rPr sz="1900" b="0">
                <a:solidFill>
                  <a:srgbClr val="1C2330"/>
                </a:solidFill>
                <a:latin typeface="Segoe UI"/>
              </a:rPr>
              <a:t> to the logged-in user on create.</a:t>
            </a:r>
          </a:p>
        </p:txBody>
      </p:sp>
      <p:cxnSp>
        <p:nvCxnSpPr>
          <p:cNvPr id="28" name="Connector 27"/>
          <p:cNvCxnSpPr/>
          <p:nvPr/>
        </p:nvCxnSpPr>
        <p:spPr>
          <a:xfrm>
            <a:off x="640080" y="55092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One request's journey</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Ada sends </a:t>
            </a:r>
            <a:r>
              <a:rPr sz="2000" b="0">
                <a:solidFill>
                  <a:srgbClr val="6A3FC0"/>
                </a:solidFill>
                <a:latin typeface="Consolas"/>
              </a:rPr>
              <a:t>GET /tasks/7/</a:t>
            </a:r>
            <a:r>
              <a:rPr sz="2000" b="0">
                <a:solidFill>
                  <a:srgbClr val="1C2330"/>
                </a:solidFill>
                <a:latin typeface="Segoe UI"/>
              </a:rPr>
              <a:t>, but task 7 belongs to Bob:</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800">
                <a:solidFill>
                  <a:srgbClr val="6A9955"/>
                </a:solidFill>
                <a:latin typeface="Consolas"/>
              </a:rPr>
              <a:t># 1. Router:       "/tasks/7/" matches the detail URL -&gt; TaskViewSet</a:t>
            </a:r>
          </a:p>
          <a:p>
            <a:pPr>
              <a:lnSpc>
                <a:spcPct val="110000"/>
              </a:lnSpc>
            </a:pPr>
            <a:r>
              <a:rPr sz="1800">
                <a:solidFill>
                  <a:srgbClr val="6A9955"/>
                </a:solidFill>
                <a:latin typeface="Consolas"/>
              </a:rPr>
              <a:t># 2. Permissions:  is someone logged in?  No -&gt; 401.  Yes (Ada) -&gt; go on</a:t>
            </a:r>
          </a:p>
          <a:p>
            <a:pPr>
              <a:lnSpc>
                <a:spcPct val="110000"/>
              </a:lnSpc>
            </a:pPr>
            <a:r>
              <a:rPr sz="1800">
                <a:solidFill>
                  <a:srgbClr val="6A9955"/>
                </a:solidFill>
                <a:latin typeface="Consolas"/>
              </a:rPr>
              <a:t># 3. get_queryset: take only Ada's tasks</a:t>
            </a:r>
          </a:p>
          <a:p>
            <a:pPr>
              <a:lnSpc>
                <a:spcPct val="110000"/>
              </a:lnSpc>
            </a:pPr>
            <a:r>
              <a:rPr sz="1800">
                <a:solidFill>
                  <a:srgbClr val="6A9955"/>
                </a:solidFill>
                <a:latin typeface="Consolas"/>
              </a:rPr>
              <a:t># 4. Look up id 7 inside Ada's tasks: it isn't there -&gt; 404</a:t>
            </a:r>
          </a:p>
          <a:p>
            <a:pPr>
              <a:lnSpc>
                <a:spcPct val="110000"/>
              </a:lnSpc>
            </a:pPr>
            <a:r>
              <a:rPr sz="1800">
                <a:solidFill>
                  <a:srgbClr val="6A9955"/>
                </a:solidFill>
                <a:latin typeface="Consolas"/>
              </a:rPr>
              <a:t>#    (if it were Ada's: the serializer turns it into JSON -&gt; 200)</a:t>
            </a:r>
          </a:p>
          <a:p>
            <a:pPr>
              <a:lnSpc>
                <a:spcPct val="110000"/>
              </a:lnSpc>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What the tests send</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No single function this time: the tests send </a:t>
            </a:r>
            <a:r>
              <a:rPr sz="2000" b="1">
                <a:solidFill>
                  <a:srgbClr val="1C2330"/>
                </a:solidFill>
                <a:latin typeface="Segoe UI"/>
              </a:rPr>
              <a:t>HTTP requests</a:t>
            </a:r>
            <a:r>
              <a:rPr sz="2000" b="0">
                <a:solidFill>
                  <a:srgbClr val="1C2330"/>
                </a:solidFill>
                <a:latin typeface="Segoe UI"/>
              </a:rPr>
              <a:t> to your router's URLs.</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400">
                <a:solidFill>
                  <a:srgbClr val="6A9955"/>
                </a:solidFill>
                <a:latin typeface="Consolas"/>
              </a:rPr>
              <a:t># Users ada and bob, one task each: "Ada's task" and "Bob's task"</a:t>
            </a:r>
          </a:p>
          <a:p>
            <a:pPr>
              <a:lnSpc>
                <a:spcPct val="110000"/>
              </a:lnSpc>
            </a:pPr>
            <a:r>
              <a:rPr sz="1400">
                <a:solidFill>
                  <a:srgbClr val="9CDCFE"/>
                </a:solidFill>
                <a:latin typeface="Consolas"/>
              </a:rPr>
              <a:t>GET</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C586C0"/>
                </a:solidFill>
                <a:latin typeface="Consolas"/>
              </a:rPr>
              <a:t>not</a:t>
            </a:r>
            <a:r>
              <a:rPr sz="1400">
                <a:solidFill>
                  <a:srgbClr val="D4D4D4"/>
                </a:solidFill>
                <a:latin typeface="Consolas"/>
              </a:rPr>
              <a:t> </a:t>
            </a:r>
            <a:r>
              <a:rPr sz="1400">
                <a:solidFill>
                  <a:srgbClr val="9CDCFE"/>
                </a:solidFill>
                <a:latin typeface="Consolas"/>
              </a:rPr>
              <a:t>logged</a:t>
            </a:r>
            <a:r>
              <a:rPr sz="1400">
                <a:solidFill>
                  <a:srgbClr val="D4D4D4"/>
                </a:solidFill>
                <a:latin typeface="Consolas"/>
              </a:rPr>
              <a:t> </a:t>
            </a:r>
            <a:r>
              <a:rPr sz="1400">
                <a:solidFill>
                  <a:srgbClr val="C586C0"/>
                </a:solidFill>
                <a:latin typeface="Consolas"/>
              </a:rPr>
              <a:t>in</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 1: 401</a:t>
            </a:r>
          </a:p>
          <a:p>
            <a:pPr>
              <a:lnSpc>
                <a:spcPct val="110000"/>
              </a:lnSpc>
            </a:pPr>
            <a:r>
              <a:rPr sz="1400">
                <a:solidFill>
                  <a:srgbClr val="6A9955"/>
                </a:solidFill>
                <a:latin typeface="Consolas"/>
              </a:rPr>
              <a:t># Now logged in as Ada:</a:t>
            </a:r>
          </a:p>
          <a:p>
            <a:pPr>
              <a:lnSpc>
                <a:spcPct val="110000"/>
              </a:lnSpc>
            </a:pPr>
            <a:r>
              <a:rPr sz="1400">
                <a:solidFill>
                  <a:srgbClr val="9CDCFE"/>
                </a:solidFill>
                <a:latin typeface="Consolas"/>
              </a:rPr>
              <a:t>GET</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 2: 200, titles ["Ada's task"]</a:t>
            </a:r>
          </a:p>
          <a:p>
            <a:pPr>
              <a:lnSpc>
                <a:spcPct val="110000"/>
              </a:lnSpc>
            </a:pPr>
            <a:r>
              <a:rPr sz="1400">
                <a:solidFill>
                  <a:srgbClr val="9CDCFE"/>
                </a:solidFill>
                <a:latin typeface="Consolas"/>
              </a:rPr>
              <a:t>GET</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&lt;</a:t>
            </a:r>
            <a:r>
              <a:rPr sz="1400">
                <a:solidFill>
                  <a:srgbClr val="9CDCFE"/>
                </a:solidFill>
                <a:latin typeface="Consolas"/>
              </a:rPr>
              <a:t>Ada</a:t>
            </a:r>
            <a:r>
              <a:rPr sz="1400">
                <a:solidFill>
                  <a:srgbClr val="CE9178"/>
                </a:solidFill>
                <a:latin typeface="Consolas"/>
              </a:rPr>
              <a:t>'</a:t>
            </a:r>
            <a:r>
              <a:rPr sz="1400">
                <a:solidFill>
                  <a:srgbClr val="CE9178"/>
                </a:solidFill>
                <a:latin typeface="Consolas"/>
              </a:rPr>
              <a:t>s id&gt;/                # 3: 200, JSON below</a:t>
            </a:r>
          </a:p>
          <a:p>
            <a:pPr>
              <a:lnSpc>
                <a:spcPct val="110000"/>
              </a:lnSpc>
            </a:pPr>
            <a:r>
              <a:rPr sz="1400">
                <a:solidFill>
                  <a:srgbClr val="9CDCFE"/>
                </a:solidFill>
                <a:latin typeface="Consolas"/>
              </a:rPr>
              <a:t>POST</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CE9178"/>
                </a:solidFill>
                <a:latin typeface="Consolas"/>
              </a:rPr>
              <a:t>"</a:t>
            </a:r>
            <a:r>
              <a:rPr sz="1400">
                <a:solidFill>
                  <a:srgbClr val="CE9178"/>
                </a:solidFill>
                <a:latin typeface="Consolas"/>
              </a:rPr>
              <a:t>title</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New</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owner</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&lt;</a:t>
            </a:r>
            <a:r>
              <a:rPr sz="1400">
                <a:solidFill>
                  <a:srgbClr val="9CDCFE"/>
                </a:solidFill>
                <a:latin typeface="Consolas"/>
              </a:rPr>
              <a:t>Bob</a:t>
            </a:r>
            <a:r>
              <a:rPr sz="1400">
                <a:solidFill>
                  <a:srgbClr val="CE9178"/>
                </a:solidFill>
                <a:latin typeface="Consolas"/>
              </a:rPr>
              <a:t>'</a:t>
            </a:r>
            <a:r>
              <a:rPr sz="1400">
                <a:solidFill>
                  <a:srgbClr val="CE9178"/>
                </a:solidFill>
                <a:latin typeface="Consolas"/>
              </a:rPr>
              <a:t>s id&gt;}  # 4: 201, owner is Ada</a:t>
            </a:r>
          </a:p>
          <a:p>
            <a:pPr>
              <a:lnSpc>
                <a:spcPct val="110000"/>
              </a:lnSpc>
            </a:pPr>
            <a:r>
              <a:rPr sz="1400">
                <a:solidFill>
                  <a:srgbClr val="9CDCFE"/>
                </a:solidFill>
                <a:latin typeface="Consolas"/>
              </a:rPr>
              <a:t>GET</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&lt;</a:t>
            </a:r>
            <a:r>
              <a:rPr sz="1400">
                <a:solidFill>
                  <a:srgbClr val="9CDCFE"/>
                </a:solidFill>
                <a:latin typeface="Consolas"/>
              </a:rPr>
              <a:t>Bob</a:t>
            </a:r>
            <a:r>
              <a:rPr sz="1400">
                <a:solidFill>
                  <a:srgbClr val="CE9178"/>
                </a:solidFill>
                <a:latin typeface="Consolas"/>
              </a:rPr>
              <a:t>'</a:t>
            </a:r>
            <a:r>
              <a:rPr sz="1400">
                <a:solidFill>
                  <a:srgbClr val="CE9178"/>
                </a:solidFill>
                <a:latin typeface="Consolas"/>
              </a:rPr>
              <a:t>s id&gt;/                # 5: 404</a:t>
            </a:r>
          </a:p>
          <a:p>
            <a:pPr>
              <a:lnSpc>
                <a:spcPct val="110000"/>
              </a:lnSpc>
            </a:pPr>
            <a:r>
              <a:rPr sz="1400">
                <a:solidFill>
                  <a:srgbClr val="9CDCFE"/>
                </a:solidFill>
                <a:latin typeface="Consolas"/>
              </a:rPr>
              <a:t>PATCH</a:t>
            </a:r>
            <a:r>
              <a:rPr sz="1400">
                <a:solidFill>
                  <a:srgbClr val="D4D4D4"/>
                </a:solidFill>
                <a:latin typeface="Consolas"/>
              </a:rPr>
              <a:t> </a:t>
            </a:r>
            <a:r>
              <a:rPr sz="1400">
                <a:solidFill>
                  <a:srgbClr val="C586C0"/>
                </a:solidFill>
                <a:latin typeface="Consolas"/>
              </a:rPr>
              <a:t>or</a:t>
            </a:r>
            <a:r>
              <a:rPr sz="1400">
                <a:solidFill>
                  <a:srgbClr val="D4D4D4"/>
                </a:solidFill>
                <a:latin typeface="Consolas"/>
              </a:rPr>
              <a:t> </a:t>
            </a:r>
            <a:r>
              <a:rPr sz="1400">
                <a:solidFill>
                  <a:srgbClr val="9CDCFE"/>
                </a:solidFill>
                <a:latin typeface="Consolas"/>
              </a:rPr>
              <a:t>DELETE</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&lt;</a:t>
            </a:r>
            <a:r>
              <a:rPr sz="1400">
                <a:solidFill>
                  <a:srgbClr val="9CDCFE"/>
                </a:solidFill>
                <a:latin typeface="Consolas"/>
              </a:rPr>
              <a:t>Bob</a:t>
            </a:r>
            <a:r>
              <a:rPr sz="1400">
                <a:solidFill>
                  <a:srgbClr val="CE9178"/>
                </a:solidFill>
                <a:latin typeface="Consolas"/>
              </a:rPr>
              <a:t>'</a:t>
            </a:r>
            <a:r>
              <a:rPr sz="1400">
                <a:solidFill>
                  <a:srgbClr val="CE9178"/>
                </a:solidFill>
                <a:latin typeface="Consolas"/>
              </a:rPr>
              <a:t>s id&gt;/       # 6: 404, Bob</a:t>
            </a:r>
            <a:r>
              <a:rPr sz="1400">
                <a:solidFill>
                  <a:srgbClr val="CE9178"/>
                </a:solidFill>
                <a:latin typeface="Consolas"/>
              </a:rPr>
              <a:t>'</a:t>
            </a:r>
            <a:r>
              <a:rPr sz="1400">
                <a:solidFill>
                  <a:srgbClr val="9CDCFE"/>
                </a:solidFill>
                <a:latin typeface="Consolas"/>
              </a:rPr>
              <a:t>s</a:t>
            </a:r>
            <a:r>
              <a:rPr sz="1400">
                <a:solidFill>
                  <a:srgbClr val="D4D4D4"/>
                </a:solidFill>
                <a:latin typeface="Consolas"/>
              </a:rPr>
              <a:t> </a:t>
            </a:r>
            <a:r>
              <a:rPr sz="1400">
                <a:solidFill>
                  <a:srgbClr val="9CDCFE"/>
                </a:solidFill>
                <a:latin typeface="Consolas"/>
              </a:rPr>
              <a:t>task</a:t>
            </a:r>
            <a:r>
              <a:rPr sz="1400">
                <a:solidFill>
                  <a:srgbClr val="D4D4D4"/>
                </a:solidFill>
                <a:latin typeface="Consolas"/>
              </a:rPr>
              <a:t> </a:t>
            </a:r>
            <a:r>
              <a:rPr sz="1400">
                <a:solidFill>
                  <a:srgbClr val="9CDCFE"/>
                </a:solidFill>
                <a:latin typeface="Consolas"/>
              </a:rPr>
              <a:t>unchanged</a:t>
            </a:r>
          </a:p>
          <a:p>
            <a:pPr>
              <a:lnSpc>
                <a:spcPct val="110000"/>
              </a:lnSpc>
            </a:pPr>
            <a:r>
              <a:rPr sz="1400">
                <a:solidFill>
                  <a:srgbClr val="9CDCFE"/>
                </a:solidFill>
                <a:latin typeface="Consolas"/>
              </a:rPr>
              <a:t>PATCH</a:t>
            </a:r>
            <a:r>
              <a:rPr sz="1400">
                <a:solidFill>
                  <a:srgbClr val="D4D4D4"/>
                </a:solidFill>
                <a:latin typeface="Consolas"/>
              </a:rPr>
              <a:t> </a:t>
            </a:r>
            <a:r>
              <a:rPr sz="1400">
                <a:solidFill>
                  <a:srgbClr val="9CDCFE"/>
                </a:solidFill>
                <a:latin typeface="Consolas"/>
              </a:rPr>
              <a:t>then</a:t>
            </a:r>
            <a:r>
              <a:rPr sz="1400">
                <a:solidFill>
                  <a:srgbClr val="D4D4D4"/>
                </a:solidFill>
                <a:latin typeface="Consolas"/>
              </a:rPr>
              <a:t> </a:t>
            </a:r>
            <a:r>
              <a:rPr sz="1400">
                <a:solidFill>
                  <a:srgbClr val="9CDCFE"/>
                </a:solidFill>
                <a:latin typeface="Consolas"/>
              </a:rPr>
              <a:t>DELETE</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&lt;</a:t>
            </a:r>
            <a:r>
              <a:rPr sz="1400">
                <a:solidFill>
                  <a:srgbClr val="9CDCFE"/>
                </a:solidFill>
                <a:latin typeface="Consolas"/>
              </a:rPr>
              <a:t>Ada</a:t>
            </a:r>
            <a:r>
              <a:rPr sz="1400">
                <a:solidFill>
                  <a:srgbClr val="CE9178"/>
                </a:solidFill>
                <a:latin typeface="Consolas"/>
              </a:rPr>
              <a:t>'</a:t>
            </a:r>
            <a:r>
              <a:rPr sz="1400">
                <a:solidFill>
                  <a:srgbClr val="CE9178"/>
                </a:solidFill>
                <a:latin typeface="Consolas"/>
              </a:rPr>
              <a:t>s id&gt;/     # 7: 200, then 204</a:t>
            </a:r>
          </a:p>
          <a:p>
            <a:pPr>
              <a:lnSpc>
                <a:spcPct val="110000"/>
              </a:lnSpc>
            </a:pPr>
            <a:r>
              <a:rPr sz="1400">
                <a:solidFill>
                  <a:srgbClr val="9CDCFE"/>
                </a:solidFill>
                <a:latin typeface="Consolas"/>
              </a:rPr>
              <a:t>POST</a:t>
            </a:r>
            <a:r>
              <a:rPr sz="1400">
                <a:solidFill>
                  <a:srgbClr val="D4D4D4"/>
                </a:solidFill>
                <a:latin typeface="Consolas"/>
              </a:rPr>
              <a:t>   </a:t>
            </a:r>
            <a:r>
              <a:rPr sz="1400">
                <a:solidFill>
                  <a:srgbClr val="D4D4D4"/>
                </a:solidFill>
                <a:latin typeface="Consolas"/>
              </a:rPr>
              <a:t>/</a:t>
            </a:r>
            <a:r>
              <a:rPr sz="1400">
                <a:solidFill>
                  <a:srgbClr val="9CDCFE"/>
                </a:solidFill>
                <a:latin typeface="Consolas"/>
              </a:rPr>
              <a:t>tasks</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 8: 400, a title is required</a:t>
            </a:r>
          </a:p>
          <a:p>
            <a:pPr>
              <a:lnSpc>
                <a:spcPct val="110000"/>
              </a:lnSpc>
            </a:pPr>
          </a:p>
          <a:p>
            <a:pPr>
              <a:lnSpc>
                <a:spcPct val="110000"/>
              </a:lnSpc>
            </a:pPr>
            <a:r>
              <a:rPr sz="1400">
                <a:solidFill>
                  <a:srgbClr val="6A9955"/>
                </a:solidFill>
                <a:latin typeface="Consolas"/>
              </a:rPr>
              <a:t># test 3 expects:</a:t>
            </a:r>
          </a:p>
          <a:p>
            <a:pPr>
              <a:lnSpc>
                <a:spcPct val="110000"/>
              </a:lnSpc>
            </a:pPr>
            <a:r>
              <a:rPr sz="1400">
                <a:solidFill>
                  <a:srgbClr val="D4D4D4"/>
                </a:solidFill>
                <a:latin typeface="Consolas"/>
              </a:rPr>
              <a:t>{</a:t>
            </a:r>
            <a:r>
              <a:rPr sz="1400">
                <a:solidFill>
                  <a:srgbClr val="CE9178"/>
                </a:solidFill>
                <a:latin typeface="Consolas"/>
              </a:rPr>
              <a:t>"</a:t>
            </a:r>
            <a:r>
              <a:rPr sz="1400">
                <a:solidFill>
                  <a:srgbClr val="CE9178"/>
                </a:solidFill>
                <a:latin typeface="Consolas"/>
              </a:rPr>
              <a:t>id</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B5CEA8"/>
                </a:solidFill>
                <a:latin typeface="Consolas"/>
              </a:rPr>
              <a:t>1</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title</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Ada</a:t>
            </a:r>
            <a:r>
              <a:rPr sz="1400">
                <a:solidFill>
                  <a:srgbClr val="CE9178"/>
                </a:solidFill>
                <a:latin typeface="Consolas"/>
              </a:rPr>
              <a:t>'</a:t>
            </a:r>
            <a:r>
              <a:rPr sz="1400">
                <a:solidFill>
                  <a:srgbClr val="CE9178"/>
                </a:solidFill>
                <a:latin typeface="Consolas"/>
              </a:rPr>
              <a:t>s task</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done</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586C0"/>
                </a:solidFill>
                <a:latin typeface="Consolas"/>
              </a:rPr>
              <a:t>False</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owner</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ada</a:t>
            </a:r>
            <a:r>
              <a:rPr sz="1400">
                <a:solidFill>
                  <a:srgbClr val="CE9178"/>
                </a:solidFill>
                <a:latin typeface="Consolas"/>
              </a:rPr>
              <a:t>"</a:t>
            </a:r>
            <a:r>
              <a:rPr sz="1400">
                <a:solidFill>
                  <a:srgbClr val="D4D4D4"/>
                </a:solidFill>
                <a:latin typeface="Consolas"/>
              </a:rPr>
              <a:t>}</a:t>
            </a:r>
          </a:p>
          <a:p>
            <a:pPr>
              <a:lnSpc>
                <a:spcPct val="110000"/>
              </a:lnSpc>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New words</a:t>
            </a:r>
          </a:p>
        </p:txBody>
      </p:sp>
      <p:sp>
        <p:nvSpPr>
          <p:cNvPr id="6" name="TextBox 5"/>
          <p:cNvSpPr txBox="1"/>
          <p:nvPr/>
        </p:nvSpPr>
        <p:spPr>
          <a:xfrm>
            <a:off x="640080" y="150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authenticated</a:t>
            </a:r>
          </a:p>
        </p:txBody>
      </p:sp>
      <p:sp>
        <p:nvSpPr>
          <p:cNvPr id="7" name="TextBox 6"/>
          <p:cNvSpPr txBox="1"/>
          <p:nvPr/>
        </p:nvSpPr>
        <p:spPr>
          <a:xfrm>
            <a:off x="3840480" y="150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Logged in: </a:t>
            </a:r>
            <a:r>
              <a:rPr sz="1900" b="0">
                <a:solidFill>
                  <a:srgbClr val="6A3FC0"/>
                </a:solidFill>
                <a:latin typeface="Consolas"/>
              </a:rPr>
              <a:t>request.user</a:t>
            </a:r>
            <a:r>
              <a:rPr sz="1900" b="0">
                <a:solidFill>
                  <a:srgbClr val="1C2330"/>
                </a:solidFill>
                <a:latin typeface="Segoe UI"/>
              </a:rPr>
              <a:t> is a real user.</a:t>
            </a:r>
          </a:p>
        </p:txBody>
      </p:sp>
      <p:sp>
        <p:nvSpPr>
          <p:cNvPr id="8" name="TextBox 7"/>
          <p:cNvSpPr txBox="1"/>
          <p:nvPr/>
        </p:nvSpPr>
        <p:spPr>
          <a:xfrm>
            <a:off x="640080" y="2270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401 Unauthorized</a:t>
            </a:r>
          </a:p>
        </p:txBody>
      </p:sp>
      <p:sp>
        <p:nvSpPr>
          <p:cNvPr id="9" name="TextBox 8"/>
          <p:cNvSpPr txBox="1"/>
          <p:nvPr/>
        </p:nvSpPr>
        <p:spPr>
          <a:xfrm>
            <a:off x="3840480" y="2270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 don't know who you are. Log in first."</a:t>
            </a:r>
          </a:p>
        </p:txBody>
      </p:sp>
      <p:cxnSp>
        <p:nvCxnSpPr>
          <p:cNvPr id="10" name="Connector 9"/>
          <p:cNvCxnSpPr/>
          <p:nvPr/>
        </p:nvCxnSpPr>
        <p:spPr>
          <a:xfrm>
            <a:off x="640080" y="2270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032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404 Not Found</a:t>
            </a:r>
          </a:p>
        </p:txBody>
      </p:sp>
      <p:sp>
        <p:nvSpPr>
          <p:cNvPr id="12" name="TextBox 11"/>
          <p:cNvSpPr txBox="1"/>
          <p:nvPr/>
        </p:nvSpPr>
        <p:spPr>
          <a:xfrm>
            <a:off x="3840480" y="3032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"Nothing here." Also for others' tasks, so they stay hidden.</a:t>
            </a:r>
          </a:p>
        </p:txBody>
      </p:sp>
      <p:cxnSp>
        <p:nvCxnSpPr>
          <p:cNvPr id="13" name="Connector 12"/>
          <p:cNvCxnSpPr/>
          <p:nvPr/>
        </p:nvCxnSpPr>
        <p:spPr>
          <a:xfrm>
            <a:off x="640080" y="3032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794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scope a queryset</a:t>
            </a:r>
          </a:p>
        </p:txBody>
      </p:sp>
      <p:sp>
        <p:nvSpPr>
          <p:cNvPr id="15" name="TextBox 14"/>
          <p:cNvSpPr txBox="1"/>
          <p:nvPr/>
        </p:nvSpPr>
        <p:spPr>
          <a:xfrm>
            <a:off x="3840480" y="3794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Filter the rows down to the ones this user may see.</a:t>
            </a:r>
          </a:p>
        </p:txBody>
      </p:sp>
      <p:cxnSp>
        <p:nvCxnSpPr>
          <p:cNvPr id="16" name="Connector 15"/>
          <p:cNvCxnSpPr/>
          <p:nvPr/>
        </p:nvCxnSpPr>
        <p:spPr>
          <a:xfrm>
            <a:off x="640080" y="3794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556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read-only field</a:t>
            </a:r>
          </a:p>
        </p:txBody>
      </p:sp>
      <p:sp>
        <p:nvSpPr>
          <p:cNvPr id="18" name="TextBox 17"/>
          <p:cNvSpPr txBox="1"/>
          <p:nvPr/>
        </p:nvSpPr>
        <p:spPr>
          <a:xfrm>
            <a:off x="3840480" y="4556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Shown in responses, ignored in requests.</a:t>
            </a:r>
          </a:p>
        </p:txBody>
      </p:sp>
      <p:cxnSp>
        <p:nvCxnSpPr>
          <p:cNvPr id="19" name="Connector 18"/>
          <p:cNvCxnSpPr/>
          <p:nvPr/>
        </p:nvCxnSpPr>
        <p:spPr>
          <a:xfrm>
            <a:off x="640080" y="4556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31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override a method</a:t>
            </a:r>
          </a:p>
        </p:txBody>
      </p:sp>
      <p:sp>
        <p:nvSpPr>
          <p:cNvPr id="21" name="TextBox 20"/>
          <p:cNvSpPr txBox="1"/>
          <p:nvPr/>
        </p:nvSpPr>
        <p:spPr>
          <a:xfrm>
            <a:off x="3840480" y="531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Write your own version of a method the class already has.</a:t>
            </a:r>
          </a:p>
        </p:txBody>
      </p:sp>
      <p:cxnSp>
        <p:nvCxnSpPr>
          <p:cNvPr id="22" name="Connector 21"/>
          <p:cNvCxnSpPr/>
          <p:nvPr/>
        </p:nvCxnSpPr>
        <p:spPr>
          <a:xfrm>
            <a:off x="640080" y="5318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7</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overriding (same name, yours wins)</a:t>
            </a:r>
          </a:p>
        </p:txBody>
      </p:sp>
      <p:sp>
        <p:nvSpPr>
          <p:cNvPr id="6" name="Rounded Rectangle 5"/>
          <p:cNvSpPr/>
          <p:nvPr/>
        </p:nvSpPr>
        <p:spPr>
          <a:xfrm>
            <a:off x="640080" y="1463040"/>
            <a:ext cx="10911535" cy="373075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10362895" cy="3364992"/>
          </a:xfrm>
          <a:prstGeom prst="rect">
            <a:avLst/>
          </a:prstGeom>
          <a:noFill/>
        </p:spPr>
        <p:txBody>
          <a:bodyPr wrap="square" anchor="t" lIns="0" rIns="0" tIns="0" bIns="0">
            <a:spAutoFit/>
          </a:bodyPr>
          <a:lstStyle/>
          <a:p>
            <a:pPr>
              <a:lnSpc>
                <a:spcPct val="110000"/>
              </a:lnSpc>
            </a:pP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Shop</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def</a:t>
            </a:r>
            <a:r>
              <a:rPr sz="1600">
                <a:solidFill>
                  <a:srgbClr val="D4D4D4"/>
                </a:solidFill>
                <a:latin typeface="Consolas"/>
              </a:rPr>
              <a:t> </a:t>
            </a:r>
            <a:r>
              <a:rPr sz="1600">
                <a:solidFill>
                  <a:srgbClr val="DCDCAA"/>
                </a:solidFill>
                <a:latin typeface="Consolas"/>
              </a:rPr>
              <a:t>opening_message</a:t>
            </a:r>
            <a:r>
              <a:rPr sz="1600">
                <a:solidFill>
                  <a:srgbClr val="D4D4D4"/>
                </a:solidFill>
                <a:latin typeface="Consolas"/>
              </a:rPr>
              <a:t>(</a:t>
            </a:r>
            <a:r>
              <a:rPr sz="1600">
                <a:solidFill>
                  <a:srgbClr val="4EC9B0"/>
                </a:solidFill>
                <a:latin typeface="Consolas"/>
              </a:rPr>
              <a:t>self</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return</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Welcome!</a:t>
            </a:r>
            <a:r>
              <a:rPr sz="1600">
                <a:solidFill>
                  <a:srgbClr val="CE9178"/>
                </a:solidFill>
                <a:latin typeface="Consolas"/>
              </a:rPr>
              <a:t>"</a:t>
            </a:r>
          </a:p>
          <a:p>
            <a:pPr>
              <a:lnSpc>
                <a:spcPct val="110000"/>
              </a:lnSpc>
            </a:pPr>
            <a:r>
              <a:rPr sz="1600">
                <a:solidFill>
                  <a:srgbClr val="D4D4D4"/>
                </a:solidFill>
                <a:latin typeface="Consolas"/>
              </a:rPr>
              <a:t>    </a:t>
            </a:r>
            <a:r>
              <a:rPr sz="1600">
                <a:solidFill>
                  <a:srgbClr val="C586C0"/>
                </a:solidFill>
                <a:latin typeface="Consolas"/>
              </a:rPr>
              <a:t>def</a:t>
            </a:r>
            <a:r>
              <a:rPr sz="1600">
                <a:solidFill>
                  <a:srgbClr val="D4D4D4"/>
                </a:solidFill>
                <a:latin typeface="Consolas"/>
              </a:rPr>
              <a:t> </a:t>
            </a:r>
            <a:r>
              <a:rPr sz="1600">
                <a:solidFill>
                  <a:srgbClr val="DCDCAA"/>
                </a:solidFill>
                <a:latin typeface="Consolas"/>
              </a:rPr>
              <a:t>open</a:t>
            </a:r>
            <a:r>
              <a:rPr sz="1600">
                <a:solidFill>
                  <a:srgbClr val="D4D4D4"/>
                </a:solidFill>
                <a:latin typeface="Consolas"/>
              </a:rPr>
              <a:t>(</a:t>
            </a:r>
            <a:r>
              <a:rPr sz="1600">
                <a:solidFill>
                  <a:srgbClr val="4EC9B0"/>
                </a:solidFill>
                <a:latin typeface="Consolas"/>
              </a:rPr>
              <a:t>self</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4EC9B0"/>
                </a:solidFill>
                <a:latin typeface="Consolas"/>
              </a:rPr>
              <a:t>print</a:t>
            </a:r>
            <a:r>
              <a:rPr sz="1600">
                <a:solidFill>
                  <a:srgbClr val="D4D4D4"/>
                </a:solidFill>
                <a:latin typeface="Consolas"/>
              </a:rPr>
              <a:t>(</a:t>
            </a:r>
            <a:r>
              <a:rPr sz="1600">
                <a:solidFill>
                  <a:srgbClr val="4EC9B0"/>
                </a:solidFill>
                <a:latin typeface="Consolas"/>
              </a:rPr>
              <a:t>self</a:t>
            </a:r>
            <a:r>
              <a:rPr sz="1600">
                <a:solidFill>
                  <a:srgbClr val="D4D4D4"/>
                </a:solidFill>
                <a:latin typeface="Consolas"/>
              </a:rPr>
              <a:t>.</a:t>
            </a:r>
            <a:r>
              <a:rPr sz="1600">
                <a:solidFill>
                  <a:srgbClr val="9CDCFE"/>
                </a:solidFill>
                <a:latin typeface="Consolas"/>
              </a:rPr>
              <a:t>opening_message</a:t>
            </a:r>
            <a:r>
              <a:rPr sz="1600">
                <a:solidFill>
                  <a:srgbClr val="D4D4D4"/>
                </a:solidFill>
                <a:latin typeface="Consolas"/>
              </a:rPr>
              <a:t>(</a:t>
            </a:r>
            <a:r>
              <a:rPr sz="1600">
                <a:solidFill>
                  <a:srgbClr val="D4D4D4"/>
                </a:solidFill>
                <a:latin typeface="Consolas"/>
              </a:rPr>
              <a:t>)</a:t>
            </a:r>
            <a:r>
              <a:rPr sz="1600">
                <a:solidFill>
                  <a:srgbClr val="D4D4D4"/>
                </a:solidFill>
                <a:latin typeface="Consolas"/>
              </a:rPr>
              <a:t>)</a:t>
            </a:r>
          </a:p>
          <a:p>
            <a:pPr>
              <a:lnSpc>
                <a:spcPct val="110000"/>
              </a:lnSpc>
            </a:pPr>
          </a:p>
          <a:p>
            <a:pPr>
              <a:lnSpc>
                <a:spcPct val="110000"/>
              </a:lnSpc>
            </a:pP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TeaShop</a:t>
            </a:r>
            <a:r>
              <a:rPr sz="1600">
                <a:solidFill>
                  <a:srgbClr val="D4D4D4"/>
                </a:solidFill>
                <a:latin typeface="Consolas"/>
              </a:rPr>
              <a:t>(</a:t>
            </a:r>
            <a:r>
              <a:rPr sz="1600">
                <a:solidFill>
                  <a:srgbClr val="9CDCFE"/>
                </a:solidFill>
                <a:latin typeface="Consolas"/>
              </a:rPr>
              <a:t>Shop</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def</a:t>
            </a:r>
            <a:r>
              <a:rPr sz="1600">
                <a:solidFill>
                  <a:srgbClr val="D4D4D4"/>
                </a:solidFill>
                <a:latin typeface="Consolas"/>
              </a:rPr>
              <a:t> </a:t>
            </a:r>
            <a:r>
              <a:rPr sz="1600">
                <a:solidFill>
                  <a:srgbClr val="DCDCAA"/>
                </a:solidFill>
                <a:latin typeface="Consolas"/>
              </a:rPr>
              <a:t>opening_message</a:t>
            </a:r>
            <a:r>
              <a:rPr sz="1600">
                <a:solidFill>
                  <a:srgbClr val="D4D4D4"/>
                </a:solidFill>
                <a:latin typeface="Consolas"/>
              </a:rPr>
              <a:t>(</a:t>
            </a:r>
            <a:r>
              <a:rPr sz="1600">
                <a:solidFill>
                  <a:srgbClr val="4EC9B0"/>
                </a:solidFill>
                <a:latin typeface="Consolas"/>
              </a:rPr>
              <a:t>self</a:t>
            </a: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replaces Shop's version</a:t>
            </a:r>
          </a:p>
          <a:p>
            <a:pPr>
              <a:lnSpc>
                <a:spcPct val="110000"/>
              </a:lnSpc>
            </a:pPr>
            <a:r>
              <a:rPr sz="1600">
                <a:solidFill>
                  <a:srgbClr val="D4D4D4"/>
                </a:solidFill>
                <a:latin typeface="Consolas"/>
              </a:rPr>
              <a:t>        </a:t>
            </a:r>
            <a:r>
              <a:rPr sz="1600">
                <a:solidFill>
                  <a:srgbClr val="C586C0"/>
                </a:solidFill>
                <a:latin typeface="Consolas"/>
              </a:rPr>
              <a:t>return</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Welcome! The tea is ready.</a:t>
            </a:r>
            <a:r>
              <a:rPr sz="1600">
                <a:solidFill>
                  <a:srgbClr val="CE9178"/>
                </a:solidFill>
                <a:latin typeface="Consolas"/>
              </a:rPr>
              <a:t>"</a:t>
            </a:r>
          </a:p>
          <a:p>
            <a:pPr>
              <a:lnSpc>
                <a:spcPct val="110000"/>
              </a:lnSpc>
            </a:pPr>
          </a:p>
          <a:p>
            <a:pPr>
              <a:lnSpc>
                <a:spcPct val="110000"/>
              </a:lnSpc>
            </a:pPr>
            <a:r>
              <a:rPr sz="1600">
                <a:solidFill>
                  <a:srgbClr val="9CDCFE"/>
                </a:solidFill>
                <a:latin typeface="Consolas"/>
              </a:rPr>
              <a:t>TeaShop</a:t>
            </a:r>
            <a:r>
              <a:rPr sz="1600">
                <a:solidFill>
                  <a:srgbClr val="D4D4D4"/>
                </a:solidFill>
                <a:latin typeface="Consolas"/>
              </a:rPr>
              <a:t>(</a:t>
            </a:r>
            <a:r>
              <a:rPr sz="1600">
                <a:solidFill>
                  <a:srgbClr val="D4D4D4"/>
                </a:solidFill>
                <a:latin typeface="Consolas"/>
              </a:rPr>
              <a:t>)</a:t>
            </a:r>
            <a:r>
              <a:rPr sz="1600">
                <a:solidFill>
                  <a:srgbClr val="D4D4D4"/>
                </a:solidFill>
                <a:latin typeface="Consolas"/>
              </a:rPr>
              <a:t>.</a:t>
            </a:r>
            <a:r>
              <a:rPr sz="1600">
                <a:solidFill>
                  <a:srgbClr val="9CDCFE"/>
                </a:solidFill>
                <a:latin typeface="Consolas"/>
              </a:rPr>
              <a:t>open</a:t>
            </a:r>
            <a:r>
              <a:rPr sz="1600">
                <a:solidFill>
                  <a:srgbClr val="D4D4D4"/>
                </a:solidFill>
                <a:latin typeface="Consolas"/>
              </a:rPr>
              <a:t>(</a:t>
            </a:r>
            <a:r>
              <a:rPr sz="1600">
                <a:solidFill>
                  <a:srgbClr val="D4D4D4"/>
                </a:solidFill>
                <a:latin typeface="Consolas"/>
              </a:rPr>
              <a:t>)</a:t>
            </a:r>
          </a:p>
          <a:p>
            <a:pPr>
              <a:lnSpc>
                <a:spcPct val="110000"/>
              </a:lnSpc>
            </a:pPr>
          </a:p>
        </p:txBody>
      </p:sp>
      <p:sp>
        <p:nvSpPr>
          <p:cNvPr id="8" name="Rounded Rectangle 7"/>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Welcome</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The</a:t>
            </a:r>
            <a:r>
              <a:rPr sz="1800">
                <a:solidFill>
                  <a:srgbClr val="D4D4D4"/>
                </a:solidFill>
                <a:latin typeface="Consolas"/>
              </a:rPr>
              <a:t> </a:t>
            </a:r>
            <a:r>
              <a:rPr sz="1800">
                <a:solidFill>
                  <a:srgbClr val="D4D4D4"/>
                </a:solidFill>
                <a:latin typeface="Consolas"/>
              </a:rPr>
              <a:t>tea</a:t>
            </a:r>
            <a:r>
              <a:rPr sz="1800">
                <a:solidFill>
                  <a:srgbClr val="D4D4D4"/>
                </a:solidFill>
                <a:latin typeface="Consolas"/>
              </a:rPr>
              <a:t> </a:t>
            </a:r>
            <a:r>
              <a:rPr sz="1800">
                <a:solidFill>
                  <a:srgbClr val="D4D4D4"/>
                </a:solidFill>
                <a:latin typeface="Consolas"/>
              </a:rPr>
              <a:t>is</a:t>
            </a:r>
            <a:r>
              <a:rPr sz="1800">
                <a:solidFill>
                  <a:srgbClr val="D4D4D4"/>
                </a:solidFill>
                <a:latin typeface="Consolas"/>
              </a:rPr>
              <a:t> </a:t>
            </a:r>
            <a:r>
              <a:rPr sz="1800">
                <a:solidFill>
                  <a:srgbClr val="D4D4D4"/>
                </a:solidFill>
                <a:latin typeface="Consolas"/>
              </a:rPr>
              <a:t>ready</a:t>
            </a:r>
            <a:r>
              <a:rPr sz="1800">
                <a:solidFill>
                  <a:srgbClr val="D4D4D4"/>
                </a:solidFill>
                <a:latin typeface="Consolas"/>
              </a:rPr>
              <a:t>.</a:t>
            </a:r>
          </a:p>
          <a:p>
            <a:pPr>
              <a:lnSpc>
                <a:spcPct val="110000"/>
              </a:lnSpc>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8</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ReadOnlyField (shown, never set)</a:t>
            </a:r>
          </a:p>
        </p:txBody>
      </p:sp>
      <p:sp>
        <p:nvSpPr>
          <p:cNvPr id="6" name="Rounded Rectangle 5"/>
          <p:cNvSpPr/>
          <p:nvPr/>
        </p:nvSpPr>
        <p:spPr>
          <a:xfrm>
            <a:off x="640080" y="1463040"/>
            <a:ext cx="10911535" cy="343814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10362895" cy="3072384"/>
          </a:xfrm>
          <a:prstGeom prst="rect">
            <a:avLst/>
          </a:prstGeom>
          <a:noFill/>
        </p:spPr>
        <p:txBody>
          <a:bodyPr wrap="square" anchor="t" lIns="0" rIns="0" tIns="0" bIns="0">
            <a:spAutoFit/>
          </a:bodyPr>
          <a:lstStyle/>
          <a:p>
            <a:pPr>
              <a:lnSpc>
                <a:spcPct val="110000"/>
              </a:lnSpc>
            </a:pP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EmailDemoSerializer</a:t>
            </a:r>
            <a:r>
              <a:rPr sz="1600">
                <a:solidFill>
                  <a:srgbClr val="D4D4D4"/>
                </a:solidFill>
                <a:latin typeface="Consolas"/>
              </a:rPr>
              <a:t>(</a:t>
            </a:r>
            <a:r>
              <a:rPr sz="1600">
                <a:solidFill>
                  <a:srgbClr val="9CDCFE"/>
                </a:solidFill>
                <a:latin typeface="Consolas"/>
              </a:rPr>
              <a:t>serializers</a:t>
            </a:r>
            <a:r>
              <a:rPr sz="1600">
                <a:solidFill>
                  <a:srgbClr val="D4D4D4"/>
                </a:solidFill>
                <a:latin typeface="Consolas"/>
              </a:rPr>
              <a:t>.</a:t>
            </a:r>
            <a:r>
              <a:rPr sz="1600">
                <a:solidFill>
                  <a:srgbClr val="9CDCFE"/>
                </a:solidFill>
                <a:latin typeface="Consolas"/>
              </a:rPr>
              <a:t>ModelSerializer</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9CDCFE"/>
                </a:solidFill>
                <a:latin typeface="Consolas"/>
              </a:rPr>
              <a:t>owner_email</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serializers</a:t>
            </a:r>
            <a:r>
              <a:rPr sz="1600">
                <a:solidFill>
                  <a:srgbClr val="D4D4D4"/>
                </a:solidFill>
                <a:latin typeface="Consolas"/>
              </a:rPr>
              <a:t>.</a:t>
            </a:r>
            <a:r>
              <a:rPr sz="1600">
                <a:solidFill>
                  <a:srgbClr val="9CDCFE"/>
                </a:solidFill>
                <a:latin typeface="Consolas"/>
              </a:rPr>
              <a:t>ReadOnlyField</a:t>
            </a:r>
            <a:r>
              <a:rPr sz="1600">
                <a:solidFill>
                  <a:srgbClr val="D4D4D4"/>
                </a:solidFill>
                <a:latin typeface="Consolas"/>
              </a:rPr>
              <a:t>(</a:t>
            </a:r>
            <a:r>
              <a:rPr sz="1600">
                <a:solidFill>
                  <a:srgbClr val="9CDCFE"/>
                </a:solidFill>
                <a:latin typeface="Consolas"/>
              </a:rPr>
              <a:t>source</a:t>
            </a:r>
            <a:r>
              <a:rPr sz="1600">
                <a:solidFill>
                  <a:srgbClr val="D4D4D4"/>
                </a:solidFill>
                <a:latin typeface="Consolas"/>
              </a:rPr>
              <a:t>=</a:t>
            </a:r>
            <a:r>
              <a:rPr sz="1600">
                <a:solidFill>
                  <a:srgbClr val="CE9178"/>
                </a:solidFill>
                <a:latin typeface="Consolas"/>
              </a:rPr>
              <a:t>"</a:t>
            </a:r>
            <a:r>
              <a:rPr sz="1600">
                <a:solidFill>
                  <a:srgbClr val="CE9178"/>
                </a:solidFill>
                <a:latin typeface="Consolas"/>
              </a:rPr>
              <a:t>owner.email</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owner, then email</a:t>
            </a:r>
          </a:p>
          <a:p>
            <a:pPr>
              <a:lnSpc>
                <a:spcPct val="110000"/>
              </a:lnSpc>
            </a:pPr>
          </a:p>
          <a:p>
            <a:pPr>
              <a:lnSpc>
                <a:spcPct val="110000"/>
              </a:lnSpc>
            </a:pPr>
            <a:r>
              <a:rPr sz="1600">
                <a:solidFill>
                  <a:srgbClr val="D4D4D4"/>
                </a:solidFill>
                <a:latin typeface="Consolas"/>
              </a:rPr>
              <a:t>    </a:t>
            </a: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Meta</a:t>
            </a:r>
            <a:r>
              <a:rPr sz="1600">
                <a:solidFill>
                  <a:srgbClr val="D4D4D4"/>
                </a:solidFill>
                <a:latin typeface="Consolas"/>
              </a:rPr>
              <a:t>:</a:t>
            </a:r>
          </a:p>
          <a:p>
            <a:pPr>
              <a:lnSpc>
                <a:spcPct val="110000"/>
              </a:lnSpc>
            </a:pPr>
            <a:r>
              <a:rPr sz="1600">
                <a:solidFill>
                  <a:srgbClr val="D4D4D4"/>
                </a:solidFill>
                <a:latin typeface="Consolas"/>
              </a:rPr>
              <a:t>        </a:t>
            </a:r>
            <a:r>
              <a:rPr sz="1600">
                <a:solidFill>
                  <a:srgbClr val="9CDCFE"/>
                </a:solidFill>
                <a:latin typeface="Consolas"/>
              </a:rPr>
              <a:t>model</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Task</a:t>
            </a:r>
          </a:p>
          <a:p>
            <a:pPr>
              <a:lnSpc>
                <a:spcPct val="110000"/>
              </a:lnSpc>
            </a:pPr>
            <a:r>
              <a:rPr sz="1600">
                <a:solidFill>
                  <a:srgbClr val="D4D4D4"/>
                </a:solidFill>
                <a:latin typeface="Consolas"/>
              </a:rPr>
              <a:t>        </a:t>
            </a:r>
            <a:r>
              <a:rPr sz="1600">
                <a:solidFill>
                  <a:srgbClr val="9CDCFE"/>
                </a:solidFill>
                <a:latin typeface="Consolas"/>
              </a:rPr>
              <a:t>fields</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D4D4D4"/>
                </a:solidFill>
                <a:latin typeface="Consolas"/>
              </a:rPr>
              <a:t>[</a:t>
            </a:r>
            <a:r>
              <a:rPr sz="1600">
                <a:solidFill>
                  <a:srgbClr val="CE9178"/>
                </a:solidFill>
                <a:latin typeface="Consolas"/>
              </a:rPr>
              <a:t>"</a:t>
            </a:r>
            <a:r>
              <a:rPr sz="1600">
                <a:solidFill>
                  <a:srgbClr val="CE9178"/>
                </a:solidFill>
                <a:latin typeface="Consolas"/>
              </a:rPr>
              <a:t>title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owner_email</a:t>
            </a:r>
            <a:r>
              <a:rPr sz="1600">
                <a:solidFill>
                  <a:srgbClr val="CE9178"/>
                </a:solidFill>
                <a:latin typeface="Consolas"/>
              </a:rPr>
              <a:t>"</a:t>
            </a:r>
            <a:r>
              <a:rPr sz="1600">
                <a:solidFill>
                  <a:srgbClr val="D4D4D4"/>
                </a:solidFill>
                <a:latin typeface="Consolas"/>
              </a:rPr>
              <a:t>]</a:t>
            </a:r>
          </a:p>
          <a:p>
            <a:pPr>
              <a:lnSpc>
                <a:spcPct val="110000"/>
              </a:lnSpc>
            </a:pP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EmailDemoSerializer</a:t>
            </a:r>
            <a:r>
              <a:rPr sz="1600">
                <a:solidFill>
                  <a:srgbClr val="D4D4D4"/>
                </a:solidFill>
                <a:latin typeface="Consolas"/>
              </a:rPr>
              <a:t>(</a:t>
            </a:r>
            <a:r>
              <a:rPr sz="1600">
                <a:solidFill>
                  <a:srgbClr val="9CDCFE"/>
                </a:solidFill>
                <a:latin typeface="Consolas"/>
              </a:rPr>
              <a:t>task</a:t>
            </a:r>
            <a:r>
              <a:rPr sz="1600">
                <a:solidFill>
                  <a:srgbClr val="D4D4D4"/>
                </a:solidFill>
                <a:latin typeface="Consolas"/>
              </a:rPr>
              <a:t>)</a:t>
            </a:r>
            <a:r>
              <a:rPr sz="1600">
                <a:solidFill>
                  <a:srgbClr val="D4D4D4"/>
                </a:solidFill>
                <a:latin typeface="Consolas"/>
              </a:rPr>
              <a:t>.</a:t>
            </a:r>
            <a:r>
              <a:rPr sz="1600">
                <a:solidFill>
                  <a:srgbClr val="9CDCFE"/>
                </a:solidFill>
                <a:latin typeface="Consolas"/>
              </a:rPr>
              <a:t>data</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task belongs to grace</a:t>
            </a:r>
          </a:p>
          <a:p>
            <a:pPr>
              <a:lnSpc>
                <a:spcPct val="110000"/>
              </a:lnSpc>
            </a:pPr>
            <a:r>
              <a:rPr sz="1600">
                <a:solidFill>
                  <a:srgbClr val="9CDCFE"/>
                </a:solidFill>
                <a:latin typeface="Consolas"/>
              </a:rPr>
              <a:t>incoming</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EmailDemoSerializer</a:t>
            </a:r>
            <a:r>
              <a:rPr sz="1600">
                <a:solidFill>
                  <a:srgbClr val="D4D4D4"/>
                </a:solidFill>
                <a:latin typeface="Consolas"/>
              </a:rPr>
              <a:t>(</a:t>
            </a:r>
            <a:r>
              <a:rPr sz="1600">
                <a:solidFill>
                  <a:srgbClr val="9CDCFE"/>
                </a:solidFill>
                <a:latin typeface="Consolas"/>
              </a:rPr>
              <a:t>data</a:t>
            </a:r>
            <a:r>
              <a:rPr sz="1600">
                <a:solidFill>
                  <a:srgbClr val="D4D4D4"/>
                </a:solidFill>
                <a:latin typeface="Consolas"/>
              </a:rPr>
              <a:t>=</a:t>
            </a:r>
            <a:r>
              <a:rPr sz="1600">
                <a:solidFill>
                  <a:srgbClr val="D4D4D4"/>
                </a:solidFill>
                <a:latin typeface="Consolas"/>
              </a:rPr>
              <a:t>{</a:t>
            </a:r>
            <a:r>
              <a:rPr sz="1600">
                <a:solidFill>
                  <a:srgbClr val="CE9178"/>
                </a:solidFill>
                <a:latin typeface="Consolas"/>
              </a:rPr>
              <a:t>"</a:t>
            </a:r>
            <a:r>
              <a:rPr sz="1600">
                <a:solidFill>
                  <a:srgbClr val="CE9178"/>
                </a:solidFill>
                <a:latin typeface="Consolas"/>
              </a:rPr>
              <a:t>title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Plan</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owner_email</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x@evil.io</a:t>
            </a:r>
            <a:r>
              <a:rPr sz="1600">
                <a:solidFill>
                  <a:srgbClr val="CE9178"/>
                </a:solidFill>
                <a:latin typeface="Consolas"/>
              </a:rPr>
              <a:t>"</a:t>
            </a:r>
            <a:r>
              <a:rPr sz="1600">
                <a:solidFill>
                  <a:srgbClr val="D4D4D4"/>
                </a:solidFill>
                <a:latin typeface="Consolas"/>
              </a:rPr>
              <a:t>}</a:t>
            </a:r>
            <a:r>
              <a:rPr sz="1600">
                <a:solidFill>
                  <a:srgbClr val="D4D4D4"/>
                </a:solidFill>
                <a:latin typeface="Consolas"/>
              </a:rPr>
              <a:t>)</a:t>
            </a: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incoming</a:t>
            </a:r>
            <a:r>
              <a:rPr sz="1600">
                <a:solidFill>
                  <a:srgbClr val="D4D4D4"/>
                </a:solidFill>
                <a:latin typeface="Consolas"/>
              </a:rPr>
              <a:t>.</a:t>
            </a:r>
            <a:r>
              <a:rPr sz="1600">
                <a:solidFill>
                  <a:srgbClr val="9CDCFE"/>
                </a:solidFill>
                <a:latin typeface="Consolas"/>
              </a:rPr>
              <a:t>is_valid</a:t>
            </a:r>
            <a:r>
              <a:rPr sz="1600">
                <a:solidFill>
                  <a:srgbClr val="D4D4D4"/>
                </a:solidFill>
                <a:latin typeface="Consolas"/>
              </a:rPr>
              <a:t>(</a:t>
            </a: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incoming</a:t>
            </a:r>
            <a:r>
              <a:rPr sz="1600">
                <a:solidFill>
                  <a:srgbClr val="D4D4D4"/>
                </a:solidFill>
                <a:latin typeface="Consolas"/>
              </a:rPr>
              <a:t>.</a:t>
            </a:r>
            <a:r>
              <a:rPr sz="1600">
                <a:solidFill>
                  <a:srgbClr val="9CDCFE"/>
                </a:solidFill>
                <a:latin typeface="Consolas"/>
              </a:rPr>
              <a:t>validated_data</a:t>
            </a:r>
            <a:r>
              <a:rPr sz="1600">
                <a:solidFill>
                  <a:srgbClr val="D4D4D4"/>
                </a:solidFill>
                <a:latin typeface="Consolas"/>
              </a:rPr>
              <a:t>)</a:t>
            </a:r>
          </a:p>
          <a:p>
            <a:pPr>
              <a:lnSpc>
                <a:spcPct val="110000"/>
              </a:lnSpc>
            </a:pPr>
          </a:p>
        </p:txBody>
      </p:sp>
      <p:sp>
        <p:nvSpPr>
          <p:cNvPr id="8" name="Rounded Rectangle 7"/>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a:t>
            </a:r>
            <a:r>
              <a:rPr sz="1800">
                <a:solidFill>
                  <a:srgbClr val="D4D4D4"/>
                </a:solidFill>
                <a:latin typeface="Consolas"/>
              </a:rPr>
              <a:t>'</a:t>
            </a:r>
            <a:r>
              <a:rPr sz="1800">
                <a:solidFill>
                  <a:srgbClr val="D4D4D4"/>
                </a:solidFill>
                <a:latin typeface="Consolas"/>
              </a:rPr>
              <a:t>title</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Write report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owner_email</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grace@example.com</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True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a:t>
            </a:r>
            <a:r>
              <a:rPr sz="1800">
                <a:solidFill>
                  <a:srgbClr val="D4D4D4"/>
                </a:solidFill>
                <a:latin typeface="Consolas"/>
              </a:rPr>
              <a:t>title</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Plan</a:t>
            </a:r>
            <a:r>
              <a:rPr sz="1800">
                <a:solidFill>
                  <a:srgbClr val="D4D4D4"/>
                </a:solidFill>
                <a:latin typeface="Consolas"/>
              </a:rPr>
              <a:t>'</a:t>
            </a:r>
            <a:r>
              <a:rPr sz="1800">
                <a:solidFill>
                  <a:srgbClr val="D4D4D4"/>
                </a:solidFill>
                <a:latin typeface="Consolas"/>
              </a:rPr>
              <a:t>}</a:t>
            </a:r>
          </a:p>
          <a:p>
            <a:pPr>
              <a:lnSpc>
                <a:spcPct val="110000"/>
              </a:lnSpc>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9</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serializer.save(owner=...)</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Keywords you pass to </a:t>
            </a:r>
            <a:r>
              <a:rPr sz="2000" b="0">
                <a:solidFill>
                  <a:srgbClr val="6A3FC0"/>
                </a:solidFill>
                <a:latin typeface="Consolas"/>
              </a:rPr>
              <a:t>save()</a:t>
            </a:r>
            <a:r>
              <a:rPr sz="2000" b="0">
                <a:solidFill>
                  <a:srgbClr val="1C2330"/>
                </a:solidFill>
                <a:latin typeface="Segoe UI"/>
              </a:rPr>
              <a:t> are </a:t>
            </a:r>
            <a:r>
              <a:rPr sz="2000" b="1">
                <a:solidFill>
                  <a:srgbClr val="1C2330"/>
                </a:solidFill>
                <a:latin typeface="Segoe UI"/>
              </a:rPr>
              <a:t>added</a:t>
            </a:r>
            <a:r>
              <a:rPr sz="2000" b="0">
                <a:solidFill>
                  <a:srgbClr val="1C2330"/>
                </a:solidFill>
                <a:latin typeface="Segoe UI"/>
              </a:rPr>
              <a:t> to the checked data: the server fills them in.</a:t>
            </a:r>
          </a:p>
        </p:txBody>
      </p:sp>
      <p:sp>
        <p:nvSpPr>
          <p:cNvPr id="7" name="Rounded Rectangle 6"/>
          <p:cNvSpPr/>
          <p:nvPr/>
        </p:nvSpPr>
        <p:spPr>
          <a:xfrm>
            <a:off x="640080" y="2331720"/>
            <a:ext cx="10911535" cy="286207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496312"/>
          </a:xfrm>
          <a:prstGeom prst="rect">
            <a:avLst/>
          </a:prstGeom>
          <a:noFill/>
        </p:spPr>
        <p:txBody>
          <a:bodyPr wrap="square" anchor="t" lIns="0" rIns="0" tIns="0" bIns="0">
            <a:spAutoFit/>
          </a:bodyPr>
          <a:lstStyle/>
          <a:p>
            <a:pPr>
              <a:lnSpc>
                <a:spcPct val="110000"/>
              </a:lnSpc>
            </a:pP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TitleSerializer</a:t>
            </a:r>
            <a:r>
              <a:rPr sz="1600">
                <a:solidFill>
                  <a:srgbClr val="D4D4D4"/>
                </a:solidFill>
                <a:latin typeface="Consolas"/>
              </a:rPr>
              <a:t>(</a:t>
            </a:r>
            <a:r>
              <a:rPr sz="1600">
                <a:solidFill>
                  <a:srgbClr val="9CDCFE"/>
                </a:solidFill>
                <a:latin typeface="Consolas"/>
              </a:rPr>
              <a:t>serializers</a:t>
            </a:r>
            <a:r>
              <a:rPr sz="1600">
                <a:solidFill>
                  <a:srgbClr val="D4D4D4"/>
                </a:solidFill>
                <a:latin typeface="Consolas"/>
              </a:rPr>
              <a:t>.</a:t>
            </a:r>
            <a:r>
              <a:rPr sz="1600">
                <a:solidFill>
                  <a:srgbClr val="9CDCFE"/>
                </a:solidFill>
                <a:latin typeface="Consolas"/>
              </a:rPr>
              <a:t>ModelSerializer</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Meta</a:t>
            </a:r>
            <a:r>
              <a:rPr sz="1600">
                <a:solidFill>
                  <a:srgbClr val="D4D4D4"/>
                </a:solidFill>
                <a:latin typeface="Consolas"/>
              </a:rPr>
              <a:t>:</a:t>
            </a:r>
          </a:p>
          <a:p>
            <a:pPr>
              <a:lnSpc>
                <a:spcPct val="110000"/>
              </a:lnSpc>
            </a:pPr>
            <a:r>
              <a:rPr sz="1600">
                <a:solidFill>
                  <a:srgbClr val="D4D4D4"/>
                </a:solidFill>
                <a:latin typeface="Consolas"/>
              </a:rPr>
              <a:t>        </a:t>
            </a:r>
            <a:r>
              <a:rPr sz="1600">
                <a:solidFill>
                  <a:srgbClr val="9CDCFE"/>
                </a:solidFill>
                <a:latin typeface="Consolas"/>
              </a:rPr>
              <a:t>model</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Task</a:t>
            </a:r>
          </a:p>
          <a:p>
            <a:pPr>
              <a:lnSpc>
                <a:spcPct val="110000"/>
              </a:lnSpc>
            </a:pPr>
            <a:r>
              <a:rPr sz="1600">
                <a:solidFill>
                  <a:srgbClr val="D4D4D4"/>
                </a:solidFill>
                <a:latin typeface="Consolas"/>
              </a:rPr>
              <a:t>        </a:t>
            </a:r>
            <a:r>
              <a:rPr sz="1600">
                <a:solidFill>
                  <a:srgbClr val="9CDCFE"/>
                </a:solidFill>
                <a:latin typeface="Consolas"/>
              </a:rPr>
              <a:t>fields</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D4D4D4"/>
                </a:solidFill>
                <a:latin typeface="Consolas"/>
              </a:rPr>
              <a:t>[</a:t>
            </a:r>
            <a:r>
              <a:rPr sz="1600">
                <a:solidFill>
                  <a:srgbClr val="CE9178"/>
                </a:solidFill>
                <a:latin typeface="Consolas"/>
              </a:rPr>
              <a:t>"</a:t>
            </a:r>
            <a:r>
              <a:rPr sz="1600">
                <a:solidFill>
                  <a:srgbClr val="CE9178"/>
                </a:solidFill>
                <a:latin typeface="Consolas"/>
              </a:rPr>
              <a:t>id</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title</a:t>
            </a:r>
            <a:r>
              <a:rPr sz="1600">
                <a:solidFill>
                  <a:srgbClr val="CE9178"/>
                </a:solidFill>
                <a:latin typeface="Consolas"/>
              </a:rPr>
              <a:t>"</a:t>
            </a:r>
            <a:r>
              <a:rPr sz="1600">
                <a:solidFill>
                  <a:srgbClr val="D4D4D4"/>
                </a:solidFill>
                <a:latin typeface="Consolas"/>
              </a:rPr>
              <a:t>]</a:t>
            </a:r>
          </a:p>
          <a:p>
            <a:pPr>
              <a:lnSpc>
                <a:spcPct val="110000"/>
              </a:lnSpc>
            </a:pPr>
          </a:p>
          <a:p>
            <a:pPr>
              <a:lnSpc>
                <a:spcPct val="110000"/>
              </a:lnSpc>
            </a:pPr>
            <a:r>
              <a:rPr sz="1600">
                <a:solidFill>
                  <a:srgbClr val="9CDCFE"/>
                </a:solidFill>
                <a:latin typeface="Consolas"/>
              </a:rPr>
              <a:t>incoming</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TitleSerializer</a:t>
            </a:r>
            <a:r>
              <a:rPr sz="1600">
                <a:solidFill>
                  <a:srgbClr val="D4D4D4"/>
                </a:solidFill>
                <a:latin typeface="Consolas"/>
              </a:rPr>
              <a:t>(</a:t>
            </a:r>
            <a:r>
              <a:rPr sz="1600">
                <a:solidFill>
                  <a:srgbClr val="9CDCFE"/>
                </a:solidFill>
                <a:latin typeface="Consolas"/>
              </a:rPr>
              <a:t>data</a:t>
            </a:r>
            <a:r>
              <a:rPr sz="1600">
                <a:solidFill>
                  <a:srgbClr val="D4D4D4"/>
                </a:solidFill>
                <a:latin typeface="Consolas"/>
              </a:rPr>
              <a:t>=</a:t>
            </a:r>
            <a:r>
              <a:rPr sz="1600">
                <a:solidFill>
                  <a:srgbClr val="D4D4D4"/>
                </a:solidFill>
                <a:latin typeface="Consolas"/>
              </a:rPr>
              <a:t>{</a:t>
            </a:r>
            <a:r>
              <a:rPr sz="1600">
                <a:solidFill>
                  <a:srgbClr val="CE9178"/>
                </a:solidFill>
                <a:latin typeface="Consolas"/>
              </a:rPr>
              <a:t>"</a:t>
            </a:r>
            <a:r>
              <a:rPr sz="1600">
                <a:solidFill>
                  <a:srgbClr val="CE9178"/>
                </a:solidFill>
                <a:latin typeface="Consolas"/>
              </a:rPr>
              <a:t>title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Plan the trip</a:t>
            </a:r>
            <a:r>
              <a:rPr sz="1600">
                <a:solidFill>
                  <a:srgbClr val="CE9178"/>
                </a:solidFill>
                <a:latin typeface="Consolas"/>
              </a:rPr>
              <a:t>"</a:t>
            </a:r>
            <a:r>
              <a:rPr sz="1600">
                <a:solidFill>
                  <a:srgbClr val="D4D4D4"/>
                </a:solidFill>
                <a:latin typeface="Consolas"/>
              </a:rPr>
              <a:t>}</a:t>
            </a:r>
            <a:r>
              <a:rPr sz="1600">
                <a:solidFill>
                  <a:srgbClr val="D4D4D4"/>
                </a:solidFill>
                <a:latin typeface="Consolas"/>
              </a:rPr>
              <a:t>)</a:t>
            </a:r>
          </a:p>
          <a:p>
            <a:pPr>
              <a:lnSpc>
                <a:spcPct val="110000"/>
              </a:lnSpc>
            </a:pPr>
            <a:r>
              <a:rPr sz="1600">
                <a:solidFill>
                  <a:srgbClr val="9CDCFE"/>
                </a:solidFill>
                <a:latin typeface="Consolas"/>
              </a:rPr>
              <a:t>incoming</a:t>
            </a:r>
            <a:r>
              <a:rPr sz="1600">
                <a:solidFill>
                  <a:srgbClr val="D4D4D4"/>
                </a:solidFill>
                <a:latin typeface="Consolas"/>
              </a:rPr>
              <a:t>.</a:t>
            </a:r>
            <a:r>
              <a:rPr sz="1600">
                <a:solidFill>
                  <a:srgbClr val="9CDCFE"/>
                </a:solidFill>
                <a:latin typeface="Consolas"/>
              </a:rPr>
              <a:t>is_valid</a:t>
            </a:r>
            <a:r>
              <a:rPr sz="1600">
                <a:solidFill>
                  <a:srgbClr val="D4D4D4"/>
                </a:solidFill>
                <a:latin typeface="Consolas"/>
              </a:rPr>
              <a:t>(</a:t>
            </a:r>
            <a:r>
              <a:rPr sz="1600">
                <a:solidFill>
                  <a:srgbClr val="D4D4D4"/>
                </a:solidFill>
                <a:latin typeface="Consolas"/>
              </a:rPr>
              <a:t>)</a:t>
            </a:r>
          </a:p>
          <a:p>
            <a:pPr>
              <a:lnSpc>
                <a:spcPct val="110000"/>
              </a:lnSpc>
            </a:pPr>
            <a:r>
              <a:rPr sz="1600">
                <a:solidFill>
                  <a:srgbClr val="9CDCFE"/>
                </a:solidFill>
                <a:latin typeface="Consolas"/>
              </a:rPr>
              <a:t>task</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incoming</a:t>
            </a:r>
            <a:r>
              <a:rPr sz="1600">
                <a:solidFill>
                  <a:srgbClr val="D4D4D4"/>
                </a:solidFill>
                <a:latin typeface="Consolas"/>
              </a:rPr>
              <a:t>.</a:t>
            </a:r>
            <a:r>
              <a:rPr sz="1600">
                <a:solidFill>
                  <a:srgbClr val="9CDCFE"/>
                </a:solidFill>
                <a:latin typeface="Consolas"/>
              </a:rPr>
              <a:t>save</a:t>
            </a:r>
            <a:r>
              <a:rPr sz="1600">
                <a:solidFill>
                  <a:srgbClr val="D4D4D4"/>
                </a:solidFill>
                <a:latin typeface="Consolas"/>
              </a:rPr>
              <a:t>(</a:t>
            </a:r>
            <a:r>
              <a:rPr sz="1600">
                <a:solidFill>
                  <a:srgbClr val="9CDCFE"/>
                </a:solidFill>
                <a:latin typeface="Consolas"/>
              </a:rPr>
              <a:t>owner</a:t>
            </a:r>
            <a:r>
              <a:rPr sz="1600">
                <a:solidFill>
                  <a:srgbClr val="D4D4D4"/>
                </a:solidFill>
                <a:latin typeface="Consolas"/>
              </a:rPr>
              <a:t>=</a:t>
            </a:r>
            <a:r>
              <a:rPr sz="1600">
                <a:solidFill>
                  <a:srgbClr val="9CDCFE"/>
                </a:solidFill>
                <a:latin typeface="Consolas"/>
              </a:rPr>
              <a:t>grace</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grace is a User</a:t>
            </a: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task</a:t>
            </a:r>
            <a:r>
              <a:rPr sz="1600">
                <a:solidFill>
                  <a:srgbClr val="D4D4D4"/>
                </a:solidFill>
                <a:latin typeface="Consolas"/>
              </a:rPr>
              <a:t>.</a:t>
            </a:r>
            <a:r>
              <a:rPr sz="1600">
                <a:solidFill>
                  <a:srgbClr val="9CDCFE"/>
                </a:solidFill>
                <a:latin typeface="Consolas"/>
              </a:rPr>
              <a:t>owner</a:t>
            </a:r>
            <a:r>
              <a:rPr sz="1600">
                <a:solidFill>
                  <a:srgbClr val="D4D4D4"/>
                </a:solidFill>
                <a:latin typeface="Consolas"/>
              </a:rPr>
              <a:t>.</a:t>
            </a:r>
            <a:r>
              <a:rPr sz="1600">
                <a:solidFill>
                  <a:srgbClr val="9CDCFE"/>
                </a:solidFill>
                <a:latin typeface="Consolas"/>
              </a:rPr>
              <a:t>username</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task</a:t>
            </a:r>
            <a:r>
              <a:rPr sz="1600">
                <a:solidFill>
                  <a:srgbClr val="D4D4D4"/>
                </a:solidFill>
                <a:latin typeface="Consolas"/>
              </a:rPr>
              <a:t>.</a:t>
            </a:r>
            <a:r>
              <a:rPr sz="1600">
                <a:solidFill>
                  <a:srgbClr val="9CDCFE"/>
                </a:solidFill>
                <a:latin typeface="Consolas"/>
              </a:rPr>
              <a:t>title</a:t>
            </a:r>
            <a:r>
              <a:rPr sz="1600">
                <a:solidFill>
                  <a:srgbClr val="D4D4D4"/>
                </a:solidFill>
                <a:latin typeface="Consolas"/>
              </a:rPr>
              <a:t>)</a:t>
            </a:r>
          </a:p>
          <a:p>
            <a:pPr>
              <a:lnSpc>
                <a:spcPct val="110000"/>
              </a:lnSpc>
            </a:pPr>
          </a:p>
        </p:txBody>
      </p:sp>
      <p:sp>
        <p:nvSpPr>
          <p:cNvPr id="9" name="Rounded Rectangle 8"/>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grace</a:t>
            </a:r>
            <a:r>
              <a:rPr sz="1800">
                <a:solidFill>
                  <a:srgbClr val="D4D4D4"/>
                </a:solidFill>
                <a:latin typeface="Consolas"/>
              </a:rPr>
              <a:t> </a:t>
            </a:r>
            <a:r>
              <a:rPr sz="1800">
                <a:solidFill>
                  <a:srgbClr val="D4D4D4"/>
                </a:solidFill>
                <a:latin typeface="Consolas"/>
              </a:rPr>
              <a:t>Plan</a:t>
            </a:r>
            <a:r>
              <a:rPr sz="1800">
                <a:solidFill>
                  <a:srgbClr val="D4D4D4"/>
                </a:solidFill>
                <a:latin typeface="Consolas"/>
              </a:rPr>
              <a:t> </a:t>
            </a:r>
            <a:r>
              <a:rPr sz="1800">
                <a:solidFill>
                  <a:srgbClr val="D4D4D4"/>
                </a:solidFill>
                <a:latin typeface="Consolas"/>
              </a:rPr>
              <a:t>the</a:t>
            </a:r>
            <a:r>
              <a:rPr sz="1800">
                <a:solidFill>
                  <a:srgbClr val="D4D4D4"/>
                </a:solidFill>
                <a:latin typeface="Consolas"/>
              </a:rPr>
              <a:t> </a:t>
            </a:r>
            <a:r>
              <a:rPr sz="1800">
                <a:solidFill>
                  <a:srgbClr val="D4D4D4"/>
                </a:solidFill>
                <a:latin typeface="Consolas"/>
              </a:rPr>
              <a:t>trip</a:t>
            </a:r>
          </a:p>
          <a:p>
            <a:pPr>
              <a:lnSpc>
                <a:spcPct val="110000"/>
              </a:lnSpc>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10</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queryset = ... vs get_queryset(self)</a:t>
            </a:r>
          </a:p>
        </p:txBody>
      </p:sp>
      <p:sp>
        <p:nvSpPr>
          <p:cNvPr id="6" name="Rounded Rectangle 5"/>
          <p:cNvSpPr/>
          <p:nvPr/>
        </p:nvSpPr>
        <p:spPr>
          <a:xfrm>
            <a:off x="640080" y="1508760"/>
            <a:ext cx="5272887" cy="438912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32807" cy="4023360"/>
          </a:xfrm>
          <a:prstGeom prst="rect">
            <a:avLst/>
          </a:prstGeom>
          <a:noFill/>
        </p:spPr>
        <p:txBody>
          <a:bodyPr wrap="square" anchor="t" lIns="0" rIns="0" tIns="0" bIns="0">
            <a:spAutoFit/>
          </a:bodyPr>
          <a:lstStyle/>
          <a:p>
            <a:pPr>
              <a:spcAft>
                <a:spcPts val="1400"/>
              </a:spcAft>
            </a:pPr>
            <a:r>
              <a:rPr sz="2400" b="1">
                <a:solidFill>
                  <a:srgbClr val="8A4FE0"/>
                </a:solidFill>
                <a:latin typeface="Segoe UI"/>
              </a:rPr>
              <a:t>queryset = Task.objects.all()</a:t>
            </a:r>
          </a:p>
          <a:p>
            <a:pPr>
              <a:spcAft>
                <a:spcPts val="1000"/>
              </a:spcAft>
            </a:pPr>
            <a:r>
              <a:rPr sz="1900" b="0">
                <a:solidFill>
                  <a:srgbClr val="1C2330"/>
                </a:solidFill>
                <a:latin typeface="Segoe UI"/>
              </a:rPr>
              <a:t>•  A class variable, fixed when the file loads</a:t>
            </a:r>
          </a:p>
          <a:p>
            <a:pPr>
              <a:spcAft>
                <a:spcPts val="1000"/>
              </a:spcAft>
            </a:pPr>
            <a:r>
              <a:rPr sz="1900" b="0">
                <a:solidFill>
                  <a:srgbClr val="1C2330"/>
                </a:solidFill>
                <a:latin typeface="Segoe UI"/>
              </a:rPr>
              <a:t>•  Can't know who is asking</a:t>
            </a:r>
          </a:p>
          <a:p>
            <a:pPr>
              <a:spcAft>
                <a:spcPts val="1000"/>
              </a:spcAft>
            </a:pPr>
            <a:r>
              <a:rPr sz="1900" b="0">
                <a:solidFill>
                  <a:srgbClr val="1C2330"/>
                </a:solidFill>
                <a:latin typeface="Segoe UI"/>
              </a:rPr>
              <a:t>•  Everyone sees everyone's tasks</a:t>
            </a:r>
          </a:p>
          <a:p>
            <a:pPr>
              <a:spcAft>
                <a:spcPts val="1000"/>
              </a:spcAft>
            </a:pPr>
            <a:r>
              <a:rPr sz="1900" b="0">
                <a:solidFill>
                  <a:srgbClr val="1C2330"/>
                </a:solidFill>
                <a:latin typeface="Segoe UI"/>
              </a:rPr>
              <a:t>•  The router guesses the URL name from it</a:t>
            </a:r>
          </a:p>
        </p:txBody>
      </p:sp>
      <p:sp>
        <p:nvSpPr>
          <p:cNvPr id="8" name="Rounded Rectangle 7"/>
          <p:cNvSpPr/>
          <p:nvPr/>
        </p:nvSpPr>
        <p:spPr>
          <a:xfrm>
            <a:off x="6278727" y="1508760"/>
            <a:ext cx="5272887" cy="4389120"/>
          </a:xfrm>
          <a:prstGeom prst="roundRect">
            <a:avLst>
              <a:gd name="adj" fmla="val 6000"/>
            </a:avLst>
          </a:prstGeom>
          <a:solidFill>
            <a:srgbClr val="E5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98767" y="1737360"/>
            <a:ext cx="4632807" cy="4023360"/>
          </a:xfrm>
          <a:prstGeom prst="rect">
            <a:avLst/>
          </a:prstGeom>
          <a:noFill/>
        </p:spPr>
        <p:txBody>
          <a:bodyPr wrap="square" anchor="t" lIns="0" rIns="0" tIns="0" bIns="0">
            <a:spAutoFit/>
          </a:bodyPr>
          <a:lstStyle/>
          <a:p>
            <a:pPr>
              <a:spcAft>
                <a:spcPts val="1400"/>
              </a:spcAft>
            </a:pPr>
            <a:r>
              <a:rPr sz="2400" b="1">
                <a:solidFill>
                  <a:srgbClr val="2F6FDF"/>
                </a:solidFill>
                <a:latin typeface="Segoe UI"/>
              </a:rPr>
              <a:t>def get_queryset(self):</a:t>
            </a:r>
          </a:p>
          <a:p>
            <a:pPr>
              <a:spcAft>
                <a:spcPts val="1000"/>
              </a:spcAft>
            </a:pPr>
            <a:r>
              <a:rPr sz="1900" b="0">
                <a:solidFill>
                  <a:srgbClr val="1C2330"/>
                </a:solidFill>
                <a:latin typeface="Segoe UI"/>
              </a:rPr>
              <a:t>•  A method, called </a:t>
            </a:r>
            <a:r>
              <a:rPr sz="1900" b="1">
                <a:solidFill>
                  <a:srgbClr val="1C2330"/>
                </a:solidFill>
                <a:latin typeface="Segoe UI"/>
              </a:rPr>
              <a:t>for each request</a:t>
            </a:r>
          </a:p>
          <a:p>
            <a:pPr>
              <a:spcAft>
                <a:spcPts val="1000"/>
              </a:spcAft>
            </a:pPr>
            <a:r>
              <a:rPr sz="1900" b="0">
                <a:solidFill>
                  <a:srgbClr val="1C2330"/>
                </a:solidFill>
                <a:latin typeface="Segoe UI"/>
              </a:rPr>
              <a:t>•  Can use </a:t>
            </a:r>
            <a:r>
              <a:rPr sz="1900" b="0">
                <a:solidFill>
                  <a:srgbClr val="6A3FC0"/>
                </a:solidFill>
                <a:latin typeface="Consolas"/>
              </a:rPr>
              <a:t>self.request.user</a:t>
            </a:r>
          </a:p>
          <a:p>
            <a:pPr>
              <a:spcAft>
                <a:spcPts val="1000"/>
              </a:spcAft>
            </a:pPr>
            <a:r>
              <a:rPr sz="1900" b="0">
                <a:solidFill>
                  <a:srgbClr val="1C2330"/>
                </a:solidFill>
                <a:latin typeface="Segoe UI"/>
              </a:rPr>
              <a:t>•  Returns only this user's tasks</a:t>
            </a:r>
          </a:p>
          <a:p>
            <a:pPr>
              <a:spcAft>
                <a:spcPts val="1000"/>
              </a:spcAft>
            </a:pPr>
            <a:r>
              <a:rPr sz="1900" b="0">
                <a:solidFill>
                  <a:srgbClr val="1C2330"/>
                </a:solidFill>
                <a:latin typeface="Segoe UI"/>
              </a:rPr>
              <a:t>•  Needs </a:t>
            </a:r>
            <a:r>
              <a:rPr sz="1900" b="0">
                <a:solidFill>
                  <a:srgbClr val="6A3FC0"/>
                </a:solidFill>
                <a:latin typeface="Consolas"/>
              </a:rPr>
              <a:t>basename=</a:t>
            </a:r>
            <a:r>
              <a:rPr sz="1900" b="0">
                <a:solidFill>
                  <a:srgbClr val="1C2330"/>
                </a:solidFill>
                <a:latin typeface="Segoe UI"/>
              </a:rPr>
              <a:t> on the router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11</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.filter(...) and .order_by(...)</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Keep the matching rows, then sort them, like </a:t>
            </a:r>
            <a:r>
              <a:rPr sz="2000" b="0">
                <a:solidFill>
                  <a:srgbClr val="6A3FC0"/>
                </a:solidFill>
                <a:latin typeface="Consolas"/>
              </a:rPr>
              <a:t>df.sort_values("title")</a:t>
            </a:r>
            <a:r>
              <a:rPr sz="2000" b="0">
                <a:solidFill>
                  <a:srgbClr val="1C2330"/>
                </a:solidFill>
                <a:latin typeface="Segoe UI"/>
              </a:rPr>
              <a:t> in pandas.</a:t>
            </a:r>
          </a:p>
        </p:txBody>
      </p:sp>
      <p:sp>
        <p:nvSpPr>
          <p:cNvPr id="7" name="Rounded Rectangle 6"/>
          <p:cNvSpPr/>
          <p:nvPr/>
        </p:nvSpPr>
        <p:spPr>
          <a:xfrm>
            <a:off x="640080" y="2331720"/>
            <a:ext cx="10911535" cy="286207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496312"/>
          </a:xfrm>
          <a:prstGeom prst="rect">
            <a:avLst/>
          </a:prstGeom>
          <a:noFill/>
        </p:spPr>
        <p:txBody>
          <a:bodyPr wrap="square" anchor="t" lIns="0" rIns="0" tIns="0" bIns="0">
            <a:spAutoFit/>
          </a:bodyPr>
          <a:lstStyle/>
          <a:p>
            <a:pPr>
              <a:lnSpc>
                <a:spcPct val="110000"/>
              </a:lnSpc>
            </a:pP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create</a:t>
            </a:r>
            <a:r>
              <a:rPr sz="1800">
                <a:solidFill>
                  <a:srgbClr val="D4D4D4"/>
                </a:solidFill>
                <a:latin typeface="Consolas"/>
              </a:rPr>
              <a:t>(</a:t>
            </a:r>
            <a:r>
              <a:rPr sz="1800">
                <a:solidFill>
                  <a:srgbClr val="9CDCFE"/>
                </a:solidFill>
                <a:latin typeface="Consolas"/>
              </a:rPr>
              <a:t>owner</a:t>
            </a:r>
            <a:r>
              <a:rPr sz="1800">
                <a:solidFill>
                  <a:srgbClr val="D4D4D4"/>
                </a:solidFill>
                <a:latin typeface="Consolas"/>
              </a:rPr>
              <a:t>=</a:t>
            </a:r>
            <a:r>
              <a:rPr sz="1800">
                <a:solidFill>
                  <a:srgbClr val="9CDCFE"/>
                </a:solidFill>
                <a:latin typeface="Consolas"/>
              </a:rPr>
              <a:t>grace</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title</a:t>
            </a:r>
            <a:r>
              <a:rPr sz="1800">
                <a:solidFill>
                  <a:srgbClr val="D4D4D4"/>
                </a:solidFill>
                <a:latin typeface="Consolas"/>
              </a:rPr>
              <a:t>=</a:t>
            </a:r>
            <a:r>
              <a:rPr sz="1800">
                <a:solidFill>
                  <a:srgbClr val="CE9178"/>
                </a:solidFill>
                <a:latin typeface="Consolas"/>
              </a:rPr>
              <a:t>"</a:t>
            </a:r>
            <a:r>
              <a:rPr sz="1800">
                <a:solidFill>
                  <a:srgbClr val="CE9178"/>
                </a:solidFill>
                <a:latin typeface="Consolas"/>
              </a:rPr>
              <a:t>B task</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done</a:t>
            </a:r>
            <a:r>
              <a:rPr sz="1800">
                <a:solidFill>
                  <a:srgbClr val="D4D4D4"/>
                </a:solidFill>
                <a:latin typeface="Consolas"/>
              </a:rPr>
              <a:t>=</a:t>
            </a:r>
            <a:r>
              <a:rPr sz="1800">
                <a:solidFill>
                  <a:srgbClr val="C586C0"/>
                </a:solidFill>
                <a:latin typeface="Consolas"/>
              </a:rPr>
              <a:t>True</a:t>
            </a:r>
            <a:r>
              <a:rPr sz="1800">
                <a:solidFill>
                  <a:srgbClr val="D4D4D4"/>
                </a:solidFill>
                <a:latin typeface="Consolas"/>
              </a:rPr>
              <a:t>)</a:t>
            </a:r>
          </a:p>
          <a:p>
            <a:pPr>
              <a:lnSpc>
                <a:spcPct val="110000"/>
              </a:lnSpc>
            </a:pP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create</a:t>
            </a:r>
            <a:r>
              <a:rPr sz="1800">
                <a:solidFill>
                  <a:srgbClr val="D4D4D4"/>
                </a:solidFill>
                <a:latin typeface="Consolas"/>
              </a:rPr>
              <a:t>(</a:t>
            </a:r>
            <a:r>
              <a:rPr sz="1800">
                <a:solidFill>
                  <a:srgbClr val="9CDCFE"/>
                </a:solidFill>
                <a:latin typeface="Consolas"/>
              </a:rPr>
              <a:t>owner</a:t>
            </a:r>
            <a:r>
              <a:rPr sz="1800">
                <a:solidFill>
                  <a:srgbClr val="D4D4D4"/>
                </a:solidFill>
                <a:latin typeface="Consolas"/>
              </a:rPr>
              <a:t>=</a:t>
            </a:r>
            <a:r>
              <a:rPr sz="1800">
                <a:solidFill>
                  <a:srgbClr val="9CDCFE"/>
                </a:solidFill>
                <a:latin typeface="Consolas"/>
              </a:rPr>
              <a:t>grace</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title</a:t>
            </a:r>
            <a:r>
              <a:rPr sz="1800">
                <a:solidFill>
                  <a:srgbClr val="D4D4D4"/>
                </a:solidFill>
                <a:latin typeface="Consolas"/>
              </a:rPr>
              <a:t>=</a:t>
            </a:r>
            <a:r>
              <a:rPr sz="1800">
                <a:solidFill>
                  <a:srgbClr val="CE9178"/>
                </a:solidFill>
                <a:latin typeface="Consolas"/>
              </a:rPr>
              <a:t>"</a:t>
            </a:r>
            <a:r>
              <a:rPr sz="1800">
                <a:solidFill>
                  <a:srgbClr val="CE9178"/>
                </a:solidFill>
                <a:latin typeface="Consolas"/>
              </a:rPr>
              <a:t>A task</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done</a:t>
            </a:r>
            <a:r>
              <a:rPr sz="1800">
                <a:solidFill>
                  <a:srgbClr val="D4D4D4"/>
                </a:solidFill>
                <a:latin typeface="Consolas"/>
              </a:rPr>
              <a:t>=</a:t>
            </a:r>
            <a:r>
              <a:rPr sz="1800">
                <a:solidFill>
                  <a:srgbClr val="C586C0"/>
                </a:solidFill>
                <a:latin typeface="Consolas"/>
              </a:rPr>
              <a:t>True</a:t>
            </a:r>
            <a:r>
              <a:rPr sz="1800">
                <a:solidFill>
                  <a:srgbClr val="D4D4D4"/>
                </a:solidFill>
                <a:latin typeface="Consolas"/>
              </a:rPr>
              <a:t>)</a:t>
            </a:r>
          </a:p>
          <a:p>
            <a:pPr>
              <a:lnSpc>
                <a:spcPct val="110000"/>
              </a:lnSpc>
            </a:pP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create</a:t>
            </a:r>
            <a:r>
              <a:rPr sz="1800">
                <a:solidFill>
                  <a:srgbClr val="D4D4D4"/>
                </a:solidFill>
                <a:latin typeface="Consolas"/>
              </a:rPr>
              <a:t>(</a:t>
            </a:r>
            <a:r>
              <a:rPr sz="1800">
                <a:solidFill>
                  <a:srgbClr val="9CDCFE"/>
                </a:solidFill>
                <a:latin typeface="Consolas"/>
              </a:rPr>
              <a:t>owner</a:t>
            </a:r>
            <a:r>
              <a:rPr sz="1800">
                <a:solidFill>
                  <a:srgbClr val="D4D4D4"/>
                </a:solidFill>
                <a:latin typeface="Consolas"/>
              </a:rPr>
              <a:t>=</a:t>
            </a:r>
            <a:r>
              <a:rPr sz="1800">
                <a:solidFill>
                  <a:srgbClr val="9CDCFE"/>
                </a:solidFill>
                <a:latin typeface="Consolas"/>
              </a:rPr>
              <a:t>grace</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title</a:t>
            </a:r>
            <a:r>
              <a:rPr sz="1800">
                <a:solidFill>
                  <a:srgbClr val="D4D4D4"/>
                </a:solidFill>
                <a:latin typeface="Consolas"/>
              </a:rPr>
              <a:t>=</a:t>
            </a:r>
            <a:r>
              <a:rPr sz="1800">
                <a:solidFill>
                  <a:srgbClr val="CE9178"/>
                </a:solidFill>
                <a:latin typeface="Consolas"/>
              </a:rPr>
              <a:t>"</a:t>
            </a:r>
            <a:r>
              <a:rPr sz="1800">
                <a:solidFill>
                  <a:srgbClr val="CE9178"/>
                </a:solidFill>
                <a:latin typeface="Consolas"/>
              </a:rPr>
              <a:t>C task</a:t>
            </a:r>
            <a:r>
              <a:rPr sz="1800">
                <a:solidFill>
                  <a:srgbClr val="CE9178"/>
                </a:solidFill>
                <a:latin typeface="Consolas"/>
              </a:rPr>
              <a:t>"</a:t>
            </a:r>
            <a:r>
              <a:rPr sz="1800">
                <a:solidFill>
                  <a:srgbClr val="D4D4D4"/>
                </a:solidFill>
                <a:latin typeface="Consolas"/>
              </a:rPr>
              <a:t>)</a:t>
            </a:r>
          </a:p>
          <a:p>
            <a:pPr>
              <a:lnSpc>
                <a:spcPct val="110000"/>
              </a:lnSpc>
            </a:pPr>
          </a:p>
          <a:p>
            <a:pPr>
              <a:lnSpc>
                <a:spcPct val="110000"/>
              </a:lnSpc>
            </a:pPr>
            <a:r>
              <a:rPr sz="1800">
                <a:solidFill>
                  <a:srgbClr val="9CDCFE"/>
                </a:solidFill>
                <a:latin typeface="Consolas"/>
              </a:rPr>
              <a:t>finished</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filter</a:t>
            </a:r>
            <a:r>
              <a:rPr sz="1800">
                <a:solidFill>
                  <a:srgbClr val="D4D4D4"/>
                </a:solidFill>
                <a:latin typeface="Consolas"/>
              </a:rPr>
              <a:t>(</a:t>
            </a:r>
            <a:r>
              <a:rPr sz="1800">
                <a:solidFill>
                  <a:srgbClr val="9CDCFE"/>
                </a:solidFill>
                <a:latin typeface="Consolas"/>
              </a:rPr>
              <a:t>done</a:t>
            </a:r>
            <a:r>
              <a:rPr sz="1800">
                <a:solidFill>
                  <a:srgbClr val="D4D4D4"/>
                </a:solidFill>
                <a:latin typeface="Consolas"/>
              </a:rPr>
              <a:t>=</a:t>
            </a:r>
            <a:r>
              <a:rPr sz="1800">
                <a:solidFill>
                  <a:srgbClr val="C586C0"/>
                </a:solidFill>
                <a:latin typeface="Consolas"/>
              </a:rPr>
              <a:t>True</a:t>
            </a:r>
            <a:r>
              <a:rPr sz="1800">
                <a:solidFill>
                  <a:srgbClr val="D4D4D4"/>
                </a:solidFill>
                <a:latin typeface="Consolas"/>
              </a:rPr>
              <a:t>)</a:t>
            </a:r>
            <a:r>
              <a:rPr sz="1800">
                <a:solidFill>
                  <a:srgbClr val="D4D4D4"/>
                </a:solidFill>
                <a:latin typeface="Consolas"/>
              </a:rPr>
              <a:t>.</a:t>
            </a:r>
            <a:r>
              <a:rPr sz="1800">
                <a:solidFill>
                  <a:srgbClr val="9CDCFE"/>
                </a:solidFill>
                <a:latin typeface="Consolas"/>
              </a:rPr>
              <a:t>order_by</a:t>
            </a:r>
            <a:r>
              <a:rPr sz="1800">
                <a:solidFill>
                  <a:srgbClr val="D4D4D4"/>
                </a:solidFill>
                <a:latin typeface="Consolas"/>
              </a:rPr>
              <a:t>(</a:t>
            </a:r>
            <a:r>
              <a:rPr sz="1800">
                <a:solidFill>
                  <a:srgbClr val="CE9178"/>
                </a:solidFill>
                <a:latin typeface="Consolas"/>
              </a:rPr>
              <a:t>"</a:t>
            </a:r>
            <a:r>
              <a:rPr sz="1800">
                <a:solidFill>
                  <a:srgbClr val="CE9178"/>
                </a:solidFill>
                <a:latin typeface="Consolas"/>
              </a:rPr>
              <a:t>title</a:t>
            </a:r>
            <a:r>
              <a:rPr sz="1800">
                <a:solidFill>
                  <a:srgbClr val="CE9178"/>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D4D4D4"/>
                </a:solidFill>
                <a:latin typeface="Consolas"/>
              </a:rPr>
              <a:t>[</a:t>
            </a:r>
            <a:r>
              <a:rPr sz="1800">
                <a:solidFill>
                  <a:srgbClr val="9CDCFE"/>
                </a:solidFill>
                <a:latin typeface="Consolas"/>
              </a:rPr>
              <a:t>t</a:t>
            </a:r>
            <a:r>
              <a:rPr sz="1800">
                <a:solidFill>
                  <a:srgbClr val="D4D4D4"/>
                </a:solidFill>
                <a:latin typeface="Consolas"/>
              </a:rPr>
              <a:t>.</a:t>
            </a:r>
            <a:r>
              <a:rPr sz="1800">
                <a:solidFill>
                  <a:srgbClr val="9CDCFE"/>
                </a:solidFill>
                <a:latin typeface="Consolas"/>
              </a:rPr>
              <a:t>title</a:t>
            </a:r>
            <a:r>
              <a:rPr sz="1800">
                <a:solidFill>
                  <a:srgbClr val="D4D4D4"/>
                </a:solidFill>
                <a:latin typeface="Consolas"/>
              </a:rPr>
              <a:t> </a:t>
            </a:r>
            <a:r>
              <a:rPr sz="1800">
                <a:solidFill>
                  <a:srgbClr val="C586C0"/>
                </a:solidFill>
                <a:latin typeface="Consolas"/>
              </a:rPr>
              <a:t>for</a:t>
            </a:r>
            <a:r>
              <a:rPr sz="1800">
                <a:solidFill>
                  <a:srgbClr val="D4D4D4"/>
                </a:solidFill>
                <a:latin typeface="Consolas"/>
              </a:rPr>
              <a:t> </a:t>
            </a:r>
            <a:r>
              <a:rPr sz="1800">
                <a:solidFill>
                  <a:srgbClr val="9CDCFE"/>
                </a:solidFill>
                <a:latin typeface="Consolas"/>
              </a:rPr>
              <a:t>t</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finished</a:t>
            </a:r>
            <a:r>
              <a:rPr sz="1800">
                <a:solidFill>
                  <a:srgbClr val="D4D4D4"/>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a:t>
            </a:r>
            <a:r>
              <a:rPr sz="1800">
                <a:solidFill>
                  <a:srgbClr val="D4D4D4"/>
                </a:solidFill>
                <a:latin typeface="Consolas"/>
              </a:rPr>
              <a:t>'</a:t>
            </a:r>
            <a:r>
              <a:rPr sz="1800">
                <a:solidFill>
                  <a:srgbClr val="D4D4D4"/>
                </a:solidFill>
                <a:latin typeface="Consolas"/>
              </a:rPr>
              <a:t>A task</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B task</a:t>
            </a:r>
            <a:r>
              <a:rPr sz="1800">
                <a:solidFill>
                  <a:srgbClr val="D4D4D4"/>
                </a:solidFill>
                <a:latin typeface="Consolas"/>
              </a:rPr>
              <a:t>'</a:t>
            </a:r>
            <a:r>
              <a:rPr sz="1800">
                <a:solidFill>
                  <a:srgbClr val="D4D4D4"/>
                </a:solidFill>
                <a:latin typeface="Consolas"/>
              </a:rPr>
              <a:t>]</a:t>
            </a:r>
          </a:p>
          <a:p>
            <a:pPr>
              <a:lnSpc>
                <a:spcPct val="110000"/>
              </a:lnSpc>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Your task, step by step</a:t>
            </a:r>
          </a:p>
        </p:txBody>
      </p:sp>
      <p:sp>
        <p:nvSpPr>
          <p:cNvPr id="6" name="Oval 5"/>
          <p:cNvSpPr/>
          <p:nvPr/>
        </p:nvSpPr>
        <p:spPr>
          <a:xfrm>
            <a:off x="640080" y="166497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1325880" y="150876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Serializer: a </a:t>
            </a:r>
            <a:r>
              <a:rPr sz="1900" b="0">
                <a:solidFill>
                  <a:srgbClr val="6A3FC0"/>
                </a:solidFill>
                <a:latin typeface="Consolas"/>
              </a:rPr>
              <a:t>ReadOnlyField</a:t>
            </a:r>
            <a:r>
              <a:rPr sz="1900" b="0">
                <a:solidFill>
                  <a:srgbClr val="1C2330"/>
                </a:solidFill>
                <a:latin typeface="Segoe UI"/>
              </a:rPr>
              <a:t> </a:t>
            </a:r>
            <a:r>
              <a:rPr sz="1900" b="0">
                <a:solidFill>
                  <a:srgbClr val="6A3FC0"/>
                </a:solidFill>
                <a:latin typeface="Consolas"/>
              </a:rPr>
              <a:t>owner</a:t>
            </a:r>
            <a:r>
              <a:rPr sz="1900" b="0">
                <a:solidFill>
                  <a:srgbClr val="1C2330"/>
                </a:solidFill>
                <a:latin typeface="Segoe UI"/>
              </a:rPr>
              <a:t> whose </a:t>
            </a:r>
            <a:r>
              <a:rPr sz="1900" b="0">
                <a:solidFill>
                  <a:srgbClr val="6A3FC0"/>
                </a:solidFill>
                <a:latin typeface="Consolas"/>
              </a:rPr>
              <a:t>source</a:t>
            </a:r>
            <a:r>
              <a:rPr sz="1900" b="0">
                <a:solidFill>
                  <a:srgbClr val="1C2330"/>
                </a:solidFill>
                <a:latin typeface="Segoe UI"/>
              </a:rPr>
              <a:t> ends in </a:t>
            </a:r>
            <a:r>
              <a:rPr sz="1900" b="0">
                <a:solidFill>
                  <a:srgbClr val="6A3FC0"/>
                </a:solidFill>
                <a:latin typeface="Consolas"/>
              </a:rPr>
              <a:t>.username</a:t>
            </a:r>
          </a:p>
        </p:txBody>
      </p:sp>
      <p:sp>
        <p:nvSpPr>
          <p:cNvPr id="8" name="Oval 7"/>
          <p:cNvSpPr/>
          <p:nvPr/>
        </p:nvSpPr>
        <p:spPr>
          <a:xfrm>
            <a:off x="640080" y="243459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9" name="TextBox 8"/>
          <p:cNvSpPr txBox="1"/>
          <p:nvPr/>
        </p:nvSpPr>
        <p:spPr>
          <a:xfrm>
            <a:off x="1325880" y="227838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Add </a:t>
            </a:r>
            <a:r>
              <a:rPr sz="1900" b="0">
                <a:solidFill>
                  <a:srgbClr val="6A3FC0"/>
                </a:solidFill>
                <a:latin typeface="Consolas"/>
              </a:rPr>
              <a:t>"owner"</a:t>
            </a:r>
            <a:r>
              <a:rPr sz="1900" b="0">
                <a:solidFill>
                  <a:srgbClr val="1C2330"/>
                </a:solidFill>
                <a:latin typeface="Segoe UI"/>
              </a:rPr>
              <a:t> to </a:t>
            </a:r>
            <a:r>
              <a:rPr sz="1900" b="0">
                <a:solidFill>
                  <a:srgbClr val="6A3FC0"/>
                </a:solidFill>
                <a:latin typeface="Consolas"/>
              </a:rPr>
              <a:t>Meta.fields</a:t>
            </a:r>
          </a:p>
        </p:txBody>
      </p:sp>
      <p:sp>
        <p:nvSpPr>
          <p:cNvPr id="10" name="TextBox 9"/>
          <p:cNvSpPr txBox="1"/>
          <p:nvPr/>
        </p:nvSpPr>
        <p:spPr>
          <a:xfrm>
            <a:off x="9722815" y="227838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helps test 3</a:t>
            </a:r>
          </a:p>
        </p:txBody>
      </p:sp>
      <p:sp>
        <p:nvSpPr>
          <p:cNvPr id="11" name="Oval 10"/>
          <p:cNvSpPr/>
          <p:nvPr/>
        </p:nvSpPr>
        <p:spPr>
          <a:xfrm>
            <a:off x="640080" y="320421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2" name="TextBox 11"/>
          <p:cNvSpPr txBox="1"/>
          <p:nvPr/>
        </p:nvSpPr>
        <p:spPr>
          <a:xfrm>
            <a:off x="1325880" y="304800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Viewset: </a:t>
            </a:r>
            <a:r>
              <a:rPr sz="1900" b="0">
                <a:solidFill>
                  <a:srgbClr val="6A3FC0"/>
                </a:solidFill>
                <a:latin typeface="Consolas"/>
              </a:rPr>
              <a:t>permission_classes = [IsAuthenticated]</a:t>
            </a:r>
          </a:p>
        </p:txBody>
      </p:sp>
      <p:sp>
        <p:nvSpPr>
          <p:cNvPr id="13" name="TextBox 12"/>
          <p:cNvSpPr txBox="1"/>
          <p:nvPr/>
        </p:nvSpPr>
        <p:spPr>
          <a:xfrm>
            <a:off x="9722815" y="304800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helps test 1</a:t>
            </a:r>
          </a:p>
        </p:txBody>
      </p:sp>
      <p:sp>
        <p:nvSpPr>
          <p:cNvPr id="14" name="Oval 13"/>
          <p:cNvSpPr/>
          <p:nvPr/>
        </p:nvSpPr>
        <p:spPr>
          <a:xfrm>
            <a:off x="640080" y="397383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5" name="TextBox 14"/>
          <p:cNvSpPr txBox="1"/>
          <p:nvPr/>
        </p:nvSpPr>
        <p:spPr>
          <a:xfrm>
            <a:off x="1325880" y="381762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Replace </a:t>
            </a:r>
            <a:r>
              <a:rPr sz="1900" b="0">
                <a:solidFill>
                  <a:srgbClr val="6A3FC0"/>
                </a:solidFill>
                <a:latin typeface="Consolas"/>
              </a:rPr>
              <a:t>queryset</a:t>
            </a:r>
            <a:r>
              <a:rPr sz="1900" b="0">
                <a:solidFill>
                  <a:srgbClr val="1C2330"/>
                </a:solidFill>
                <a:latin typeface="Segoe UI"/>
              </a:rPr>
              <a:t> with </a:t>
            </a:r>
            <a:r>
              <a:rPr sz="1900" b="0">
                <a:solidFill>
                  <a:srgbClr val="6A3FC0"/>
                </a:solidFill>
                <a:latin typeface="Consolas"/>
              </a:rPr>
              <a:t>get_queryset</a:t>
            </a:r>
            <a:r>
              <a:rPr sz="1900" b="0">
                <a:solidFill>
                  <a:srgbClr val="1C2330"/>
                </a:solidFill>
                <a:latin typeface="Segoe UI"/>
              </a:rPr>
              <a:t>: my tasks, ordered by </a:t>
            </a:r>
            <a:r>
              <a:rPr sz="1900" b="0">
                <a:solidFill>
                  <a:srgbClr val="6A3FC0"/>
                </a:solidFill>
                <a:latin typeface="Consolas"/>
              </a:rPr>
              <a:t>"id"</a:t>
            </a:r>
          </a:p>
        </p:txBody>
      </p:sp>
      <p:sp>
        <p:nvSpPr>
          <p:cNvPr id="16" name="TextBox 15"/>
          <p:cNvSpPr txBox="1"/>
          <p:nvPr/>
        </p:nvSpPr>
        <p:spPr>
          <a:xfrm>
            <a:off x="9722815" y="381762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helps 2, 5, 6</a:t>
            </a:r>
          </a:p>
        </p:txBody>
      </p:sp>
      <p:sp>
        <p:nvSpPr>
          <p:cNvPr id="17" name="Oval 16"/>
          <p:cNvSpPr/>
          <p:nvPr/>
        </p:nvSpPr>
        <p:spPr>
          <a:xfrm>
            <a:off x="640080" y="474345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18" name="TextBox 17"/>
          <p:cNvSpPr txBox="1"/>
          <p:nvPr/>
        </p:nvSpPr>
        <p:spPr>
          <a:xfrm>
            <a:off x="1325880" y="458724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Router: register the viewset at </a:t>
            </a:r>
            <a:r>
              <a:rPr sz="1900" b="0">
                <a:solidFill>
                  <a:srgbClr val="6A3FC0"/>
                </a:solidFill>
                <a:latin typeface="Consolas"/>
              </a:rPr>
              <a:t>"tasks"</a:t>
            </a:r>
            <a:r>
              <a:rPr sz="1900" b="0">
                <a:solidFill>
                  <a:srgbClr val="1C2330"/>
                </a:solidFill>
                <a:latin typeface="Segoe UI"/>
              </a:rPr>
              <a:t> with </a:t>
            </a:r>
            <a:r>
              <a:rPr sz="1900" b="0">
                <a:solidFill>
                  <a:srgbClr val="6A3FC0"/>
                </a:solidFill>
                <a:latin typeface="Consolas"/>
              </a:rPr>
              <a:t>basename="task"</a:t>
            </a:r>
          </a:p>
        </p:txBody>
      </p:sp>
      <p:sp>
        <p:nvSpPr>
          <p:cNvPr id="19" name="TextBox 18"/>
          <p:cNvSpPr txBox="1"/>
          <p:nvPr/>
        </p:nvSpPr>
        <p:spPr>
          <a:xfrm>
            <a:off x="9722815" y="458724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1-3, 5-8</a:t>
            </a:r>
          </a:p>
        </p:txBody>
      </p:sp>
      <p:sp>
        <p:nvSpPr>
          <p:cNvPr id="20" name="Oval 19"/>
          <p:cNvSpPr/>
          <p:nvPr/>
        </p:nvSpPr>
        <p:spPr>
          <a:xfrm>
            <a:off x="640080" y="551307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21" name="TextBox 20"/>
          <p:cNvSpPr txBox="1"/>
          <p:nvPr/>
        </p:nvSpPr>
        <p:spPr>
          <a:xfrm>
            <a:off x="1325880" y="535686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perform_create(self, serializer)</a:t>
            </a:r>
            <a:r>
              <a:rPr sz="1900" b="0">
                <a:solidFill>
                  <a:srgbClr val="1C2330"/>
                </a:solidFill>
                <a:latin typeface="Segoe UI"/>
              </a:rPr>
              <a:t>: save with </a:t>
            </a:r>
            <a:r>
              <a:rPr sz="1900" b="0">
                <a:solidFill>
                  <a:srgbClr val="6A3FC0"/>
                </a:solidFill>
                <a:latin typeface="Consolas"/>
              </a:rPr>
              <a:t>owner=self.request.user</a:t>
            </a:r>
          </a:p>
        </p:txBody>
      </p:sp>
      <p:sp>
        <p:nvSpPr>
          <p:cNvPr id="22" name="TextBox 21"/>
          <p:cNvSpPr txBox="1"/>
          <p:nvPr/>
        </p:nvSpPr>
        <p:spPr>
          <a:xfrm>
            <a:off x="9722815" y="535686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Common mistakes</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600"/>
              </a:spcAft>
            </a:pPr>
            <a:r>
              <a:rPr sz="2400" b="0">
                <a:solidFill>
                  <a:srgbClr val="1C2330"/>
                </a:solidFill>
                <a:latin typeface="Segoe UI"/>
              </a:rPr>
              <a:t>•  Removing </a:t>
            </a:r>
            <a:r>
              <a:rPr sz="2400" b="0">
                <a:solidFill>
                  <a:srgbClr val="6A3FC0"/>
                </a:solidFill>
                <a:latin typeface="Consolas"/>
              </a:rPr>
              <a:t>queryset</a:t>
            </a:r>
            <a:r>
              <a:rPr sz="2400" b="0">
                <a:solidFill>
                  <a:srgbClr val="1C2330"/>
                </a:solidFill>
                <a:latin typeface="Segoe UI"/>
              </a:rPr>
              <a:t> but forgetting </a:t>
            </a:r>
            <a:r>
              <a:rPr sz="2400" b="0">
                <a:solidFill>
                  <a:srgbClr val="6A3FC0"/>
                </a:solidFill>
                <a:latin typeface="Consolas"/>
              </a:rPr>
              <a:t>basename="task"</a:t>
            </a:r>
            <a:r>
              <a:rPr sz="2400" b="0">
                <a:solidFill>
                  <a:srgbClr val="1C2330"/>
                </a:solidFill>
                <a:latin typeface="Segoe UI"/>
              </a:rPr>
              <a:t>: </a:t>
            </a:r>
            <a:r>
              <a:rPr sz="2400" b="0">
                <a:solidFill>
                  <a:srgbClr val="6A3FC0"/>
                </a:solidFill>
                <a:latin typeface="Consolas"/>
              </a:rPr>
              <a:t>AssertionError</a:t>
            </a:r>
          </a:p>
          <a:p>
            <a:pPr>
              <a:spcAft>
                <a:spcPts val="1600"/>
              </a:spcAft>
            </a:pPr>
            <a:r>
              <a:rPr sz="2400" b="0">
                <a:solidFill>
                  <a:srgbClr val="1C2330"/>
                </a:solidFill>
                <a:latin typeface="Segoe UI"/>
              </a:rPr>
              <a:t>•  Keeping </a:t>
            </a:r>
            <a:r>
              <a:rPr sz="2400" b="0">
                <a:solidFill>
                  <a:srgbClr val="6A3FC0"/>
                </a:solidFill>
                <a:latin typeface="Consolas"/>
              </a:rPr>
              <a:t>Task.objects.all()</a:t>
            </a:r>
            <a:r>
              <a:rPr sz="2400" b="0">
                <a:solidFill>
                  <a:srgbClr val="1C2330"/>
                </a:solidFill>
                <a:latin typeface="Segoe UI"/>
              </a:rPr>
              <a:t>: everyone sees everything</a:t>
            </a:r>
          </a:p>
          <a:p>
            <a:pPr>
              <a:spcAft>
                <a:spcPts val="1600"/>
              </a:spcAft>
            </a:pPr>
            <a:r>
              <a:rPr sz="2400" b="0">
                <a:solidFill>
                  <a:srgbClr val="1C2330"/>
                </a:solidFill>
                <a:latin typeface="Segoe UI"/>
              </a:rPr>
              <a:t>•  </a:t>
            </a:r>
            <a:r>
              <a:rPr sz="2400" b="0">
                <a:solidFill>
                  <a:srgbClr val="6A3FC0"/>
                </a:solidFill>
                <a:latin typeface="Consolas"/>
              </a:rPr>
              <a:t>request.user</a:t>
            </a:r>
            <a:r>
              <a:rPr sz="2400" b="0">
                <a:solidFill>
                  <a:srgbClr val="1C2330"/>
                </a:solidFill>
                <a:latin typeface="Segoe UI"/>
              </a:rPr>
              <a:t> inside a method: it's </a:t>
            </a:r>
            <a:r>
              <a:rPr sz="2400" b="0">
                <a:solidFill>
                  <a:srgbClr val="6A3FC0"/>
                </a:solidFill>
                <a:latin typeface="Consolas"/>
              </a:rPr>
              <a:t>self.request.user</a:t>
            </a:r>
          </a:p>
          <a:p>
            <a:pPr>
              <a:spcAft>
                <a:spcPts val="1600"/>
              </a:spcAft>
            </a:pPr>
            <a:r>
              <a:rPr sz="2400" b="0">
                <a:solidFill>
                  <a:srgbClr val="1C2330"/>
                </a:solidFill>
                <a:latin typeface="Segoe UI"/>
              </a:rPr>
              <a:t>•  </a:t>
            </a:r>
            <a:r>
              <a:rPr sz="2400" b="0">
                <a:solidFill>
                  <a:srgbClr val="6A3FC0"/>
                </a:solidFill>
                <a:latin typeface="Consolas"/>
              </a:rPr>
              <a:t>source="owner"</a:t>
            </a:r>
            <a:r>
              <a:rPr sz="2400" b="0">
                <a:solidFill>
                  <a:srgbClr val="1C2330"/>
                </a:solidFill>
                <a:latin typeface="Segoe UI"/>
              </a:rPr>
              <a:t> without </a:t>
            </a:r>
            <a:r>
              <a:rPr sz="2400" b="0">
                <a:solidFill>
                  <a:srgbClr val="6A3FC0"/>
                </a:solidFill>
                <a:latin typeface="Consolas"/>
              </a:rPr>
              <a:t>.username</a:t>
            </a:r>
            <a:r>
              <a:rPr sz="2400" b="0">
                <a:solidFill>
                  <a:srgbClr val="1C2330"/>
                </a:solidFill>
                <a:latin typeface="Segoe UI"/>
              </a:rPr>
              <a:t>: test 3 wants </a:t>
            </a:r>
            <a:r>
              <a:rPr sz="2400" b="0">
                <a:solidFill>
                  <a:srgbClr val="6A3FC0"/>
                </a:solidFill>
                <a:latin typeface="Consolas"/>
              </a:rPr>
              <a:t>"ada"</a:t>
            </a:r>
          </a:p>
          <a:p>
            <a:pPr>
              <a:spcAft>
                <a:spcPts val="1600"/>
              </a:spcAft>
            </a:pPr>
            <a:r>
              <a:rPr sz="2400" b="0">
                <a:solidFill>
                  <a:srgbClr val="1C2330"/>
                </a:solidFill>
                <a:latin typeface="Segoe UI"/>
              </a:rPr>
              <a:t>•  Taking the owner from </a:t>
            </a:r>
            <a:r>
              <a:rPr sz="2400" b="0">
                <a:solidFill>
                  <a:srgbClr val="6A3FC0"/>
                </a:solidFill>
                <a:latin typeface="Consolas"/>
              </a:rPr>
              <a:t>request.data</a:t>
            </a:r>
            <a:r>
              <a:rPr sz="2400" b="0">
                <a:solidFill>
                  <a:srgbClr val="1C2330"/>
                </a:solidFill>
                <a:latin typeface="Segoe UI"/>
              </a:rPr>
              <a:t>: never trust the client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Where you'll use this</a:t>
            </a:r>
          </a:p>
        </p:txBody>
      </p:sp>
      <p:sp>
        <p:nvSpPr>
          <p:cNvPr id="6" name="Rounded Rectangle 5"/>
          <p:cNvSpPr/>
          <p:nvPr/>
        </p:nvSpPr>
        <p:spPr>
          <a:xfrm>
            <a:off x="640080" y="1508760"/>
            <a:ext cx="10911535" cy="15544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180015" cy="1280160"/>
          </a:xfrm>
          <a:prstGeom prst="rect">
            <a:avLst/>
          </a:prstGeom>
          <a:noFill/>
        </p:spPr>
        <p:txBody>
          <a:bodyPr wrap="square" anchor="ctr" lIns="0" rIns="0" tIns="0" bIns="0">
            <a:spAutoFit/>
          </a:bodyPr>
          <a:lstStyle/>
          <a:p>
            <a:pPr>
              <a:spcAft>
                <a:spcPts val="600"/>
              </a:spcAft>
            </a:pPr>
            <a:r>
              <a:rPr sz="2100" b="0">
                <a:solidFill>
                  <a:srgbClr val="1C2330"/>
                </a:solidFill>
                <a:latin typeface="Segoe UI"/>
              </a:rPr>
              <a:t>Almost every real DRF endpoint that holds user data has this shape: notes, orders, messages, invoices. Log in, scope the queryset to the user, set the owner on the server.</a:t>
            </a:r>
          </a:p>
        </p:txBody>
      </p:sp>
      <p:sp>
        <p:nvSpPr>
          <p:cNvPr id="8" name="TextBox 7"/>
          <p:cNvSpPr txBox="1"/>
          <p:nvPr/>
        </p:nvSpPr>
        <p:spPr>
          <a:xfrm>
            <a:off x="640080" y="3337560"/>
            <a:ext cx="10911535" cy="2743200"/>
          </a:xfrm>
          <a:prstGeom prst="rect">
            <a:avLst/>
          </a:prstGeom>
          <a:noFill/>
        </p:spPr>
        <p:txBody>
          <a:bodyPr wrap="square" anchor="t" lIns="0" rIns="0" tIns="0" bIns="0">
            <a:spAutoFit/>
          </a:bodyPr>
          <a:lstStyle/>
          <a:p>
            <a:pPr>
              <a:spcAft>
                <a:spcPts val="1200"/>
              </a:spcAft>
            </a:pPr>
            <a:r>
              <a:rPr sz="2000" b="0">
                <a:solidFill>
                  <a:srgbClr val="1C2330"/>
                </a:solidFill>
                <a:latin typeface="Segoe UI"/>
              </a:rPr>
              <a:t>•  "Broken access control" is the most common serious web security bug</a:t>
            </a:r>
          </a:p>
          <a:p>
            <a:pPr>
              <a:spcAft>
                <a:spcPts val="1200"/>
              </a:spcAft>
            </a:pPr>
            <a:r>
              <a:rPr sz="2000" b="0">
                <a:solidFill>
                  <a:srgbClr val="1C2330"/>
                </a:solidFill>
                <a:latin typeface="Segoe UI"/>
              </a:rPr>
              <a:t>•  Scoping </a:t>
            </a:r>
            <a:r>
              <a:rPr sz="2000" b="0">
                <a:solidFill>
                  <a:srgbClr val="6A3FC0"/>
                </a:solidFill>
                <a:latin typeface="Consolas"/>
              </a:rPr>
              <a:t>get_queryset()</a:t>
            </a:r>
            <a:r>
              <a:rPr sz="2000" b="0">
                <a:solidFill>
                  <a:srgbClr val="1C2330"/>
                </a:solidFill>
                <a:latin typeface="Segoe UI"/>
              </a:rPr>
              <a:t> is the simplest, strongest defence</a:t>
            </a:r>
          </a:p>
          <a:p>
            <a:pPr>
              <a:spcAft>
                <a:spcPts val="1200"/>
              </a:spcAft>
            </a:pPr>
            <a:r>
              <a:rPr sz="2000" b="0">
                <a:solidFill>
                  <a:srgbClr val="1C2330"/>
                </a:solidFill>
                <a:latin typeface="Segoe UI"/>
              </a:rPr>
              <a:t>•  Always test the boundary: can user A reach user B's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Check yourself</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800"/>
              </a:spcAft>
            </a:pPr>
            <a:r>
              <a:rPr sz="2300" b="0">
                <a:solidFill>
                  <a:srgbClr val="1C2330"/>
                </a:solidFill>
                <a:latin typeface="Segoe UI"/>
              </a:rPr>
              <a:t>1.  Ada asks for Bob's task. Why is 404 a good answer?</a:t>
            </a:r>
          </a:p>
          <a:p>
            <a:pPr>
              <a:spcAft>
                <a:spcPts val="1800"/>
              </a:spcAft>
            </a:pPr>
            <a:r>
              <a:rPr sz="2300" b="0">
                <a:solidFill>
                  <a:srgbClr val="1C2330"/>
                </a:solidFill>
                <a:latin typeface="Segoe UI"/>
              </a:rPr>
              <a:t>2.  Why can't </a:t>
            </a:r>
            <a:r>
              <a:rPr sz="2300" b="0">
                <a:solidFill>
                  <a:srgbClr val="6A3FC0"/>
                </a:solidFill>
                <a:latin typeface="Consolas"/>
              </a:rPr>
              <a:t>queryset = ...</a:t>
            </a:r>
            <a:r>
              <a:rPr sz="2300" b="0">
                <a:solidFill>
                  <a:srgbClr val="1C2330"/>
                </a:solidFill>
                <a:latin typeface="Segoe UI"/>
              </a:rPr>
              <a:t> filter by the current user?</a:t>
            </a:r>
          </a:p>
          <a:p>
            <a:pPr>
              <a:spcAft>
                <a:spcPts val="1800"/>
              </a:spcAft>
            </a:pPr>
            <a:r>
              <a:rPr sz="2300" b="0">
                <a:solidFill>
                  <a:srgbClr val="1C2330"/>
                </a:solidFill>
                <a:latin typeface="Segoe UI"/>
              </a:rPr>
              <a:t>3.  A client sends </a:t>
            </a:r>
            <a:r>
              <a:rPr sz="2300" b="0">
                <a:solidFill>
                  <a:srgbClr val="6A3FC0"/>
                </a:solidFill>
                <a:latin typeface="Consolas"/>
              </a:rPr>
              <a:t>"owner": 2</a:t>
            </a:r>
            <a:r>
              <a:rPr sz="2300" b="0">
                <a:solidFill>
                  <a:srgbClr val="1C2330"/>
                </a:solidFill>
                <a:latin typeface="Segoe UI"/>
              </a:rPr>
              <a:t> when creating a task. What happens, and why?</a:t>
            </a:r>
          </a:p>
          <a:p>
            <a:pPr>
              <a:spcAft>
                <a:spcPts val="1800"/>
              </a:spcAft>
            </a:pPr>
            <a:r>
              <a:rPr sz="2300" b="0">
                <a:solidFill>
                  <a:srgbClr val="1C2330"/>
                </a:solidFill>
                <a:latin typeface="Segoe UI"/>
              </a:rPr>
              <a:t>4.  Which piece turns anonymous requests away, and with which status?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16  ·  Capstone: a private task API</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Keep learning</a:t>
            </a:r>
          </a:p>
        </p:txBody>
      </p:sp>
      <p:sp>
        <p:nvSpPr>
          <p:cNvPr id="6" name="TextBox 5"/>
          <p:cNvSpPr txBox="1"/>
          <p:nvPr/>
        </p:nvSpPr>
        <p:spPr>
          <a:xfrm>
            <a:off x="640080" y="1463040"/>
            <a:ext cx="10911535" cy="4663440"/>
          </a:xfrm>
          <a:prstGeom prst="rect">
            <a:avLst/>
          </a:prstGeom>
          <a:noFill/>
        </p:spPr>
        <p:txBody>
          <a:bodyPr wrap="square" anchor="t" lIns="0" rIns="0" tIns="0" bIns="0">
            <a:spAutoFit/>
          </a:bodyPr>
          <a:lstStyle/>
          <a:p>
            <a:pPr>
              <a:spcAft>
                <a:spcPts val="200"/>
              </a:spcAft>
            </a:pPr>
            <a:r>
              <a:rPr sz="2000" b="1">
                <a:solidFill>
                  <a:srgbClr val="2F6FDF"/>
                </a:solidFill>
                <a:latin typeface="Segoe UI"/>
                <a:hlinkClick r:id="rId2"/>
              </a:rPr>
              <a:t>Use Django REST Framework to Create Web APIs (video course)</a:t>
            </a:r>
          </a:p>
          <a:p>
            <a:pPr>
              <a:spcAft>
                <a:spcPts val="1200"/>
              </a:spcAft>
            </a:pPr>
            <a:r>
              <a:rPr sz="1500" b="0">
                <a:solidFill>
                  <a:srgbClr val="5D6778"/>
                </a:solidFill>
                <a:latin typeface="Segoe UI"/>
              </a:rPr>
              <a:t>freeCodeCamp · video · beginner. Start here: a free two-hour video that builds a full DRF API with models, serializers, viewsets, auth and tests.</a:t>
            </a:r>
          </a:p>
          <a:p>
            <a:pPr>
              <a:spcAft>
                <a:spcPts val="200"/>
              </a:spcAft>
            </a:pPr>
            <a:r>
              <a:rPr sz="2000" b="1">
                <a:solidFill>
                  <a:srgbClr val="2F6FDF"/>
                </a:solidFill>
                <a:latin typeface="Segoe UI"/>
                <a:hlinkClick r:id="rId3"/>
              </a:rPr>
              <a:t>Tutorial 4: Authentication &amp; Permissions</a:t>
            </a:r>
          </a:p>
          <a:p>
            <a:pPr>
              <a:spcAft>
                <a:spcPts val="1200"/>
              </a:spcAft>
            </a:pPr>
            <a:r>
              <a:rPr sz="1500" b="0">
                <a:solidFill>
                  <a:srgbClr val="5D6778"/>
                </a:solidFill>
                <a:latin typeface="Segoe UI"/>
              </a:rPr>
              <a:t>Django REST framework · tutorial · beginner. Shows perform_create saving owner=self.request.user, the same trick your TaskViewSet uses.</a:t>
            </a:r>
          </a:p>
          <a:p>
            <a:pPr>
              <a:spcAft>
                <a:spcPts val="200"/>
              </a:spcAft>
            </a:pPr>
            <a:r>
              <a:rPr sz="2000" b="1">
                <a:solidFill>
                  <a:srgbClr val="2F6FDF"/>
                </a:solidFill>
                <a:latin typeface="Segoe UI"/>
                <a:hlinkClick r:id="rId4"/>
              </a:rPr>
              <a:t>Filtering against the current user</a:t>
            </a:r>
          </a:p>
          <a:p>
            <a:pPr>
              <a:spcAft>
                <a:spcPts val="1200"/>
              </a:spcAft>
            </a:pPr>
            <a:r>
              <a:rPr sz="1500" b="0">
                <a:solidFill>
                  <a:srgbClr val="5D6778"/>
                </a:solidFill>
                <a:latin typeface="Segoe UI"/>
              </a:rPr>
              <a:t>Django REST framework · docs · intermediate. The official example of overriding get_queryset so each user only ever sees their own rows.</a:t>
            </a:r>
          </a:p>
          <a:p>
            <a:pPr>
              <a:spcAft>
                <a:spcPts val="200"/>
              </a:spcAft>
            </a:pPr>
            <a:r>
              <a:rPr sz="2000" b="1">
                <a:solidFill>
                  <a:srgbClr val="2F6FDF"/>
                </a:solidFill>
                <a:latin typeface="Segoe UI"/>
                <a:hlinkClick r:id="rId5"/>
              </a:rPr>
              <a:t>Generic views</a:t>
            </a:r>
          </a:p>
          <a:p>
            <a:pPr>
              <a:spcAft>
                <a:spcPts val="1200"/>
              </a:spcAft>
            </a:pPr>
            <a:r>
              <a:rPr sz="1500" b="0">
                <a:solidFill>
                  <a:srgbClr val="5D6778"/>
                </a:solidFill>
                <a:latin typeface="Segoe UI"/>
              </a:rPr>
              <a:t>Django REST framework · docs · intermediate. Reference for get_queryset, perform_create and the other hooks a ModelViewSet inherits.</a:t>
            </a:r>
          </a:p>
          <a:p>
            <a:pPr>
              <a:spcAft>
                <a:spcPts val="200"/>
              </a:spcAft>
            </a:pPr>
            <a:r>
              <a:rPr sz="2000" b="1">
                <a:solidFill>
                  <a:srgbClr val="2F6FDF"/>
                </a:solidFill>
                <a:latin typeface="Segoe UI"/>
                <a:hlinkClick r:id="rId6"/>
              </a:rPr>
              <a:t>A01 Broken Access Control (OWASP Top 10:2025)</a:t>
            </a:r>
          </a:p>
          <a:p>
            <a:pPr>
              <a:spcAft>
                <a:spcPts val="1200"/>
              </a:spcAft>
            </a:pPr>
            <a:r>
              <a:rPr sz="1500" b="0">
                <a:solidFill>
                  <a:srgbClr val="5D6778"/>
                </a:solidFill>
                <a:latin typeface="Segoe UI"/>
              </a:rPr>
              <a:t>OWASP · article · intermediate. Why letting one user read or edit another user's task is the most common serious API bug.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